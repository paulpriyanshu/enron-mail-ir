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dde4a71-bd80-5d6f-f80c-46307d7c4eaa}">
          <p14:sldIdLst>
            <p14:sldId id="256"/>
          </p14:sldIdLst>
        </p14:section>
        <p14:section name="1 · The project" id="{39ecdd39-9f08-b386-3e86-70a58d4a467f}">
          <p14:sldIdLst>
            <p14:sldId id="257"/>
            <p14:sldId id="258"/>
          </p14:sldIdLst>
        </p14:section>
        <p14:section name="2 · The algorithms" id="{e5038c69-8347-87c7-2a94-87f1b14361b8}">
          <p14:sldIdLst>
            <p14:sldId id="259"/>
            <p14:sldId id="260"/>
            <p14:sldId id="261"/>
          </p14:sldIdLst>
        </p14:section>
        <p14:section name="3 · Benchmarks" id="{d1380e84-a15f-0b2a-cc2b-2f2970ef7bdf}">
          <p14:sldIdLst>
            <p14:sldId id="262"/>
            <p14:sldId id="263"/>
            <p14:sldId id="264"/>
          </p14:sldIdLst>
        </p14:section>
        <p14:section name="4 · Why BM25" id="{c79a937b-9d04-1b52-8a22-0ebb7e14b2d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Weight of one word vs how often it repeats</a:t>
            </a:r>
          </a:p>
        </c:rich>
      </c:tx>
      <c:layout/>
      <c:overlay val="0"/>
    </c:title>
    <c:autoTitleDeleted val="0"/>
    <c:plotArea>
      <c:layout/>
      <c:lineChart>
        <c:varyColors val="0"/>
        <c:ser>
          <c:idx val="0"/>
          <c:order val="0"/>
          <c:tx>
            <c:strRef>
              <c:f>Sheet1!$B$1</c:f>
              <c:strCache>
                <c:ptCount val="1"/>
                <c:pt idx="0">
                  <c:v>TF-IDF weight (linear)</c:v>
                </c:pt>
              </c:strCache>
            </c:strRef>
          </c:tx>
          <c:spPr>
            <a:solidFill>
              <a:srgbClr val="3B6EA8"/>
            </a:solidFill>
            <a:ln w="38100" cap="flat">
              <a:solidFill>
                <a:srgbClr val="3B6EA8"/>
              </a:solidFill>
              <a:prstDash val="solid"/>
              <a:round/>
            </a:ln>
            <a:effectLst/>
          </c:spPr>
          <c:invertIfNegative val="0"/>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3B6EA8"/>
              </a:solidFill>
              <a:ln w="9525" cap="flat">
                <a:solidFill>
                  <a:srgbClr val="3B6EA8"/>
                </a:solidFill>
                <a:prstDash val="solid"/>
                <a:round/>
              </a:ln>
              <a:effectLst/>
            </c:spPr>
          </c:marker>
          <c:cat>
            <c:multiLvlStrRef>
              <c:f>Sheet1!$A$2:$A$8</c:f>
              <c:multiLvlStrCache>
                <c:ptCount val="7"/>
                <c:lvl>
                  <c:pt idx="0">
                    <c:v>1</c:v>
                  </c:pt>
                  <c:pt idx="1">
                    <c:v>2</c:v>
                  </c:pt>
                  <c:pt idx="2">
                    <c:v>3</c:v>
                  </c:pt>
                  <c:pt idx="3">
                    <c:v>5</c:v>
                  </c:pt>
                  <c:pt idx="4">
                    <c:v>10</c:v>
                  </c:pt>
                  <c:pt idx="5">
                    <c:v>20</c:v>
                  </c:pt>
                  <c:pt idx="6">
                    <c:v>50</c:v>
                  </c:pt>
                </c:lvl>
              </c:multiLvlStrCache>
            </c:multiLvlStrRef>
          </c:cat>
          <c:val>
            <c:numRef>
              <c:f>Sheet1!$B$2:$B$8</c:f>
              <c:numCache>
                <c:formatCode>General</c:formatCode>
                <c:ptCount val="7"/>
                <c:pt idx="0">
                  <c:v>1</c:v>
                </c:pt>
                <c:pt idx="1">
                  <c:v>2</c:v>
                </c:pt>
                <c:pt idx="2">
                  <c:v>3</c:v>
                </c:pt>
                <c:pt idx="3">
                  <c:v>5</c:v>
                </c:pt>
                <c:pt idx="4">
                  <c:v>10</c:v>
                </c:pt>
                <c:pt idx="5">
                  <c:v>20</c:v>
                </c:pt>
                <c:pt idx="6">
                  <c:v>50</c:v>
                </c:pt>
              </c:numCache>
            </c:numRef>
          </c:val>
          <c:smooth val="0"/>
        </c:ser>
        <c:ser>
          <c:idx val="1"/>
          <c:order val="1"/>
          <c:tx>
            <c:strRef>
              <c:f>Sheet1!$C$1</c:f>
              <c:strCache>
                <c:ptCount val="1"/>
                <c:pt idx="0">
                  <c:v>BM25 weight (k1 = 1.5)</c:v>
                </c:pt>
              </c:strCache>
            </c:strRef>
          </c:tx>
          <c:spPr>
            <a:solidFill>
              <a:srgbClr val="E07A2E"/>
            </a:solidFill>
            <a:ln w="38100" cap="flat">
              <a:solidFill>
                <a:srgbClr val="E07A2E"/>
              </a:solidFill>
              <a:prstDash val="solid"/>
              <a:round/>
            </a:ln>
            <a:effectLst/>
          </c:spPr>
          <c:invertIfNegative val="0"/>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c:symbol val="circle"/>
            <c:size val="7"/>
            <c:spPr>
              <a:solidFill>
                <a:srgbClr val="E07A2E"/>
              </a:solidFill>
              <a:ln w="9525" cap="flat">
                <a:solidFill>
                  <a:srgbClr val="E07A2E"/>
                </a:solidFill>
                <a:prstDash val="solid"/>
                <a:round/>
              </a:ln>
              <a:effectLst/>
            </c:spPr>
          </c:marker>
          <c:cat>
            <c:multiLvlStrRef>
              <c:f>Sheet1!$A$2:$A$8</c:f>
              <c:multiLvlStrCache>
                <c:ptCount val="7"/>
                <c:lvl>
                  <c:pt idx="0">
                    <c:v>1</c:v>
                  </c:pt>
                  <c:pt idx="1">
                    <c:v>2</c:v>
                  </c:pt>
                  <c:pt idx="2">
                    <c:v>3</c:v>
                  </c:pt>
                  <c:pt idx="3">
                    <c:v>5</c:v>
                  </c:pt>
                  <c:pt idx="4">
                    <c:v>10</c:v>
                  </c:pt>
                  <c:pt idx="5">
                    <c:v>20</c:v>
                  </c:pt>
                  <c:pt idx="6">
                    <c:v>50</c:v>
                  </c:pt>
                </c:lvl>
              </c:multiLvlStrCache>
            </c:multiLvlStrRef>
          </c:cat>
          <c:val>
            <c:numRef>
              <c:f>Sheet1!$C$2:$C$8</c:f>
              <c:numCache>
                <c:formatCode>General</c:formatCode>
                <c:ptCount val="7"/>
                <c:pt idx="0">
                  <c:v>1</c:v>
                </c:pt>
                <c:pt idx="1">
                  <c:v>1.43</c:v>
                </c:pt>
                <c:pt idx="2">
                  <c:v>1.67</c:v>
                </c:pt>
                <c:pt idx="3">
                  <c:v>1.92</c:v>
                </c:pt>
                <c:pt idx="4">
                  <c:v>2.17</c:v>
                </c:pt>
                <c:pt idx="5">
                  <c:v>2.33</c:v>
                </c:pt>
                <c:pt idx="6">
                  <c:v>2.43</c:v>
                </c:pt>
              </c:numCache>
            </c:numRef>
          </c:val>
          <c:smooth val="0"/>
        </c:ser>
        <c:dLbls>
          <c:numFmt formatCode="#,##0" sourceLinked="0"/>
          <c:txPr>
            <a:bodyPr/>
            <a:lstStyle/>
            <a:p>
              <a:pPr>
                <a:defRPr b="0" i="0" strike="noStrike" sz="1200" u="none">
                  <a:solidFill>
                    <a:srgbClr val="1421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4A5568"/>
                    </a:solidFill>
                    <a:latin typeface="+mn-lt"/>
                  </a:defRPr>
                </a:pPr>
                <a:r>
                  <a:rPr sz="1200" b="0" i="0" u="none" strike="noStrike">
                    <a:solidFill>
                      <a:srgbClr val="4A5568"/>
                    </a:solidFill>
                    <a:latin typeface="+mn-lt"/>
                  </a:rPr>
                  <a:t>times the word appears</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2E5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10"/>
      </c:valAx>
      <c:spPr>
        <a:noFill/>
        <a:ln>
          <a:noFill/>
        </a:ln>
        <a:effectLst/>
      </c:spPr>
    </c:plotArea>
    <c:legend>
      <c:legendPos val="t"/>
      <c:overlay val="0"/>
      <c:txPr>
        <a:bodyPr/>
        <a:lstStyle/>
        <a:p>
          <a:pPr>
            <a:defRPr sz="1200">
              <a:solidFill>
                <a:srgbClr val="4A556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nDCG@10 (higher is better)</a:t>
            </a:r>
          </a:p>
        </c:rich>
      </c:tx>
      <c:layout/>
      <c:overlay val="0"/>
    </c:title>
    <c:autoTitleDeleted val="0"/>
    <c:plotArea>
      <c:layout/>
      <c:barChart>
        <c:barDir val="bar"/>
        <c:grouping val="clustered"/>
        <c:varyColors val="0"/>
        <c:ser>
          <c:idx val="0"/>
          <c:order val="0"/>
          <c:tx>
            <c:strRef>
              <c:f>Sheet1!$B$1</c:f>
              <c:strCache>
                <c:ptCount val="1"/>
                <c:pt idx="0">
                  <c:v>nDCG@10</c:v>
                </c:pt>
              </c:strCache>
            </c:strRef>
          </c:tx>
          <c:spPr>
            <a:solidFill>
              <a:srgbClr val="B8BFCC"/>
            </a:solidFill>
            <a:effectLst/>
          </c:spPr>
          <c:invertIfNegative val="0"/>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B8BFCC"/>
              </a:solidFill>
              <a:effectLst/>
            </c:spPr>
          </c:dPt>
          <c:dPt>
            <c:idx val="1"/>
            <c:invertIfNegative val="0"/>
            <c:bubble3D val="0"/>
            <c:spPr>
              <a:solidFill>
                <a:srgbClr val="B8BFCC"/>
              </a:solidFill>
              <a:effectLst/>
            </c:spPr>
          </c:dPt>
          <c:dPt>
            <c:idx val="2"/>
            <c:invertIfNegative val="0"/>
            <c:bubble3D val="0"/>
            <c:spPr>
              <a:solidFill>
                <a:srgbClr val="B8BFCC"/>
              </a:solidFill>
              <a:effectLst/>
            </c:spPr>
          </c:dPt>
          <c:dPt>
            <c:idx val="3"/>
            <c:invertIfNegative val="0"/>
            <c:bubble3D val="0"/>
            <c:spPr>
              <a:solidFill>
                <a:srgbClr val="B8BFCC"/>
              </a:solidFill>
              <a:effectLst/>
            </c:spPr>
          </c:dPt>
          <c:dPt>
            <c:idx val="4"/>
            <c:invertIfNegative val="0"/>
            <c:bubble3D val="0"/>
            <c:spPr>
              <a:solidFill>
                <a:srgbClr val="B8BFCC"/>
              </a:solidFill>
              <a:effectLst/>
            </c:spPr>
          </c:dPt>
          <c:dPt>
            <c:idx val="5"/>
            <c:invertIfNegative val="0"/>
            <c:bubble3D val="0"/>
            <c:spPr>
              <a:solidFill>
                <a:srgbClr val="3B6EA8"/>
              </a:solidFill>
              <a:effectLst/>
            </c:spPr>
          </c:dPt>
          <c:dPt>
            <c:idx val="6"/>
            <c:invertIfNegative val="0"/>
            <c:bubble3D val="0"/>
            <c:spPr>
              <a:solidFill>
                <a:srgbClr val="B8BFCC"/>
              </a:solidFill>
              <a:effectLst/>
            </c:spPr>
          </c:dPt>
          <c:dPt>
            <c:idx val="7"/>
            <c:invertIfNegative val="0"/>
            <c:bubble3D val="0"/>
            <c:spPr>
              <a:solidFill>
                <a:srgbClr val="E07A2E"/>
              </a:solidFill>
              <a:effectLst/>
            </c:spPr>
          </c:dPt>
          <c:dPt>
            <c:idx val="8"/>
            <c:invertIfNegative val="0"/>
            <c:bubble3D val="0"/>
            <c:spPr>
              <a:solidFill>
                <a:srgbClr val="4A5568"/>
              </a:solidFill>
              <a:effectLst/>
            </c:spPr>
          </c:dPt>
          <c:cat>
            <c:multiLvlStrRef>
              <c:f>Sheet1!$A$2:$A$10</c:f>
              <c:multiLvlStrCache>
                <c:ptCount val="9"/>
                <c:lvl>
                  <c:pt idx="0">
                    <c:v>Boolean AND</c:v>
                  </c:pt>
                  <c:pt idx="1">
                    <c:v>Boolean OR</c:v>
                  </c:pt>
                  <c:pt idx="2">
                    <c:v>Raw TF (no IDF)</c:v>
                  </c:pt>
                  <c:pt idx="3">
                    <c:v>BM25L</c:v>
                  </c:pt>
                  <c:pt idx="4">
                    <c:v>Query likelihood</c:v>
                  </c:pt>
                  <c:pt idx="5">
                    <c:v>TF-IDF (ours)</c:v>
                  </c:pt>
                  <c:pt idx="6">
                    <c:v>BM25+</c:v>
                  </c:pt>
                  <c:pt idx="7">
                    <c:v>BM25 (ours)</c:v>
                  </c:pt>
                  <c:pt idx="8">
                    <c:v>LSA (200-dim SVD)</c:v>
                  </c:pt>
                </c:lvl>
              </c:multiLvlStrCache>
            </c:multiLvlStrRef>
          </c:cat>
          <c:val>
            <c:numRef>
              <c:f>Sheet1!$B$2:$B$10</c:f>
              <c:numCache>
                <c:formatCode>General</c:formatCode>
                <c:ptCount val="9"/>
                <c:pt idx="0">
                  <c:v>0.011</c:v>
                </c:pt>
                <c:pt idx="1">
                  <c:v>0.012</c:v>
                </c:pt>
                <c:pt idx="2">
                  <c:v>0.217</c:v>
                </c:pt>
                <c:pt idx="3">
                  <c:v>0.259</c:v>
                </c:pt>
                <c:pt idx="4">
                  <c:v>0.317</c:v>
                </c:pt>
                <c:pt idx="5">
                  <c:v>0.349</c:v>
                </c:pt>
                <c:pt idx="6">
                  <c:v>0.363</c:v>
                </c:pt>
                <c:pt idx="7">
                  <c:v>0.363</c:v>
                </c:pt>
                <c:pt idx="8">
                  <c:v>0.373</c:v>
                </c:pt>
              </c:numCache>
            </c:numRef>
          </c:val>
        </c:ser>
        <c:dLbls>
          <c:numFmt formatCode="0.0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b"/>
        <c:majorGridlines>
          <c:spPr>
            <a:ln w="9525" cap="flat">
              <a:solidFill>
                <a:srgbClr val="E2E5EB"/>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BEIR zero-shot: avg nDCG@10 vs BM25, 18 datasets</a:t>
            </a:r>
          </a:p>
        </c:rich>
      </c:tx>
      <c:layout/>
      <c:overlay val="0"/>
    </c:title>
    <c:autoTitleDeleted val="0"/>
    <c:plotArea>
      <c:layout/>
      <c:barChart>
        <c:barDir val="bar"/>
        <c:grouping val="clustered"/>
        <c:varyColors val="0"/>
        <c:ser>
          <c:idx val="0"/>
          <c:order val="0"/>
          <c:tx>
            <c:strRef>
              <c:f>Sheet1!$B$1</c:f>
              <c:strCache>
                <c:ptCount val="1"/>
                <c:pt idx="0">
                  <c:v>vs BM25</c:v>
                </c:pt>
              </c:strCache>
            </c:strRef>
          </c:tx>
          <c:spPr>
            <a:solidFill>
              <a:srgbClr val="9AA3B5"/>
            </a:solidFill>
            <a:effectLst/>
          </c:spPr>
          <c:invertIfNegative val="0"/>
          <c:dLbls>
            <c:numFmt formatCode="+0.0&quot;%&quot;;-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3B5"/>
              </a:solidFill>
              <a:effectLst/>
            </c:spPr>
          </c:dPt>
          <c:dPt>
            <c:idx val="1"/>
            <c:invertIfNegative val="0"/>
            <c:bubble3D val="0"/>
            <c:spPr>
              <a:solidFill>
                <a:srgbClr val="9AA3B5"/>
              </a:solidFill>
              <a:effectLst/>
            </c:spPr>
          </c:dPt>
          <c:dPt>
            <c:idx val="2"/>
            <c:invertIfNegative val="0"/>
            <c:bubble3D val="0"/>
            <c:spPr>
              <a:solidFill>
                <a:srgbClr val="9AA3B5"/>
              </a:solidFill>
              <a:effectLst/>
            </c:spPr>
          </c:dPt>
          <c:dPt>
            <c:idx val="3"/>
            <c:invertIfNegative val="0"/>
            <c:bubble3D val="0"/>
            <c:spPr>
              <a:solidFill>
                <a:srgbClr val="9AA3B5"/>
              </a:solidFill>
              <a:effectLst/>
            </c:spPr>
          </c:dPt>
          <c:dPt>
            <c:idx val="4"/>
            <c:invertIfNegative val="0"/>
            <c:bubble3D val="0"/>
            <c:spPr>
              <a:solidFill>
                <a:srgbClr val="9AA3B5"/>
              </a:solidFill>
              <a:effectLst/>
            </c:spPr>
          </c:dPt>
          <c:dPt>
            <c:idx val="5"/>
            <c:invertIfNegative val="0"/>
            <c:bubble3D val="0"/>
            <c:spPr>
              <a:solidFill>
                <a:srgbClr val="9AA3B5"/>
              </a:solidFill>
              <a:effectLst/>
            </c:spPr>
          </c:dPt>
          <c:dPt>
            <c:idx val="6"/>
            <c:invertIfNegative val="0"/>
            <c:bubble3D val="0"/>
            <c:spPr>
              <a:solidFill>
                <a:srgbClr val="E07A2E"/>
              </a:solidFill>
              <a:effectLst/>
            </c:spPr>
          </c:dPt>
          <c:dPt>
            <c:idx val="7"/>
            <c:invertIfNegative val="0"/>
            <c:bubble3D val="0"/>
            <c:spPr>
              <a:solidFill>
                <a:srgbClr val="E07A2E"/>
              </a:solidFill>
              <a:effectLst/>
            </c:spPr>
          </c:dPt>
          <c:dPt>
            <c:idx val="8"/>
            <c:invertIfNegative val="0"/>
            <c:bubble3D val="0"/>
            <c:spPr>
              <a:solidFill>
                <a:srgbClr val="E07A2E"/>
              </a:solidFill>
              <a:effectLst/>
            </c:spPr>
          </c:dPt>
          <c:cat>
            <c:multiLvlStrRef>
              <c:f>Sheet1!$A$2:$A$10</c:f>
              <c:multiLvlStrCache>
                <c:ptCount val="9"/>
                <c:lvl>
                  <c:pt idx="0">
                    <c:v>DPR (dense)</c:v>
                  </c:pt>
                  <c:pt idx="1">
                    <c:v>DeepCT (sparse)</c:v>
                  </c:pt>
                  <c:pt idx="2">
                    <c:v>SPARTA (sparse)</c:v>
                  </c:pt>
                  <c:pt idx="3">
                    <c:v>ANCE (dense)</c:v>
                  </c:pt>
                  <c:pt idx="4">
                    <c:v>GenQ (dense)</c:v>
                  </c:pt>
                  <c:pt idx="5">
                    <c:v>TAS-B (dense)</c:v>
                  </c:pt>
                  <c:pt idx="6">
                    <c:v>docT5query</c:v>
                  </c:pt>
                  <c:pt idx="7">
                    <c:v>ColBERT</c:v>
                  </c:pt>
                  <c:pt idx="8">
                    <c:v>BM25 + cross-encoder</c:v>
                  </c:pt>
                </c:lvl>
              </c:multiLvlStrCache>
            </c:multiLvlStrRef>
          </c:cat>
          <c:val>
            <c:numRef>
              <c:f>Sheet1!$B$2:$B$10</c:f>
              <c:numCache>
                <c:formatCode>General</c:formatCode>
                <c:ptCount val="9"/>
                <c:pt idx="0">
                  <c:v>-47.7</c:v>
                </c:pt>
                <c:pt idx="1">
                  <c:v>-27.9</c:v>
                </c:pt>
                <c:pt idx="2">
                  <c:v>-20.3</c:v>
                </c:pt>
                <c:pt idx="3">
                  <c:v>-7.4</c:v>
                </c:pt>
                <c:pt idx="4">
                  <c:v>-3.6</c:v>
                </c:pt>
                <c:pt idx="5">
                  <c:v>-2.8</c:v>
                </c:pt>
                <c:pt idx="6">
                  <c:v>1.6</c:v>
                </c:pt>
                <c:pt idx="7">
                  <c:v>2.5</c:v>
                </c:pt>
                <c:pt idx="8">
                  <c:v>11</c:v>
                </c:pt>
              </c:numCache>
            </c:numRef>
          </c:val>
        </c:ser>
        <c:dLbls>
          <c:numFmt formatCode="+0.0&quot;%&quot;;-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no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20"/>
          <c:min val="-60"/>
        </c:scaling>
        <c:delete val="0"/>
        <c:axPos val="b"/>
        <c:majorGridlines>
          <c:spPr>
            <a:ln w="9525" cap="flat">
              <a:solidFill>
                <a:srgbClr val="E2E5EB"/>
              </a:solidFill>
              <a:prstDash val="solid"/>
              <a:round/>
            </a:ln>
          </c:spPr>
        </c:majorGridlines>
        <c:numFmt formatCode="+0&quot;%&quot;;-0&quot;%&quot;;0" sourceLinked="0"/>
        <c:majorTickMark val="out"/>
        <c:minorTickMark val="none"/>
        <c:tickLblPos val="low"/>
        <c:spPr>
          <a:ln w="12700" cap="flat">
            <a:no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Tanay, Priyanshu and Jiya, and this project was done under the supervision of Professor Shweta Sharma. We built a search engine for the Enron email dataset, implemented two classic ranking algorithms, TF-IDF and BM25, compared them side by side on about 250 thousand real emails, and benchmarked them against the wider family of search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it works like Gmail's search bar, but every search runs through two ranking algorithms at once so we can compare them. Our data is the Enron email dataset: about half a million emails from 150 employees, released during the investigation into Enron's collapse. About half are duplicates, because the mail system stored the same email in several folders, so we keep 251 thousand unique emails with 631 thousand different words. Since an average email uses only 97 words, the matrix is 99.98% zeros, and sparse storage shrinks it from 1.27 terabytes to about 300 megabytes.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two phases. Phase A is indexing. It runs once and takes about 75 seconds: read the CSV, parse each email with Python's email module, skip duplicates, tokenise into lowercase words without stop words, build two indexes, TF-IDF vectors and BM25 word counts, and save everything to index.pkl with pickle. Phase B happens on every search. The app loads index.pkl into memory once at start-up. When you search, Flask runs both algorithms on the same query, rank() keeps the matches and sorts them, and the page shows the top 10 of each side by side with the query words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ranking has a long history. Boolean search in the 1960s only matched, it didn't rank. In the 1970s Karen Spärck Jones introduced IDF and Gerard Salton the vector space model, which together give TF-IDF. The probabilistic model of 1976 led to Okapi BM25, which was tuned at the TREC-3 evaluation in 1994 and is still the default in Lucene and Elasticsearch today. Since 2019 neural methods have arrived: BERT re-rankers, dense retrieval like DPR and ColBERT, learned sparse models like SPLADE, and now hybrid search feeding LLMs in RAG systems. Notice that even the newest systems still use BM25 as a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weights a word by how often it appears in an email times how rare it is across all emails, and scores with cosine similarity, the angle between query and email vectors. It has two weaknesses: repeating a word keeps adding score, and dividing by the email's own length makes tiny emails look like perfect matches. BM25, Best Matching 25, keeps the same idea but fixes both. k1 makes repeated words saturate, so 50 repeats are worth only 2.4 times one occurrence. b compares each email's length to the average, so long emails are only partly penalised. It also only touches emails that contain the query words, through the inverted index. On a worked example with the query 'gas pipeline', both pick the same top email: cosine 0.869 for TF-IDF and 1.924 for BM25.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saturation fix: TF-IDF's weight grows linearly with repeats, BM25's flattens out at about 2.4 times. On the right is the demo you can run with python compare.py. A junk email that just repeats 'gas' beats the real pipeline-shutdown email under TF-IDF, because it is short and pure 'gas'. BM25 ranks the real email first, because repetition saturates and the length penalty is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Enron has no relevance labels, so to measure quality we ran the project's exact search functions on Cranfield, a classic test collection with 225 queries and human relevance judgements, together with 7 other rankers. BM25 scores 0.363 nDCG at 10 against 0.349 for TF-IDF, and beats it on precision, MAP and MRR too. Per query, BM25 wins 105 to 77. A t-test gives p of about 0.06, so the edge is consistent but modest on Cranfield, where documents are all similar in length. A parameter sweep showed length normalisation alone is worth almost 8%, and the defaults are within 2% of the best. LSA edges ahead on this tiny technical set, but it needs an SVD of the full matrix, which is impractical on Enron. Boolean search scores near zero because it doesn't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top results from the full dataset. For 'stock options', TF-IDF's top hit is a 9-word email titled just 'Options', while BM25 finds 'ENE Options'. ENE was Enron's stock ticker. For 'power outage', TF-IDF returns a 4-word email, and its next results are SAP system outages; BM25 returns actual power outages. The pattern repeats: TF-IDF's top hits are tiny emails of 1 to 10 words, BM25's are informative emails of 100 to 600 words that are actually about the topic. And BM25 is about 8 times faster, 5 milliseconds versus 40, because it only scores emails that contain the query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published research. BEIR tests models trained on one dataset, MS MARCO, on 18 datasets from domains they never saw, which is exactly our situation with Enron. Most neural retrievers, including DPR, ANCE and TAS-B, score below BM25. Only ColBERT, document expansion, and a cross-encoder re-ranking BM25's own results are ahead. When neural models do get in-domain training, on MS MARCO with half a million labels, they nearly double BM25's score, but at a steep cost: 10 to 300 times the latency and up to 50 times the index size, often on GPUs. And the best systems still keep BM25 inside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here's how the options score against what this project needs: ranked results, no labelled data, runs on a laptop, fast on 251 thousand emails, and explainable. BM25 is the only one that ticks every box. Its one gap, synonyms, is shared by every keyword method, and the natural next step is hybrid search that adds embeddings on top of BM25. The verdict: BM25 ranks better on labelled data and visibly better on real emails, it's about 8 times faster, and it needs no training data or GPUs. Thank you, and we're happy to show the live demo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40080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1828800"/>
            <a:ext cx="65836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3154680"/>
            <a:ext cx="6309360" cy="118872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ph idx="103" type="body" hasCustomPrompt="1"/>
          </p:nvPr>
        </p:nvSpPr>
        <p:spPr>
          <a:xfrm>
            <a:off x="731520" y="5760720"/>
            <a:ext cx="6400800" cy="365760"/>
          </a:xfrm>
          <a:prstGeom prst="rect">
            <a:avLst/>
          </a:prstGeom>
          <a:noFill/>
          <a:ln/>
        </p:spPr>
        <p:txBody>
          <a:bodyPr wrap="square" rtlCol="0"/>
          <a:lstStyle>
            <a:lvl1pPr indent="0" marL="0">
              <a:buNone/>
              <a:defRPr lang="en-US" sz="1400"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2743200" cy="91440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731520" y="2788920"/>
            <a:ext cx="10515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94760"/>
            <a:ext cx="960120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48640" y="6355080"/>
            <a:ext cx="3657600" cy="274320"/>
          </a:xfrm>
          <a:prstGeom prst="rect">
            <a:avLst/>
          </a:prstGeom>
          <a:noFill/>
          <a:ln/>
        </p:spPr>
        <p:txBody>
          <a:bodyPr wrap="square" lIns="0" tIns="0" rIns="0" bIns="0" rtlCol="0" anchor="ctr"/>
          <a:lstStyle/>
          <a:p>
            <a:pPr indent="0" marL="0">
              <a:buNone/>
            </a:pPr>
            <a:r>
              <a:rPr lang="en-US" sz="1000" dirty="0">
                <a:solidFill>
                  <a:srgbClr val="8A94A6"/>
                </a:solidFill>
              </a:rPr>
              <a:t>Enron Email Search</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DICT">
    <p:bg>
      <p:bgPr>
        <a:solidFill>
          <a:srgbClr val="E07A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71600"/>
            <a:ext cx="9144000" cy="365760"/>
          </a:xfrm>
          <a:prstGeom prst="rect">
            <a:avLst/>
          </a:prstGeom>
          <a:noFill/>
          <a:ln/>
        </p:spPr>
        <p:txBody>
          <a:bodyPr wrap="square" rtlCol="0"/>
          <a:lstStyle>
            <a:lvl1pPr indent="0" marL="0">
              <a:buNone/>
              <a:defRPr lang="en-US" sz="1300" b="1" spc="200" kern="0" dirty="0">
                <a:solidFill>
                  <a:schemeClr val="tx1"/>
                </a:solidFill>
              </a:defRPr>
            </a:lvl1pPr>
          </a:lstStyle>
          <a:p>
            <a:pPr indent="0" marL="0">
              <a:buNone/>
            </a:pPr>
            <a:endParaRPr lang="en-US" sz="1300" dirty="0"/>
          </a:p>
        </p:txBody>
      </p:sp>
      <p:sp>
        <p:nvSpPr>
          <p:cNvPr id="3" name="Text 0"/>
          <p:cNvSpPr/>
          <p:nvPr>
            <p:ph idx="101" type="title" hasCustomPrompt="1"/>
          </p:nvPr>
        </p:nvSpPr>
        <p:spPr>
          <a:xfrm>
            <a:off x="731520" y="1783080"/>
            <a:ext cx="10515600" cy="173736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4213D"/>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0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400800" cy="365760"/>
          </a:xfrm>
          <a:prstGeom prst="rect">
            <a:avLst/>
          </a:prstGeom>
          <a:noFill/>
          <a:ln/>
        </p:spPr>
        <p:txBody>
          <a:bodyPr wrap="square" lIns="0" tIns="0" rIns="0" bIns="0" rtlCol="0"/>
          <a:lstStyle/>
          <a:p>
            <a:pPr indent="0" marL="0">
              <a:buNone/>
            </a:pPr>
            <a:r>
              <a:rPr lang="en-US" sz="1300" b="1" spc="200" kern="0" dirty="0">
                <a:solidFill>
                  <a:schemeClr val="accent1"/>
                </a:solidFill>
              </a:rPr>
              <a:t>INFORMATION RETRIEVAL PROJECT</a:t>
            </a:r>
            <a:endParaRPr lang="en-US" sz="1300" dirty="0"/>
          </a:p>
        </p:txBody>
      </p:sp>
      <p:sp>
        <p:nvSpPr>
          <p:cNvPr id="3" name="Text 0"/>
          <p:cNvSpPr/>
          <p:nvPr>
            <p:ph idx="101" type="title" hasCustomPrompt="1"/>
          </p:nvPr>
        </p:nvSpPr>
        <p:spPr>
          <a:xfrm>
            <a:off x="731520" y="1828800"/>
            <a:ext cx="6583680" cy="1280160"/>
          </a:xfrm>
          <a:prstGeom prst="rect">
            <a:avLst/>
          </a:prstGeom>
          <a:noFill/>
          <a:ln/>
        </p:spPr>
        <p:txBody>
          <a:bodyPr wrap="square" lIns="0" tIns="0" rIns="0" bIns="0" rtlCol="0" anchor="t"/>
          <a:lstStyle/>
          <a:p>
            <a:pPr algn="l" indent="0" marL="0">
              <a:buNone/>
            </a:pPr>
            <a:r>
              <a:rPr lang="en-US" sz="5400" b="1" dirty="0">
                <a:solidFill>
                  <a:schemeClr val="bg1"/>
                </a:solidFill>
              </a:rPr>
              <a:t>Enron Email Search</a:t>
            </a:r>
            <a:endParaRPr lang="en-US" sz="5400" dirty="0"/>
          </a:p>
        </p:txBody>
      </p:sp>
      <p:sp>
        <p:nvSpPr>
          <p:cNvPr id="4" name="Text 0"/>
          <p:cNvSpPr/>
          <p:nvPr>
            <p:ph idx="102" type="body" hasCustomPrompt="1"/>
          </p:nvPr>
        </p:nvSpPr>
        <p:spPr>
          <a:xfrm>
            <a:off x="731520" y="3154680"/>
            <a:ext cx="6309360" cy="1188720"/>
          </a:xfrm>
          <a:prstGeom prst="rect">
            <a:avLst/>
          </a:prstGeom>
          <a:noFill/>
          <a:ln/>
        </p:spPr>
        <p:txBody>
          <a:bodyPr wrap="square" lIns="0" tIns="0" rIns="0" bIns="0" rtlCol="0" anchor="t"/>
          <a:lstStyle/>
          <a:p>
            <a:pPr indent="0" marL="0">
              <a:buNone/>
            </a:pPr>
            <a:r>
              <a:rPr lang="en-US" sz="2000" dirty="0">
                <a:solidFill>
                  <a:schemeClr val="accent5"/>
                </a:solidFill>
              </a:rPr>
              <a:t>TF-IDF vs BM25: ranking 251,115 real corporate emails, built from scratch and benchmarked</a:t>
            </a:r>
            <a:endParaRPr lang="en-US" sz="2000" dirty="0"/>
          </a:p>
        </p:txBody>
      </p:sp>
      <p:sp>
        <p:nvSpPr>
          <p:cNvPr id="5" name="Text 3"/>
          <p:cNvSpPr txBox="1"/>
          <p:nvPr/>
        </p:nvSpPr>
        <p:spPr>
          <a:xfrm>
            <a:off x="731520" y="4160520"/>
            <a:ext cx="6400800" cy="114300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Tanay Anand</a:t>
            </a:r>
            <a:pPr indent="0" marL="0">
              <a:spcAft>
                <a:spcPts val="600"/>
              </a:spcAft>
              <a:buNone/>
            </a:pPr>
            <a:r>
              <a:rPr lang="en-US" sz="1400" dirty="0">
                <a:solidFill>
                  <a:schemeClr val="accent5"/>
                </a:solidFill>
                <a:latin typeface="Courier New" pitchFamily="34" charset="0"/>
                <a:ea typeface="Courier New" pitchFamily="34" charset="-122"/>
                <a:cs typeface="Courier New" pitchFamily="34" charset="-120"/>
              </a:rPr>
              <a:t>   23FE10CSE00476</a:t>
            </a:r>
            <a:endParaRPr lang="en-US" sz="1700" dirty="0"/>
          </a:p>
          <a:p>
            <a:pPr indent="0" marL="0">
              <a:spcAft>
                <a:spcPts val="600"/>
              </a:spcAft>
              <a:buNone/>
            </a:pPr>
            <a:r>
              <a:rPr lang="en-US" sz="1700" b="1" dirty="0">
                <a:solidFill>
                  <a:schemeClr val="bg1"/>
                </a:solidFill>
              </a:rPr>
              <a:t>Priyanshu Paul</a:t>
            </a:r>
            <a:pPr indent="0" marL="0">
              <a:spcAft>
                <a:spcPts val="600"/>
              </a:spcAft>
              <a:buNone/>
            </a:pPr>
            <a:r>
              <a:rPr lang="en-US" sz="1400" dirty="0">
                <a:solidFill>
                  <a:schemeClr val="accent5"/>
                </a:solidFill>
                <a:latin typeface="Courier New" pitchFamily="34" charset="0"/>
                <a:ea typeface="Courier New" pitchFamily="34" charset="-122"/>
                <a:cs typeface="Courier New" pitchFamily="34" charset="-120"/>
              </a:rPr>
              <a:t>   23FE10CSE00780</a:t>
            </a:r>
            <a:endParaRPr lang="en-US" sz="1700" dirty="0"/>
          </a:p>
          <a:p>
            <a:pPr indent="0" marL="0">
              <a:spcAft>
                <a:spcPts val="600"/>
              </a:spcAft>
              <a:buNone/>
            </a:pPr>
            <a:r>
              <a:rPr lang="en-US" sz="1700" b="1" dirty="0">
                <a:solidFill>
                  <a:schemeClr val="bg1"/>
                </a:solidFill>
              </a:rPr>
              <a:t>Jiya Tejwani</a:t>
            </a:r>
            <a:pPr indent="0" marL="0">
              <a:spcAft>
                <a:spcPts val="600"/>
              </a:spcAft>
              <a:buNone/>
            </a:pPr>
            <a:r>
              <a:rPr lang="en-US" sz="1400" dirty="0">
                <a:solidFill>
                  <a:schemeClr val="accent5"/>
                </a:solidFill>
                <a:latin typeface="Courier New" pitchFamily="34" charset="0"/>
                <a:ea typeface="Courier New" pitchFamily="34" charset="-122"/>
                <a:cs typeface="Courier New" pitchFamily="34" charset="-120"/>
              </a:rPr>
              <a:t>   23FE10CSE00013</a:t>
            </a:r>
            <a:endParaRPr lang="en-US" sz="1700" dirty="0"/>
          </a:p>
        </p:txBody>
      </p:sp>
      <p:sp>
        <p:nvSpPr>
          <p:cNvPr id="6" name="Text 0"/>
          <p:cNvSpPr/>
          <p:nvPr>
            <p:ph idx="103" type="body" hasCustomPrompt="1"/>
          </p:nvPr>
        </p:nvSpPr>
        <p:spPr>
          <a:xfrm>
            <a:off x="731520" y="5760720"/>
            <a:ext cx="6400800" cy="365760"/>
          </a:xfrm>
          <a:prstGeom prst="rect">
            <a:avLst/>
          </a:prstGeom>
          <a:noFill/>
          <a:ln/>
        </p:spPr>
        <p:txBody>
          <a:bodyPr wrap="square" lIns="0" tIns="0" rIns="0" bIns="0" rtlCol="0"/>
          <a:lstStyle/>
          <a:p>
            <a:pPr indent="0" marL="0">
              <a:buNone/>
            </a:pPr>
            <a:r>
              <a:rPr lang="en-US" sz="1400" dirty="0">
                <a:solidFill>
                  <a:schemeClr val="accent5"/>
                </a:solidFill>
              </a:rPr>
              <a:t>Under the supervision of </a:t>
            </a:r>
            <a:pPr indent="0" marL="0">
              <a:buNone/>
            </a:pPr>
            <a:r>
              <a:rPr lang="en-US" sz="1400" b="1" dirty="0">
                <a:solidFill>
                  <a:schemeClr val="bg1"/>
                </a:solidFill>
              </a:rPr>
              <a:t>Prof. Shweta Sharma</a:t>
            </a:r>
            <a:endParaRPr lang="en-US" sz="1400" dirty="0"/>
          </a:p>
        </p:txBody>
      </p:sp>
      <p:sp>
        <p:nvSpPr>
          <p:cNvPr id="7" name="Mock search UI"/>
          <p:cNvSpPr/>
          <p:nvPr/>
        </p:nvSpPr>
        <p:spPr>
          <a:xfrm>
            <a:off x="7635240" y="1463040"/>
            <a:ext cx="4023360" cy="3566160"/>
          </a:xfrm>
          <a:prstGeom prst="roundRect">
            <a:avLst>
              <a:gd name="adj" fmla="val 2051"/>
            </a:avLst>
          </a:prstGeom>
          <a:solidFill>
            <a:schemeClr val="bg1"/>
          </a:solidFill>
          <a:ln/>
        </p:spPr>
      </p:sp>
      <p:sp>
        <p:nvSpPr>
          <p:cNvPr id="8" name="Search bar"/>
          <p:cNvSpPr/>
          <p:nvPr/>
        </p:nvSpPr>
        <p:spPr>
          <a:xfrm>
            <a:off x="7909560" y="1737360"/>
            <a:ext cx="3474720" cy="457200"/>
          </a:xfrm>
          <a:prstGeom prst="roundRect">
            <a:avLst>
              <a:gd name="adj" fmla="val 50000"/>
            </a:avLst>
          </a:prstGeom>
          <a:solidFill>
            <a:schemeClr val="bg1"/>
          </a:solidFill>
          <a:ln w="12700">
            <a:solidFill>
              <a:srgbClr val="D9DDE4"/>
            </a:solidFill>
            <a:prstDash val="solid"/>
          </a:ln>
        </p:spPr>
      </p:sp>
      <p:sp>
        <p:nvSpPr>
          <p:cNvPr id="9" name="Text 7"/>
          <p:cNvSpPr txBox="1"/>
          <p:nvPr/>
        </p:nvSpPr>
        <p:spPr>
          <a:xfrm>
            <a:off x="8092440" y="1737360"/>
            <a:ext cx="3108960" cy="457200"/>
          </a:xfrm>
          <a:prstGeom prst="rect">
            <a:avLst/>
          </a:prstGeom>
          <a:noFill/>
          <a:ln/>
        </p:spPr>
        <p:txBody>
          <a:bodyPr wrap="square" lIns="0" tIns="0" rIns="0" bIns="0" rtlCol="0" anchor="ctr"/>
          <a:lstStyle/>
          <a:p>
            <a:pPr algn="l" indent="0" marL="0">
              <a:buNone/>
            </a:pPr>
            <a:r>
              <a:rPr lang="en-US" sz="1500" dirty="0">
                <a:solidFill>
                  <a:schemeClr val="tx1"/>
                </a:solidFill>
                <a:latin typeface="Courier New" pitchFamily="34" charset="0"/>
                <a:ea typeface="Courier New" pitchFamily="34" charset="-122"/>
                <a:cs typeface="Courier New" pitchFamily="34" charset="-120"/>
              </a:rPr>
              <a:t>⌕  stock options</a:t>
            </a:r>
            <a:endParaRPr lang="en-US" sz="1500" dirty="0"/>
          </a:p>
        </p:txBody>
      </p:sp>
      <p:sp>
        <p:nvSpPr>
          <p:cNvPr id="10" name="Text 8"/>
          <p:cNvSpPr txBox="1"/>
          <p:nvPr/>
        </p:nvSpPr>
        <p:spPr>
          <a:xfrm>
            <a:off x="7909560" y="2423160"/>
            <a:ext cx="1600200" cy="274320"/>
          </a:xfrm>
          <a:prstGeom prst="rect">
            <a:avLst/>
          </a:prstGeom>
          <a:noFill/>
          <a:ln/>
        </p:spPr>
        <p:txBody>
          <a:bodyPr wrap="square" lIns="0" tIns="0" rIns="0" bIns="0" rtlCol="0" anchor="t"/>
          <a:lstStyle/>
          <a:p>
            <a:pPr algn="l" indent="0" marL="0">
              <a:buNone/>
            </a:pPr>
            <a:r>
              <a:rPr lang="en-US" sz="1400" b="1" dirty="0">
                <a:solidFill>
                  <a:schemeClr val="accent2"/>
                </a:solidFill>
              </a:rPr>
              <a:t>TF-IDF</a:t>
            </a:r>
            <a:endParaRPr lang="en-US" sz="1400" dirty="0"/>
          </a:p>
        </p:txBody>
      </p:sp>
      <p:sp>
        <p:nvSpPr>
          <p:cNvPr id="11" name="Text 9"/>
          <p:cNvSpPr txBox="1"/>
          <p:nvPr/>
        </p:nvSpPr>
        <p:spPr>
          <a:xfrm>
            <a:off x="7909560" y="2788920"/>
            <a:ext cx="1600200"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Options</a:t>
            </a:r>
            <a:endParaRPr lang="en-US" sz="1300" dirty="0"/>
          </a:p>
          <a:p>
            <a:pPr indent="0" marL="0">
              <a:spcAft>
                <a:spcPts val="400"/>
              </a:spcAft>
              <a:buNone/>
            </a:pPr>
            <a:r>
              <a:rPr lang="en-US" sz="1200" dirty="0">
                <a:solidFill>
                  <a:schemeClr val="tx2"/>
                </a:solidFill>
              </a:rPr>
              <a:t>9 words</a:t>
            </a:r>
            <a:endParaRPr lang="en-US" sz="1300" dirty="0"/>
          </a:p>
          <a:p>
            <a:pPr indent="0" marL="0">
              <a:spcAft>
                <a:spcPts val="400"/>
              </a:spcAft>
              <a:buNone/>
            </a:pPr>
            <a:r>
              <a:rPr lang="en-US" sz="1300" b="1" dirty="0">
                <a:solidFill>
                  <a:schemeClr val="tx1"/>
                </a:solidFill>
              </a:rPr>
              <a:t>2. (no subject)</a:t>
            </a:r>
            <a:endParaRPr lang="en-US" sz="1300" dirty="0"/>
          </a:p>
          <a:p>
            <a:pPr indent="0" marL="0">
              <a:spcAft>
                <a:spcPts val="400"/>
              </a:spcAft>
              <a:buNone/>
            </a:pPr>
            <a:r>
              <a:rPr lang="en-US" sz="1200" dirty="0">
                <a:solidFill>
                  <a:schemeClr val="tx2"/>
                </a:solidFill>
              </a:rPr>
              <a:t>6 words</a:t>
            </a:r>
            <a:endParaRPr lang="en-US" sz="1300" dirty="0"/>
          </a:p>
          <a:p>
            <a:pPr indent="0" marL="0">
              <a:spcAft>
                <a:spcPts val="400"/>
              </a:spcAft>
              <a:buNone/>
            </a:pPr>
            <a:r>
              <a:rPr lang="en-US" sz="1300" b="1" dirty="0">
                <a:solidFill>
                  <a:schemeClr val="tx1"/>
                </a:solidFill>
              </a:rPr>
              <a:t>3. Re: Options</a:t>
            </a:r>
            <a:endParaRPr lang="en-US" sz="1300" dirty="0"/>
          </a:p>
          <a:p>
            <a:pPr indent="0" marL="0">
              <a:spcAft>
                <a:spcPts val="400"/>
              </a:spcAft>
              <a:buNone/>
            </a:pPr>
            <a:r>
              <a:rPr lang="en-US" sz="1200" dirty="0">
                <a:solidFill>
                  <a:schemeClr val="tx2"/>
                </a:solidFill>
              </a:rPr>
              <a:t>11 words</a:t>
            </a:r>
            <a:endParaRPr lang="en-US" sz="1300" dirty="0"/>
          </a:p>
        </p:txBody>
      </p:sp>
      <p:sp>
        <p:nvSpPr>
          <p:cNvPr id="12" name="Text 10"/>
          <p:cNvSpPr txBox="1"/>
          <p:nvPr/>
        </p:nvSpPr>
        <p:spPr>
          <a:xfrm>
            <a:off x="9784080" y="2423160"/>
            <a:ext cx="1600200" cy="274320"/>
          </a:xfrm>
          <a:prstGeom prst="rect">
            <a:avLst/>
          </a:prstGeom>
          <a:noFill/>
          <a:ln/>
        </p:spPr>
        <p:txBody>
          <a:bodyPr wrap="square" lIns="0" tIns="0" rIns="0" bIns="0" rtlCol="0" anchor="t"/>
          <a:lstStyle/>
          <a:p>
            <a:pPr algn="l" indent="0" marL="0">
              <a:buNone/>
            </a:pPr>
            <a:r>
              <a:rPr lang="en-US" sz="1400" b="1" dirty="0">
                <a:solidFill>
                  <a:schemeClr val="accent1"/>
                </a:solidFill>
              </a:rPr>
              <a:t>BM25</a:t>
            </a:r>
            <a:endParaRPr lang="en-US" sz="1400" dirty="0"/>
          </a:p>
        </p:txBody>
      </p:sp>
      <p:sp>
        <p:nvSpPr>
          <p:cNvPr id="13" name="Text 11"/>
          <p:cNvSpPr txBox="1"/>
          <p:nvPr/>
        </p:nvSpPr>
        <p:spPr>
          <a:xfrm>
            <a:off x="9784080" y="2788920"/>
            <a:ext cx="1600200" cy="210312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1. ENE Options</a:t>
            </a:r>
            <a:endParaRPr lang="en-US" sz="1300" dirty="0"/>
          </a:p>
          <a:p>
            <a:pPr indent="0" marL="0">
              <a:spcAft>
                <a:spcPts val="400"/>
              </a:spcAft>
              <a:buNone/>
            </a:pPr>
            <a:r>
              <a:rPr lang="en-US" sz="1200" dirty="0">
                <a:solidFill>
                  <a:schemeClr val="tx2"/>
                </a:solidFill>
              </a:rPr>
              <a:t>159 words</a:t>
            </a:r>
            <a:endParaRPr lang="en-US" sz="1300" dirty="0"/>
          </a:p>
          <a:p>
            <a:pPr indent="0" marL="0">
              <a:spcAft>
                <a:spcPts val="400"/>
              </a:spcAft>
              <a:buNone/>
            </a:pPr>
            <a:r>
              <a:rPr lang="en-US" sz="1300" b="1" dirty="0">
                <a:solidFill>
                  <a:schemeClr val="tx1"/>
                </a:solidFill>
              </a:rPr>
              <a:t>2. 2001 Special Stock Option Grant Awards</a:t>
            </a:r>
            <a:endParaRPr lang="en-US" sz="1300" dirty="0"/>
          </a:p>
          <a:p>
            <a:pPr indent="0" marL="0">
              <a:spcAft>
                <a:spcPts val="400"/>
              </a:spcAft>
              <a:buNone/>
            </a:pPr>
            <a:r>
              <a:rPr lang="en-US" sz="1200" dirty="0">
                <a:solidFill>
                  <a:schemeClr val="tx2"/>
                </a:solidFill>
              </a:rPr>
              <a:t>250 words</a:t>
            </a:r>
            <a:endParaRPr lang="en-US" sz="1300" dirty="0"/>
          </a:p>
        </p:txBody>
      </p:sp>
      <p:sp>
        <p:nvSpPr>
          <p:cNvPr id="14" name="Text 12"/>
          <p:cNvSpPr txBox="1"/>
          <p:nvPr/>
        </p:nvSpPr>
        <p:spPr>
          <a:xfrm>
            <a:off x="7635240" y="5166360"/>
            <a:ext cx="4023360" cy="320040"/>
          </a:xfrm>
          <a:prstGeom prst="rect">
            <a:avLst/>
          </a:prstGeom>
          <a:noFill/>
          <a:ln/>
        </p:spPr>
        <p:txBody>
          <a:bodyPr wrap="square" lIns="0" tIns="0" rIns="0" bIns="0" rtlCol="0" anchor="t"/>
          <a:lstStyle/>
          <a:p>
            <a:pPr algn="l" indent="0" marL="0">
              <a:buNone/>
            </a:pPr>
            <a:r>
              <a:rPr lang="en-US" sz="1300" i="1" dirty="0">
                <a:solidFill>
                  <a:schemeClr val="accent5"/>
                </a:solidFill>
              </a:rPr>
              <a:t>Same query, two rankers, side by side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PROJECT AND THE DATA</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A search engine for 251,115 real corporate emails</a:t>
            </a:r>
            <a:endParaRPr lang="en-US" sz="3200" dirty="0"/>
          </a:p>
        </p:txBody>
      </p:sp>
      <p:sp>
        <p:nvSpPr>
          <p:cNvPr id="4" name="Text 2"/>
          <p:cNvSpPr txBox="1"/>
          <p:nvPr/>
        </p:nvSpPr>
        <p:spPr>
          <a:xfrm>
            <a:off x="548640" y="1600200"/>
            <a:ext cx="5394960" cy="822960"/>
          </a:xfrm>
          <a:prstGeom prst="rect">
            <a:avLst/>
          </a:prstGeom>
          <a:noFill/>
          <a:ln/>
        </p:spPr>
        <p:txBody>
          <a:bodyPr wrap="square" lIns="0" tIns="0" rIns="0" bIns="0" rtlCol="0" anchor="t"/>
          <a:lstStyle/>
          <a:p>
            <a:pPr algn="l" indent="0" marL="0">
              <a:buNone/>
            </a:pPr>
            <a:r>
              <a:rPr lang="en-US" sz="1800" dirty="0">
                <a:solidFill>
                  <a:schemeClr val="tx1"/>
                </a:solidFill>
              </a:rPr>
              <a:t>Type a query → get the most relevant Enron emails, ranked by TF-IDF and BM25 side by side.</a:t>
            </a:r>
            <a:endParaRPr lang="en-US" sz="1800" dirty="0"/>
          </a:p>
        </p:txBody>
      </p:sp>
      <p:sp>
        <p:nvSpPr>
          <p:cNvPr id="5" name="Icon circle"/>
          <p:cNvSpPr/>
          <p:nvPr/>
        </p:nvSpPr>
        <p:spPr>
          <a:xfrm>
            <a:off x="548640" y="2606040"/>
            <a:ext cx="621792" cy="621792"/>
          </a:xfrm>
          <a:prstGeom prst="ellipse">
            <a:avLst/>
          </a:prstGeom>
          <a:solidFill>
            <a:schemeClr val="tx1"/>
          </a:solidFill>
          <a:ln/>
        </p:spPr>
      </p:sp>
      <p:pic>
        <p:nvPicPr>
          <p:cNvPr id="6" name="Image 0" descr="icon">    </p:cNvPr>
          <p:cNvPicPr>
            <a:picLocks noChangeAspect="1"/>
          </p:cNvPicPr>
          <p:nvPr/>
        </p:nvPicPr>
        <p:blipFill>
          <a:blip r:embed="rId1"/>
          <a:stretch>
            <a:fillRect/>
          </a:stretch>
        </p:blipFill>
        <p:spPr>
          <a:xfrm>
            <a:off x="704088" y="2761488"/>
            <a:ext cx="310896" cy="310896"/>
          </a:xfrm>
          <a:prstGeom prst="rect">
            <a:avLst/>
          </a:prstGeom>
        </p:spPr>
      </p:pic>
      <p:sp>
        <p:nvSpPr>
          <p:cNvPr id="7" name="Text 4"/>
          <p:cNvSpPr txBox="1"/>
          <p:nvPr/>
        </p:nvSpPr>
        <p:spPr>
          <a:xfrm>
            <a:off x="1417320" y="2587752"/>
            <a:ext cx="4572000" cy="329184"/>
          </a:xfrm>
          <a:prstGeom prst="rect">
            <a:avLst/>
          </a:prstGeom>
          <a:noFill/>
          <a:ln/>
        </p:spPr>
        <p:txBody>
          <a:bodyPr wrap="square" lIns="0" tIns="0" rIns="0" bIns="0" rtlCol="0" anchor="t"/>
          <a:lstStyle/>
          <a:p>
            <a:pPr algn="l" indent="0" marL="0">
              <a:buNone/>
            </a:pPr>
            <a:r>
              <a:rPr lang="en-US" sz="1700" b="1" dirty="0">
                <a:solidFill>
                  <a:schemeClr val="tx1"/>
                </a:solidFill>
              </a:rPr>
              <a:t>Understand</a:t>
            </a:r>
            <a:endParaRPr lang="en-US" sz="1700" dirty="0"/>
          </a:p>
        </p:txBody>
      </p:sp>
      <p:sp>
        <p:nvSpPr>
          <p:cNvPr id="8" name="Text 5"/>
          <p:cNvSpPr txBox="1"/>
          <p:nvPr/>
        </p:nvSpPr>
        <p:spPr>
          <a:xfrm>
            <a:off x="1417320" y="2916936"/>
            <a:ext cx="4572000" cy="329184"/>
          </a:xfrm>
          <a:prstGeom prst="rect">
            <a:avLst/>
          </a:prstGeom>
          <a:noFill/>
          <a:ln/>
        </p:spPr>
        <p:txBody>
          <a:bodyPr wrap="square" lIns="0" tIns="0" rIns="0" bIns="0" rtlCol="0" anchor="t"/>
          <a:lstStyle/>
          <a:p>
            <a:pPr algn="l" indent="0" marL="0">
              <a:buNone/>
            </a:pPr>
            <a:r>
              <a:rPr lang="en-US" sz="1400" dirty="0">
                <a:solidFill>
                  <a:schemeClr val="tx2"/>
                </a:solidFill>
              </a:rPr>
              <a:t>how search engines decide what comes first</a:t>
            </a:r>
            <a:endParaRPr lang="en-US" sz="1400" dirty="0"/>
          </a:p>
        </p:txBody>
      </p:sp>
      <p:sp>
        <p:nvSpPr>
          <p:cNvPr id="9" name="Icon circle"/>
          <p:cNvSpPr/>
          <p:nvPr/>
        </p:nvSpPr>
        <p:spPr>
          <a:xfrm>
            <a:off x="548640" y="3520440"/>
            <a:ext cx="621792" cy="621792"/>
          </a:xfrm>
          <a:prstGeom prst="ellipse">
            <a:avLst/>
          </a:prstGeom>
          <a:solidFill>
            <a:schemeClr val="tx1"/>
          </a:solidFill>
          <a:ln/>
        </p:spPr>
      </p:sp>
      <p:pic>
        <p:nvPicPr>
          <p:cNvPr id="10" name="Image 1" descr="icon">    </p:cNvPr>
          <p:cNvPicPr>
            <a:picLocks noChangeAspect="1"/>
          </p:cNvPicPr>
          <p:nvPr/>
        </p:nvPicPr>
        <p:blipFill>
          <a:blip r:embed="rId2"/>
          <a:stretch>
            <a:fillRect/>
          </a:stretch>
        </p:blipFill>
        <p:spPr>
          <a:xfrm>
            <a:off x="704088" y="3675888"/>
            <a:ext cx="310896" cy="310896"/>
          </a:xfrm>
          <a:prstGeom prst="rect">
            <a:avLst/>
          </a:prstGeom>
        </p:spPr>
      </p:pic>
      <p:sp>
        <p:nvSpPr>
          <p:cNvPr id="11" name="Text 7"/>
          <p:cNvSpPr txBox="1"/>
          <p:nvPr/>
        </p:nvSpPr>
        <p:spPr>
          <a:xfrm>
            <a:off x="1417320" y="3502152"/>
            <a:ext cx="4572000" cy="329184"/>
          </a:xfrm>
          <a:prstGeom prst="rect">
            <a:avLst/>
          </a:prstGeom>
          <a:noFill/>
          <a:ln/>
        </p:spPr>
        <p:txBody>
          <a:bodyPr wrap="square" lIns="0" tIns="0" rIns="0" bIns="0" rtlCol="0" anchor="t"/>
          <a:lstStyle/>
          <a:p>
            <a:pPr algn="l" indent="0" marL="0">
              <a:buNone/>
            </a:pPr>
            <a:r>
              <a:rPr lang="en-US" sz="1700" b="1" dirty="0">
                <a:solidFill>
                  <a:schemeClr val="tx1"/>
                </a:solidFill>
              </a:rPr>
              <a:t>Implement</a:t>
            </a:r>
            <a:endParaRPr lang="en-US" sz="1700" dirty="0"/>
          </a:p>
        </p:txBody>
      </p:sp>
      <p:sp>
        <p:nvSpPr>
          <p:cNvPr id="12" name="Text 8"/>
          <p:cNvSpPr txBox="1"/>
          <p:nvPr/>
        </p:nvSpPr>
        <p:spPr>
          <a:xfrm>
            <a:off x="1417320" y="3831336"/>
            <a:ext cx="4572000" cy="329184"/>
          </a:xfrm>
          <a:prstGeom prst="rect">
            <a:avLst/>
          </a:prstGeom>
          <a:noFill/>
          <a:ln/>
        </p:spPr>
        <p:txBody>
          <a:bodyPr wrap="square" lIns="0" tIns="0" rIns="0" bIns="0" rtlCol="0" anchor="t"/>
          <a:lstStyle/>
          <a:p>
            <a:pPr algn="l" indent="0" marL="0">
              <a:buNone/>
            </a:pPr>
            <a:r>
              <a:rPr lang="en-US" sz="1400" dirty="0">
                <a:solidFill>
                  <a:schemeClr val="tx2"/>
                </a:solidFill>
              </a:rPr>
              <a:t>TF-IDF and BM25 ourselves, in plain Python</a:t>
            </a:r>
            <a:endParaRPr lang="en-US" sz="1400" dirty="0"/>
          </a:p>
        </p:txBody>
      </p:sp>
      <p:sp>
        <p:nvSpPr>
          <p:cNvPr id="13" name="Icon circle"/>
          <p:cNvSpPr/>
          <p:nvPr/>
        </p:nvSpPr>
        <p:spPr>
          <a:xfrm>
            <a:off x="548640" y="4434840"/>
            <a:ext cx="621792" cy="621792"/>
          </a:xfrm>
          <a:prstGeom prst="ellipse">
            <a:avLst/>
          </a:prstGeom>
          <a:solidFill>
            <a:schemeClr val="accent1"/>
          </a:solidFill>
          <a:ln/>
        </p:spPr>
      </p:sp>
      <p:pic>
        <p:nvPicPr>
          <p:cNvPr id="14" name="Image 2" descr="icon">    </p:cNvPr>
          <p:cNvPicPr>
            <a:picLocks noChangeAspect="1"/>
          </p:cNvPicPr>
          <p:nvPr/>
        </p:nvPicPr>
        <p:blipFill>
          <a:blip r:embed="rId3"/>
          <a:stretch>
            <a:fillRect/>
          </a:stretch>
        </p:blipFill>
        <p:spPr>
          <a:xfrm>
            <a:off x="704088" y="4590288"/>
            <a:ext cx="310896" cy="310896"/>
          </a:xfrm>
          <a:prstGeom prst="rect">
            <a:avLst/>
          </a:prstGeom>
        </p:spPr>
      </p:pic>
      <p:sp>
        <p:nvSpPr>
          <p:cNvPr id="15" name="Text 10"/>
          <p:cNvSpPr txBox="1"/>
          <p:nvPr/>
        </p:nvSpPr>
        <p:spPr>
          <a:xfrm>
            <a:off x="1417320" y="4416552"/>
            <a:ext cx="4572000" cy="329184"/>
          </a:xfrm>
          <a:prstGeom prst="rect">
            <a:avLst/>
          </a:prstGeom>
          <a:noFill/>
          <a:ln/>
        </p:spPr>
        <p:txBody>
          <a:bodyPr wrap="square" lIns="0" tIns="0" rIns="0" bIns="0" rtlCol="0" anchor="t"/>
          <a:lstStyle/>
          <a:p>
            <a:pPr algn="l" indent="0" marL="0">
              <a:buNone/>
            </a:pPr>
            <a:r>
              <a:rPr lang="en-US" sz="1700" b="1" dirty="0">
                <a:solidFill>
                  <a:schemeClr val="tx1"/>
                </a:solidFill>
              </a:rPr>
              <a:t>Benchmark</a:t>
            </a:r>
            <a:endParaRPr lang="en-US" sz="1700" dirty="0"/>
          </a:p>
        </p:txBody>
      </p:sp>
      <p:sp>
        <p:nvSpPr>
          <p:cNvPr id="16" name="Text 11"/>
          <p:cNvSpPr txBox="1"/>
          <p:nvPr/>
        </p:nvSpPr>
        <p:spPr>
          <a:xfrm>
            <a:off x="1417320" y="4745736"/>
            <a:ext cx="4572000" cy="329184"/>
          </a:xfrm>
          <a:prstGeom prst="rect">
            <a:avLst/>
          </a:prstGeom>
          <a:noFill/>
          <a:ln/>
        </p:spPr>
        <p:txBody>
          <a:bodyPr wrap="square" lIns="0" tIns="0" rIns="0" bIns="0" rtlCol="0" anchor="t"/>
          <a:lstStyle/>
          <a:p>
            <a:pPr algn="l" indent="0" marL="0">
              <a:buNone/>
            </a:pPr>
            <a:r>
              <a:rPr lang="en-US" sz="1400" dirty="0">
                <a:solidFill>
                  <a:schemeClr val="tx2"/>
                </a:solidFill>
              </a:rPr>
              <a:t>against each other and the wider field</a:t>
            </a:r>
            <a:endParaRPr lang="en-US" sz="1400" dirty="0"/>
          </a:p>
        </p:txBody>
      </p:sp>
      <p:sp>
        <p:nvSpPr>
          <p:cNvPr id="17" name="Text 12"/>
          <p:cNvSpPr txBox="1"/>
          <p:nvPr/>
        </p:nvSpPr>
        <p:spPr>
          <a:xfrm>
            <a:off x="548640" y="5440680"/>
            <a:ext cx="5394960" cy="731520"/>
          </a:xfrm>
          <a:prstGeom prst="rect">
            <a:avLst/>
          </a:prstGeom>
          <a:noFill/>
          <a:ln/>
        </p:spPr>
        <p:txBody>
          <a:bodyPr wrap="square" lIns="0" tIns="0" rIns="0" bIns="0" rtlCol="0" anchor="t"/>
          <a:lstStyle/>
          <a:p>
            <a:pPr algn="l" indent="0" marL="0">
              <a:buNone/>
            </a:pPr>
            <a:r>
              <a:rPr lang="en-US" sz="1300" i="1" dirty="0">
                <a:solidFill>
                  <a:schemeClr val="tx2"/>
                </a:solidFill>
              </a:rPr>
              <a:t>Enron collapsed in 2001 after an accounting fraud; the US regulator (FERC) released employees’ emails. It is the largest public corpus of real corporate email.</a:t>
            </a:r>
            <a:endParaRPr lang="en-US" sz="1300" dirty="0"/>
          </a:p>
        </p:txBody>
      </p:sp>
      <p:sp>
        <p:nvSpPr>
          <p:cNvPr id="18" name="Stat tile"/>
          <p:cNvSpPr/>
          <p:nvPr/>
        </p:nvSpPr>
        <p:spPr>
          <a:xfrm>
            <a:off x="6263640" y="1600200"/>
            <a:ext cx="2606040" cy="2103120"/>
          </a:xfrm>
          <a:prstGeom prst="roundRect">
            <a:avLst>
              <a:gd name="adj" fmla="val 3478"/>
            </a:avLst>
          </a:prstGeom>
          <a:solidFill>
            <a:schemeClr val="bg2"/>
          </a:solidFill>
          <a:ln/>
        </p:spPr>
      </p:sp>
      <p:sp>
        <p:nvSpPr>
          <p:cNvPr id="19" name="Text 14"/>
          <p:cNvSpPr txBox="1"/>
          <p:nvPr/>
        </p:nvSpPr>
        <p:spPr>
          <a:xfrm>
            <a:off x="6519672" y="1874520"/>
            <a:ext cx="2194560" cy="731520"/>
          </a:xfrm>
          <a:prstGeom prst="rect">
            <a:avLst/>
          </a:prstGeom>
          <a:noFill/>
          <a:ln/>
        </p:spPr>
        <p:txBody>
          <a:bodyPr wrap="square" lIns="0" tIns="0" rIns="0" bIns="0" rtlCol="0" anchor="t"/>
          <a:lstStyle/>
          <a:p>
            <a:pPr algn="l" indent="0" marL="0">
              <a:buNone/>
            </a:pPr>
            <a:r>
              <a:rPr lang="en-US" sz="3400" b="1" dirty="0">
                <a:solidFill>
                  <a:schemeClr val="tx1"/>
                </a:solidFill>
              </a:rPr>
              <a:t>517,401</a:t>
            </a:r>
            <a:endParaRPr lang="en-US" sz="3400" dirty="0"/>
          </a:p>
        </p:txBody>
      </p:sp>
      <p:sp>
        <p:nvSpPr>
          <p:cNvPr id="20" name="Text 15"/>
          <p:cNvSpPr txBox="1"/>
          <p:nvPr/>
        </p:nvSpPr>
        <p:spPr>
          <a:xfrm>
            <a:off x="6519672" y="2606040"/>
            <a:ext cx="2148840" cy="1005840"/>
          </a:xfrm>
          <a:prstGeom prst="rect">
            <a:avLst/>
          </a:prstGeom>
          <a:noFill/>
          <a:ln/>
        </p:spPr>
        <p:txBody>
          <a:bodyPr wrap="square" lIns="0" tIns="0" rIns="0" bIns="0" rtlCol="0" anchor="t"/>
          <a:lstStyle/>
          <a:p>
            <a:pPr algn="l" indent="0" marL="0">
              <a:buNone/>
            </a:pPr>
            <a:r>
              <a:rPr lang="en-US" sz="1300" dirty="0">
                <a:solidFill>
                  <a:schemeClr val="tx2"/>
                </a:solidFill>
              </a:rPr>
              <a:t>emails in emails.csv (1.4 GB), 150 mailboxes</a:t>
            </a:r>
            <a:endParaRPr lang="en-US" sz="1300" dirty="0"/>
          </a:p>
        </p:txBody>
      </p:sp>
      <p:sp>
        <p:nvSpPr>
          <p:cNvPr id="21" name="Stat tile"/>
          <p:cNvSpPr/>
          <p:nvPr/>
        </p:nvSpPr>
        <p:spPr>
          <a:xfrm>
            <a:off x="9006840" y="1600200"/>
            <a:ext cx="2606040" cy="2103120"/>
          </a:xfrm>
          <a:prstGeom prst="roundRect">
            <a:avLst>
              <a:gd name="adj" fmla="val 3478"/>
            </a:avLst>
          </a:prstGeom>
          <a:solidFill>
            <a:schemeClr val="bg2"/>
          </a:solidFill>
          <a:ln/>
        </p:spPr>
      </p:sp>
      <p:sp>
        <p:nvSpPr>
          <p:cNvPr id="22" name="Text 17"/>
          <p:cNvSpPr txBox="1"/>
          <p:nvPr/>
        </p:nvSpPr>
        <p:spPr>
          <a:xfrm>
            <a:off x="9262872" y="1874520"/>
            <a:ext cx="2194560" cy="731520"/>
          </a:xfrm>
          <a:prstGeom prst="rect">
            <a:avLst/>
          </a:prstGeom>
          <a:noFill/>
          <a:ln/>
        </p:spPr>
        <p:txBody>
          <a:bodyPr wrap="square" lIns="0" tIns="0" rIns="0" bIns="0" rtlCol="0" anchor="t"/>
          <a:lstStyle/>
          <a:p>
            <a:pPr algn="l" indent="0" marL="0">
              <a:buNone/>
            </a:pPr>
            <a:r>
              <a:rPr lang="en-US" sz="3400" b="1" dirty="0">
                <a:solidFill>
                  <a:schemeClr val="tx1"/>
                </a:solidFill>
              </a:rPr>
              <a:t>~51%</a:t>
            </a:r>
            <a:endParaRPr lang="en-US" sz="3400" dirty="0"/>
          </a:p>
        </p:txBody>
      </p:sp>
      <p:sp>
        <p:nvSpPr>
          <p:cNvPr id="23" name="Text 18"/>
          <p:cNvSpPr txBox="1"/>
          <p:nvPr/>
        </p:nvSpPr>
        <p:spPr>
          <a:xfrm>
            <a:off x="9262872" y="2606040"/>
            <a:ext cx="2148840" cy="1005840"/>
          </a:xfrm>
          <a:prstGeom prst="rect">
            <a:avLst/>
          </a:prstGeom>
          <a:noFill/>
          <a:ln/>
        </p:spPr>
        <p:txBody>
          <a:bodyPr wrap="square" lIns="0" tIns="0" rIns="0" bIns="0" rtlCol="0" anchor="t"/>
          <a:lstStyle/>
          <a:p>
            <a:pPr algn="l" indent="0" marL="0">
              <a:buNone/>
            </a:pPr>
            <a:r>
              <a:rPr lang="en-US" sz="1300" dirty="0">
                <a:solidFill>
                  <a:schemeClr val="tx2"/>
                </a:solidFill>
              </a:rPr>
              <a:t>exact duplicates: same mail in sent, _sent_mail, all_documents</a:t>
            </a:r>
            <a:endParaRPr lang="en-US" sz="1300" dirty="0"/>
          </a:p>
        </p:txBody>
      </p:sp>
      <p:sp>
        <p:nvSpPr>
          <p:cNvPr id="24" name="Stat tile"/>
          <p:cNvSpPr/>
          <p:nvPr/>
        </p:nvSpPr>
        <p:spPr>
          <a:xfrm>
            <a:off x="6263640" y="3886200"/>
            <a:ext cx="2606040" cy="2103120"/>
          </a:xfrm>
          <a:prstGeom prst="roundRect">
            <a:avLst>
              <a:gd name="adj" fmla="val 3478"/>
            </a:avLst>
          </a:prstGeom>
          <a:solidFill>
            <a:schemeClr val="tx1"/>
          </a:solidFill>
          <a:ln/>
        </p:spPr>
      </p:sp>
      <p:sp>
        <p:nvSpPr>
          <p:cNvPr id="25" name="Text 20"/>
          <p:cNvSpPr txBox="1"/>
          <p:nvPr/>
        </p:nvSpPr>
        <p:spPr>
          <a:xfrm>
            <a:off x="6519672" y="4160520"/>
            <a:ext cx="2194560" cy="731520"/>
          </a:xfrm>
          <a:prstGeom prst="rect">
            <a:avLst/>
          </a:prstGeom>
          <a:noFill/>
          <a:ln/>
        </p:spPr>
        <p:txBody>
          <a:bodyPr wrap="square" lIns="0" tIns="0" rIns="0" bIns="0" rtlCol="0" anchor="t"/>
          <a:lstStyle/>
          <a:p>
            <a:pPr algn="l" indent="0" marL="0">
              <a:buNone/>
            </a:pPr>
            <a:r>
              <a:rPr lang="en-US" sz="3400" b="1" dirty="0">
                <a:solidFill>
                  <a:schemeClr val="accent1"/>
                </a:solidFill>
              </a:rPr>
              <a:t>251,115</a:t>
            </a:r>
            <a:endParaRPr lang="en-US" sz="3400" dirty="0"/>
          </a:p>
        </p:txBody>
      </p:sp>
      <p:sp>
        <p:nvSpPr>
          <p:cNvPr id="26" name="Text 21"/>
          <p:cNvSpPr txBox="1"/>
          <p:nvPr/>
        </p:nvSpPr>
        <p:spPr>
          <a:xfrm>
            <a:off x="6519672" y="4892040"/>
            <a:ext cx="2148840" cy="1005840"/>
          </a:xfrm>
          <a:prstGeom prst="rect">
            <a:avLst/>
          </a:prstGeom>
          <a:noFill/>
          <a:ln/>
        </p:spPr>
        <p:txBody>
          <a:bodyPr wrap="square" lIns="0" tIns="0" rIns="0" bIns="0" rtlCol="0" anchor="t"/>
          <a:lstStyle/>
          <a:p>
            <a:pPr algn="l" indent="0" marL="0">
              <a:buNone/>
            </a:pPr>
            <a:r>
              <a:rPr lang="en-US" sz="1300" dirty="0">
                <a:solidFill>
                  <a:schemeClr val="bg1"/>
                </a:solidFill>
              </a:rPr>
              <a:t>unique emails after de-duplication</a:t>
            </a:r>
            <a:endParaRPr lang="en-US" sz="1300" dirty="0"/>
          </a:p>
        </p:txBody>
      </p:sp>
      <p:sp>
        <p:nvSpPr>
          <p:cNvPr id="27" name="Stat tile"/>
          <p:cNvSpPr/>
          <p:nvPr/>
        </p:nvSpPr>
        <p:spPr>
          <a:xfrm>
            <a:off x="9006840" y="3886200"/>
            <a:ext cx="2606040" cy="2103120"/>
          </a:xfrm>
          <a:prstGeom prst="roundRect">
            <a:avLst>
              <a:gd name="adj" fmla="val 3478"/>
            </a:avLst>
          </a:prstGeom>
          <a:solidFill>
            <a:schemeClr val="tx1"/>
          </a:solidFill>
          <a:ln/>
        </p:spPr>
      </p:sp>
      <p:sp>
        <p:nvSpPr>
          <p:cNvPr id="28" name="Text 23"/>
          <p:cNvSpPr txBox="1"/>
          <p:nvPr/>
        </p:nvSpPr>
        <p:spPr>
          <a:xfrm>
            <a:off x="9262872" y="4160520"/>
            <a:ext cx="2194560" cy="731520"/>
          </a:xfrm>
          <a:prstGeom prst="rect">
            <a:avLst/>
          </a:prstGeom>
          <a:noFill/>
          <a:ln/>
        </p:spPr>
        <p:txBody>
          <a:bodyPr wrap="square" lIns="0" tIns="0" rIns="0" bIns="0" rtlCol="0" anchor="t"/>
          <a:lstStyle/>
          <a:p>
            <a:pPr algn="l" indent="0" marL="0">
              <a:buNone/>
            </a:pPr>
            <a:r>
              <a:rPr lang="en-US" sz="3400" b="1" dirty="0">
                <a:solidFill>
                  <a:schemeClr val="accent1"/>
                </a:solidFill>
              </a:rPr>
              <a:t>631,253</a:t>
            </a:r>
            <a:endParaRPr lang="en-US" sz="3400" dirty="0"/>
          </a:p>
        </p:txBody>
      </p:sp>
      <p:sp>
        <p:nvSpPr>
          <p:cNvPr id="29" name="Text 24"/>
          <p:cNvSpPr txBox="1"/>
          <p:nvPr/>
        </p:nvSpPr>
        <p:spPr>
          <a:xfrm>
            <a:off x="9262872" y="4892040"/>
            <a:ext cx="2148840" cy="1005840"/>
          </a:xfrm>
          <a:prstGeom prst="rect">
            <a:avLst/>
          </a:prstGeom>
          <a:noFill/>
          <a:ln/>
        </p:spPr>
        <p:txBody>
          <a:bodyPr wrap="square" lIns="0" tIns="0" rIns="0" bIns="0" rtlCol="0" anchor="t"/>
          <a:lstStyle/>
          <a:p>
            <a:pPr algn="l" indent="0" marL="0">
              <a:buNone/>
            </a:pPr>
            <a:r>
              <a:rPr lang="en-US" sz="1300" dirty="0">
                <a:solidFill>
                  <a:schemeClr val="bg1"/>
                </a:solidFill>
              </a:rPr>
              <a:t>unique words → 99.98% sparse, 1.27 TB → ~300 MB</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Two phases: index once, search in milliseconds</a:t>
            </a:r>
            <a:endParaRPr lang="en-US" sz="3200" dirty="0"/>
          </a:p>
        </p:txBody>
      </p:sp>
      <p:sp>
        <p:nvSpPr>
          <p:cNvPr id="4" name="Text 2"/>
          <p:cNvSpPr txBox="1"/>
          <p:nvPr/>
        </p:nvSpPr>
        <p:spPr>
          <a:xfrm>
            <a:off x="548640" y="1508760"/>
            <a:ext cx="11094415"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PHASE A · INDEXING · load_data.py · RUN ONCE, ~75 s</a:t>
            </a:r>
            <a:endParaRPr lang="en-US" sz="1100" dirty="0"/>
          </a:p>
        </p:txBody>
      </p:sp>
      <p:sp>
        <p:nvSpPr>
          <p:cNvPr id="5" name="Step"/>
          <p:cNvSpPr/>
          <p:nvPr/>
        </p:nvSpPr>
        <p:spPr>
          <a:xfrm>
            <a:off x="548640" y="1828800"/>
            <a:ext cx="1645920" cy="1417320"/>
          </a:xfrm>
          <a:prstGeom prst="roundRect">
            <a:avLst>
              <a:gd name="adj" fmla="val 5161"/>
            </a:avLst>
          </a:prstGeom>
          <a:solidFill>
            <a:schemeClr val="bg2"/>
          </a:solidFill>
          <a:ln/>
        </p:spPr>
      </p:sp>
      <p:sp>
        <p:nvSpPr>
          <p:cNvPr id="6" name="Text 4"/>
          <p:cNvSpPr txBox="1"/>
          <p:nvPr/>
        </p:nvSpPr>
        <p:spPr>
          <a:xfrm>
            <a:off x="713232"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01</a:t>
            </a:r>
            <a:endParaRPr lang="en-US" sz="1100" dirty="0"/>
          </a:p>
        </p:txBody>
      </p:sp>
      <p:sp>
        <p:nvSpPr>
          <p:cNvPr id="7" name="Text 5"/>
          <p:cNvSpPr txBox="1"/>
          <p:nvPr/>
        </p:nvSpPr>
        <p:spPr>
          <a:xfrm>
            <a:off x="713232"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Read CSV</a:t>
            </a:r>
            <a:endParaRPr lang="en-US" sz="1600" dirty="0"/>
          </a:p>
        </p:txBody>
      </p:sp>
      <p:sp>
        <p:nvSpPr>
          <p:cNvPr id="8" name="Text 6"/>
          <p:cNvSpPr txBox="1"/>
          <p:nvPr/>
        </p:nvSpPr>
        <p:spPr>
          <a:xfrm>
            <a:off x="713232"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517,401 rows, 1.4 GB</a:t>
            </a:r>
            <a:endParaRPr lang="en-US" sz="1200" dirty="0"/>
          </a:p>
        </p:txBody>
      </p:sp>
      <p:sp>
        <p:nvSpPr>
          <p:cNvPr id="9" name="Arrow"/>
          <p:cNvSpPr/>
          <p:nvPr/>
        </p:nvSpPr>
        <p:spPr>
          <a:xfrm>
            <a:off x="2231136" y="2537460"/>
            <a:ext cx="170627" cy="0"/>
          </a:xfrm>
          <a:prstGeom prst="line">
            <a:avLst/>
          </a:prstGeom>
          <a:noFill/>
          <a:ln w="19050">
            <a:solidFill>
              <a:srgbClr val="8A94A6"/>
            </a:solidFill>
            <a:prstDash val="solid"/>
            <a:tailEnd type="triangle"/>
          </a:ln>
        </p:spPr>
      </p:sp>
      <p:sp>
        <p:nvSpPr>
          <p:cNvPr id="10" name="Step"/>
          <p:cNvSpPr/>
          <p:nvPr/>
        </p:nvSpPr>
        <p:spPr>
          <a:xfrm>
            <a:off x="2438339" y="1828800"/>
            <a:ext cx="1645920" cy="1417320"/>
          </a:xfrm>
          <a:prstGeom prst="roundRect">
            <a:avLst>
              <a:gd name="adj" fmla="val 5161"/>
            </a:avLst>
          </a:prstGeom>
          <a:solidFill>
            <a:schemeClr val="bg2"/>
          </a:solidFill>
          <a:ln/>
        </p:spPr>
      </p:sp>
      <p:sp>
        <p:nvSpPr>
          <p:cNvPr id="11" name="Text 9"/>
          <p:cNvSpPr txBox="1"/>
          <p:nvPr/>
        </p:nvSpPr>
        <p:spPr>
          <a:xfrm>
            <a:off x="2602931"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02</a:t>
            </a:r>
            <a:endParaRPr lang="en-US" sz="1100" dirty="0"/>
          </a:p>
        </p:txBody>
      </p:sp>
      <p:sp>
        <p:nvSpPr>
          <p:cNvPr id="12" name="Text 10"/>
          <p:cNvSpPr txBox="1"/>
          <p:nvPr/>
        </p:nvSpPr>
        <p:spPr>
          <a:xfrm>
            <a:off x="2602931"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Parse</a:t>
            </a:r>
            <a:endParaRPr lang="en-US" sz="1600" dirty="0"/>
          </a:p>
        </p:txBody>
      </p:sp>
      <p:sp>
        <p:nvSpPr>
          <p:cNvPr id="13" name="Text 11"/>
          <p:cNvSpPr txBox="1"/>
          <p:nvPr/>
        </p:nvSpPr>
        <p:spPr>
          <a:xfrm>
            <a:off x="2602931"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email module → from, to, date, subject, body</a:t>
            </a:r>
            <a:endParaRPr lang="en-US" sz="1200" dirty="0"/>
          </a:p>
        </p:txBody>
      </p:sp>
      <p:sp>
        <p:nvSpPr>
          <p:cNvPr id="14" name="Arrow"/>
          <p:cNvSpPr/>
          <p:nvPr/>
        </p:nvSpPr>
        <p:spPr>
          <a:xfrm>
            <a:off x="4120835" y="2537460"/>
            <a:ext cx="170627" cy="0"/>
          </a:xfrm>
          <a:prstGeom prst="line">
            <a:avLst/>
          </a:prstGeom>
          <a:noFill/>
          <a:ln w="19050">
            <a:solidFill>
              <a:srgbClr val="8A94A6"/>
            </a:solidFill>
            <a:prstDash val="solid"/>
            <a:tailEnd type="triangle"/>
          </a:ln>
        </p:spPr>
      </p:sp>
      <p:sp>
        <p:nvSpPr>
          <p:cNvPr id="15" name="Step"/>
          <p:cNvSpPr/>
          <p:nvPr/>
        </p:nvSpPr>
        <p:spPr>
          <a:xfrm>
            <a:off x="4328038" y="1828800"/>
            <a:ext cx="1645920" cy="1417320"/>
          </a:xfrm>
          <a:prstGeom prst="roundRect">
            <a:avLst>
              <a:gd name="adj" fmla="val 5161"/>
            </a:avLst>
          </a:prstGeom>
          <a:solidFill>
            <a:schemeClr val="bg2"/>
          </a:solidFill>
          <a:ln/>
        </p:spPr>
      </p:sp>
      <p:sp>
        <p:nvSpPr>
          <p:cNvPr id="16" name="Text 14"/>
          <p:cNvSpPr txBox="1"/>
          <p:nvPr/>
        </p:nvSpPr>
        <p:spPr>
          <a:xfrm>
            <a:off x="4492630"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03</a:t>
            </a:r>
            <a:endParaRPr lang="en-US" sz="1100" dirty="0"/>
          </a:p>
        </p:txBody>
      </p:sp>
      <p:sp>
        <p:nvSpPr>
          <p:cNvPr id="17" name="Text 15"/>
          <p:cNvSpPr txBox="1"/>
          <p:nvPr/>
        </p:nvSpPr>
        <p:spPr>
          <a:xfrm>
            <a:off x="4492630"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Dedupe</a:t>
            </a:r>
            <a:endParaRPr lang="en-US" sz="1600" dirty="0"/>
          </a:p>
        </p:txBody>
      </p:sp>
      <p:sp>
        <p:nvSpPr>
          <p:cNvPr id="18" name="Text 16"/>
          <p:cNvSpPr txBox="1"/>
          <p:nvPr/>
        </p:nvSpPr>
        <p:spPr>
          <a:xfrm>
            <a:off x="4492630"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same sender + subject + body → skip</a:t>
            </a:r>
            <a:endParaRPr lang="en-US" sz="1200" dirty="0"/>
          </a:p>
        </p:txBody>
      </p:sp>
      <p:sp>
        <p:nvSpPr>
          <p:cNvPr id="19" name="Arrow"/>
          <p:cNvSpPr/>
          <p:nvPr/>
        </p:nvSpPr>
        <p:spPr>
          <a:xfrm>
            <a:off x="6010534" y="2537460"/>
            <a:ext cx="170627" cy="0"/>
          </a:xfrm>
          <a:prstGeom prst="line">
            <a:avLst/>
          </a:prstGeom>
          <a:noFill/>
          <a:ln w="19050">
            <a:solidFill>
              <a:srgbClr val="8A94A6"/>
            </a:solidFill>
            <a:prstDash val="solid"/>
            <a:tailEnd type="triangle"/>
          </a:ln>
        </p:spPr>
      </p:sp>
      <p:sp>
        <p:nvSpPr>
          <p:cNvPr id="20" name="Step"/>
          <p:cNvSpPr/>
          <p:nvPr/>
        </p:nvSpPr>
        <p:spPr>
          <a:xfrm>
            <a:off x="6217737" y="1828800"/>
            <a:ext cx="1645920" cy="1417320"/>
          </a:xfrm>
          <a:prstGeom prst="roundRect">
            <a:avLst>
              <a:gd name="adj" fmla="val 5161"/>
            </a:avLst>
          </a:prstGeom>
          <a:solidFill>
            <a:schemeClr val="bg2"/>
          </a:solidFill>
          <a:ln/>
        </p:spPr>
      </p:sp>
      <p:sp>
        <p:nvSpPr>
          <p:cNvPr id="21" name="Text 19"/>
          <p:cNvSpPr txBox="1"/>
          <p:nvPr/>
        </p:nvSpPr>
        <p:spPr>
          <a:xfrm>
            <a:off x="6382329"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04</a:t>
            </a:r>
            <a:endParaRPr lang="en-US" sz="1100" dirty="0"/>
          </a:p>
        </p:txBody>
      </p:sp>
      <p:sp>
        <p:nvSpPr>
          <p:cNvPr id="22" name="Text 20"/>
          <p:cNvSpPr txBox="1"/>
          <p:nvPr/>
        </p:nvSpPr>
        <p:spPr>
          <a:xfrm>
            <a:off x="6382329"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Tokenise</a:t>
            </a:r>
            <a:endParaRPr lang="en-US" sz="1600" dirty="0"/>
          </a:p>
        </p:txBody>
      </p:sp>
      <p:sp>
        <p:nvSpPr>
          <p:cNvPr id="23" name="Text 21"/>
          <p:cNvSpPr txBox="1"/>
          <p:nvPr/>
        </p:nvSpPr>
        <p:spPr>
          <a:xfrm>
            <a:off x="6382329"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lowercase, split, drop stop words</a:t>
            </a:r>
            <a:endParaRPr lang="en-US" sz="1200" dirty="0"/>
          </a:p>
        </p:txBody>
      </p:sp>
      <p:sp>
        <p:nvSpPr>
          <p:cNvPr id="24" name="Arrow"/>
          <p:cNvSpPr/>
          <p:nvPr/>
        </p:nvSpPr>
        <p:spPr>
          <a:xfrm>
            <a:off x="7900233" y="2537460"/>
            <a:ext cx="170627" cy="0"/>
          </a:xfrm>
          <a:prstGeom prst="line">
            <a:avLst/>
          </a:prstGeom>
          <a:noFill/>
          <a:ln w="19050">
            <a:solidFill>
              <a:srgbClr val="8A94A6"/>
            </a:solidFill>
            <a:prstDash val="solid"/>
            <a:tailEnd type="triangle"/>
          </a:ln>
        </p:spPr>
      </p:sp>
      <p:sp>
        <p:nvSpPr>
          <p:cNvPr id="25" name="Step"/>
          <p:cNvSpPr/>
          <p:nvPr/>
        </p:nvSpPr>
        <p:spPr>
          <a:xfrm>
            <a:off x="8107436" y="1828800"/>
            <a:ext cx="1645920" cy="1417320"/>
          </a:xfrm>
          <a:prstGeom prst="roundRect">
            <a:avLst>
              <a:gd name="adj" fmla="val 5161"/>
            </a:avLst>
          </a:prstGeom>
          <a:solidFill>
            <a:schemeClr val="bg2"/>
          </a:solidFill>
          <a:ln/>
        </p:spPr>
      </p:sp>
      <p:sp>
        <p:nvSpPr>
          <p:cNvPr id="26" name="Text 24"/>
          <p:cNvSpPr txBox="1"/>
          <p:nvPr/>
        </p:nvSpPr>
        <p:spPr>
          <a:xfrm>
            <a:off x="8272028"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05</a:t>
            </a:r>
            <a:endParaRPr lang="en-US" sz="1100" dirty="0"/>
          </a:p>
        </p:txBody>
      </p:sp>
      <p:sp>
        <p:nvSpPr>
          <p:cNvPr id="27" name="Text 25"/>
          <p:cNvSpPr txBox="1"/>
          <p:nvPr/>
        </p:nvSpPr>
        <p:spPr>
          <a:xfrm>
            <a:off x="8272028" y="2176272"/>
            <a:ext cx="1371600" cy="320040"/>
          </a:xfrm>
          <a:prstGeom prst="rect">
            <a:avLst/>
          </a:prstGeom>
          <a:noFill/>
          <a:ln/>
        </p:spPr>
        <p:txBody>
          <a:bodyPr wrap="square" lIns="0" tIns="0" rIns="0" bIns="0" rtlCol="0" anchor="t"/>
          <a:lstStyle/>
          <a:p>
            <a:pPr algn="l" indent="0" marL="0">
              <a:buNone/>
            </a:pPr>
            <a:r>
              <a:rPr lang="en-US" sz="1600" b="1" dirty="0">
                <a:solidFill>
                  <a:schemeClr val="tx1"/>
                </a:solidFill>
              </a:rPr>
              <a:t>Vectorise</a:t>
            </a:r>
            <a:endParaRPr lang="en-US" sz="1600" dirty="0"/>
          </a:p>
        </p:txBody>
      </p:sp>
      <p:sp>
        <p:nvSpPr>
          <p:cNvPr id="28" name="Text 26"/>
          <p:cNvSpPr txBox="1"/>
          <p:nvPr/>
        </p:nvSpPr>
        <p:spPr>
          <a:xfrm>
            <a:off x="8272028" y="2514600"/>
            <a:ext cx="1371600" cy="685800"/>
          </a:xfrm>
          <a:prstGeom prst="rect">
            <a:avLst/>
          </a:prstGeom>
          <a:noFill/>
          <a:ln/>
        </p:spPr>
        <p:txBody>
          <a:bodyPr wrap="square" lIns="0" tIns="0" rIns="0" bIns="0" rtlCol="0" anchor="t"/>
          <a:lstStyle/>
          <a:p>
            <a:pPr algn="l" indent="0" marL="0">
              <a:buNone/>
            </a:pPr>
            <a:r>
              <a:rPr lang="en-US" sz="1200" dirty="0">
                <a:solidFill>
                  <a:schemeClr val="tx2"/>
                </a:solidFill>
              </a:rPr>
              <a:t>TF-IDF vectors + BM25 word counts</a:t>
            </a:r>
            <a:endParaRPr lang="en-US" sz="1200" dirty="0"/>
          </a:p>
        </p:txBody>
      </p:sp>
      <p:sp>
        <p:nvSpPr>
          <p:cNvPr id="29" name="Arrow"/>
          <p:cNvSpPr/>
          <p:nvPr/>
        </p:nvSpPr>
        <p:spPr>
          <a:xfrm>
            <a:off x="9789932" y="2537460"/>
            <a:ext cx="170627" cy="0"/>
          </a:xfrm>
          <a:prstGeom prst="line">
            <a:avLst/>
          </a:prstGeom>
          <a:noFill/>
          <a:ln w="19050">
            <a:solidFill>
              <a:srgbClr val="8A94A6"/>
            </a:solidFill>
            <a:prstDash val="solid"/>
            <a:tailEnd type="triangle"/>
          </a:ln>
        </p:spPr>
      </p:sp>
      <p:sp>
        <p:nvSpPr>
          <p:cNvPr id="30" name="Step"/>
          <p:cNvSpPr/>
          <p:nvPr/>
        </p:nvSpPr>
        <p:spPr>
          <a:xfrm>
            <a:off x="9997135" y="1828800"/>
            <a:ext cx="1645920" cy="1417320"/>
          </a:xfrm>
          <a:prstGeom prst="roundRect">
            <a:avLst>
              <a:gd name="adj" fmla="val 5161"/>
            </a:avLst>
          </a:prstGeom>
          <a:solidFill>
            <a:schemeClr val="tx1"/>
          </a:solidFill>
          <a:ln/>
        </p:spPr>
      </p:sp>
      <p:sp>
        <p:nvSpPr>
          <p:cNvPr id="31" name="Text 29"/>
          <p:cNvSpPr txBox="1"/>
          <p:nvPr/>
        </p:nvSpPr>
        <p:spPr>
          <a:xfrm>
            <a:off x="10161727" y="1947672"/>
            <a:ext cx="1280160" cy="228600"/>
          </a:xfrm>
          <a:prstGeom prst="rect">
            <a:avLst/>
          </a:prstGeom>
          <a:noFill/>
          <a:ln/>
        </p:spPr>
        <p:txBody>
          <a:bodyPr wrap="square" lIns="0" tIns="0" rIns="0" bIns="0" rtlCol="0" anchor="t"/>
          <a:lstStyle/>
          <a:p>
            <a:pPr algn="l" indent="0" marL="0">
              <a:buNone/>
            </a:pPr>
            <a:r>
              <a:rPr lang="en-US" sz="1100" b="1" dirty="0">
                <a:solidFill>
                  <a:schemeClr val="accent1"/>
                </a:solidFill>
              </a:rPr>
              <a:t>06</a:t>
            </a:r>
            <a:endParaRPr lang="en-US" sz="1100" dirty="0"/>
          </a:p>
        </p:txBody>
      </p:sp>
      <p:sp>
        <p:nvSpPr>
          <p:cNvPr id="32" name="Text 30"/>
          <p:cNvSpPr txBox="1"/>
          <p:nvPr/>
        </p:nvSpPr>
        <p:spPr>
          <a:xfrm>
            <a:off x="10161727" y="2176272"/>
            <a:ext cx="1371600" cy="320040"/>
          </a:xfrm>
          <a:prstGeom prst="rect">
            <a:avLst/>
          </a:prstGeom>
          <a:noFill/>
          <a:ln/>
        </p:spPr>
        <p:txBody>
          <a:bodyPr wrap="square" lIns="0" tIns="0" rIns="0" bIns="0" rtlCol="0" anchor="t"/>
          <a:lstStyle/>
          <a:p>
            <a:pPr algn="l" indent="0" marL="0">
              <a:buNone/>
            </a:pPr>
            <a:r>
              <a:rPr lang="en-US" sz="1600" b="1" dirty="0">
                <a:solidFill>
                  <a:schemeClr val="bg1"/>
                </a:solidFill>
              </a:rPr>
              <a:t>Save</a:t>
            </a:r>
            <a:endParaRPr lang="en-US" sz="1600" dirty="0"/>
          </a:p>
        </p:txBody>
      </p:sp>
      <p:sp>
        <p:nvSpPr>
          <p:cNvPr id="33" name="Text 31"/>
          <p:cNvSpPr txBox="1"/>
          <p:nvPr/>
        </p:nvSpPr>
        <p:spPr>
          <a:xfrm>
            <a:off x="10161727" y="2514600"/>
            <a:ext cx="1371600" cy="685800"/>
          </a:xfrm>
          <a:prstGeom prst="rect">
            <a:avLst/>
          </a:prstGeom>
          <a:noFill/>
          <a:ln/>
        </p:spPr>
        <p:txBody>
          <a:bodyPr wrap="square" lIns="0" tIns="0" rIns="0" bIns="0" rtlCol="0" anchor="t"/>
          <a:lstStyle/>
          <a:p>
            <a:pPr algn="l" indent="0" marL="0">
              <a:buNone/>
            </a:pPr>
            <a:r>
              <a:rPr lang="en-US" sz="1200" dirty="0">
                <a:solidFill>
                  <a:schemeClr val="accent5"/>
                </a:solidFill>
              </a:rPr>
              <a:t>pickle → index.pkl (1.1 GB)</a:t>
            </a:r>
            <a:endParaRPr lang="en-US" sz="1200" dirty="0"/>
          </a:p>
        </p:txBody>
      </p:sp>
      <p:sp>
        <p:nvSpPr>
          <p:cNvPr id="34" name="Text 32"/>
          <p:cNvSpPr txBox="1"/>
          <p:nvPr/>
        </p:nvSpPr>
        <p:spPr>
          <a:xfrm>
            <a:off x="548640" y="3566160"/>
            <a:ext cx="11094415"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PHASE B · SEARCHING · app.py · EVERY QUERY</a:t>
            </a:r>
            <a:endParaRPr lang="en-US" sz="1100" dirty="0"/>
          </a:p>
        </p:txBody>
      </p:sp>
      <p:sp>
        <p:nvSpPr>
          <p:cNvPr id="35" name="Step"/>
          <p:cNvSpPr/>
          <p:nvPr/>
        </p:nvSpPr>
        <p:spPr>
          <a:xfrm>
            <a:off x="548640" y="3886200"/>
            <a:ext cx="1920240" cy="1463040"/>
          </a:xfrm>
          <a:prstGeom prst="roundRect">
            <a:avLst>
              <a:gd name="adj" fmla="val 5000"/>
            </a:avLst>
          </a:prstGeom>
          <a:solidFill>
            <a:schemeClr val="bg2"/>
          </a:solidFill>
          <a:ln/>
        </p:spPr>
      </p:sp>
      <p:sp>
        <p:nvSpPr>
          <p:cNvPr id="36" name="Text 34"/>
          <p:cNvSpPr txBox="1"/>
          <p:nvPr/>
        </p:nvSpPr>
        <p:spPr>
          <a:xfrm>
            <a:off x="713232"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Browser</a:t>
            </a:r>
            <a:endParaRPr lang="en-US" sz="1600" dirty="0"/>
          </a:p>
        </p:txBody>
      </p:sp>
      <p:sp>
        <p:nvSpPr>
          <p:cNvPr id="37" name="Text 35"/>
          <p:cNvSpPr txBox="1"/>
          <p:nvPr/>
        </p:nvSpPr>
        <p:spPr>
          <a:xfrm>
            <a:off x="713232"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user types “gas pipeline” → ?q=gas+pipeline</a:t>
            </a:r>
            <a:endParaRPr lang="en-US" sz="1200" dirty="0"/>
          </a:p>
        </p:txBody>
      </p:sp>
      <p:sp>
        <p:nvSpPr>
          <p:cNvPr id="38" name="Arrow"/>
          <p:cNvSpPr/>
          <p:nvPr/>
        </p:nvSpPr>
        <p:spPr>
          <a:xfrm>
            <a:off x="2505456" y="4617720"/>
            <a:ext cx="300152" cy="0"/>
          </a:xfrm>
          <a:prstGeom prst="line">
            <a:avLst/>
          </a:prstGeom>
          <a:noFill/>
          <a:ln w="19050">
            <a:solidFill>
              <a:srgbClr val="8A94A6"/>
            </a:solidFill>
            <a:prstDash val="solid"/>
            <a:tailEnd type="triangle"/>
          </a:ln>
        </p:spPr>
      </p:sp>
      <p:sp>
        <p:nvSpPr>
          <p:cNvPr id="39" name="Step"/>
          <p:cNvSpPr/>
          <p:nvPr/>
        </p:nvSpPr>
        <p:spPr>
          <a:xfrm>
            <a:off x="2842184" y="3886200"/>
            <a:ext cx="1920240" cy="1463040"/>
          </a:xfrm>
          <a:prstGeom prst="roundRect">
            <a:avLst>
              <a:gd name="adj" fmla="val 5000"/>
            </a:avLst>
          </a:prstGeom>
          <a:solidFill>
            <a:schemeClr val="bg2"/>
          </a:solidFill>
          <a:ln/>
        </p:spPr>
      </p:sp>
      <p:sp>
        <p:nvSpPr>
          <p:cNvPr id="40" name="Text 38"/>
          <p:cNvSpPr txBox="1"/>
          <p:nvPr/>
        </p:nvSpPr>
        <p:spPr>
          <a:xfrm>
            <a:off x="3006776"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Flask route</a:t>
            </a:r>
            <a:endParaRPr lang="en-US" sz="1600" dirty="0"/>
          </a:p>
        </p:txBody>
      </p:sp>
      <p:sp>
        <p:nvSpPr>
          <p:cNvPr id="41" name="Text 39"/>
          <p:cNvSpPr txBox="1"/>
          <p:nvPr/>
        </p:nvSpPr>
        <p:spPr>
          <a:xfrm>
            <a:off x="3006776"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home() reads the query</a:t>
            </a:r>
            <a:endParaRPr lang="en-US" sz="1200" dirty="0"/>
          </a:p>
        </p:txBody>
      </p:sp>
      <p:sp>
        <p:nvSpPr>
          <p:cNvPr id="42" name="Arrow"/>
          <p:cNvSpPr/>
          <p:nvPr/>
        </p:nvSpPr>
        <p:spPr>
          <a:xfrm>
            <a:off x="4799000" y="4617720"/>
            <a:ext cx="300152" cy="0"/>
          </a:xfrm>
          <a:prstGeom prst="line">
            <a:avLst/>
          </a:prstGeom>
          <a:noFill/>
          <a:ln w="19050">
            <a:solidFill>
              <a:srgbClr val="8A94A6"/>
            </a:solidFill>
            <a:prstDash val="solid"/>
            <a:tailEnd type="triangle"/>
          </a:ln>
        </p:spPr>
      </p:sp>
      <p:sp>
        <p:nvSpPr>
          <p:cNvPr id="43" name="Step"/>
          <p:cNvSpPr/>
          <p:nvPr/>
        </p:nvSpPr>
        <p:spPr>
          <a:xfrm>
            <a:off x="5135728" y="3886200"/>
            <a:ext cx="1920240" cy="1463040"/>
          </a:xfrm>
          <a:prstGeom prst="roundRect">
            <a:avLst>
              <a:gd name="adj" fmla="val 5000"/>
            </a:avLst>
          </a:prstGeom>
          <a:solidFill>
            <a:schemeClr val="bg2"/>
          </a:solidFill>
          <a:ln/>
        </p:spPr>
      </p:sp>
      <p:sp>
        <p:nvSpPr>
          <p:cNvPr id="44" name="Text 42"/>
          <p:cNvSpPr txBox="1"/>
          <p:nvPr/>
        </p:nvSpPr>
        <p:spPr>
          <a:xfrm>
            <a:off x="5300320"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Score</a:t>
            </a:r>
            <a:endParaRPr lang="en-US" sz="1600" dirty="0"/>
          </a:p>
        </p:txBody>
      </p:sp>
      <p:sp>
        <p:nvSpPr>
          <p:cNvPr id="45" name="Text 43"/>
          <p:cNvSpPr txBox="1"/>
          <p:nvPr/>
        </p:nvSpPr>
        <p:spPr>
          <a:xfrm>
            <a:off x="5300320"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search_tfidf(): cosine with all emails</a:t>
            </a:r>
            <a:endParaRPr lang="en-US" sz="1200" dirty="0"/>
          </a:p>
          <a:p>
            <a:pPr algn="l" indent="0" marL="0">
              <a:buNone/>
            </a:pPr>
            <a:r>
              <a:rPr lang="en-US" sz="1200" dirty="0">
                <a:solidFill>
                  <a:schemeClr val="tx2"/>
                </a:solidFill>
              </a:rPr>
              <a:t>search_bm25(): only emails with the words</a:t>
            </a:r>
            <a:endParaRPr lang="en-US" sz="1200" dirty="0"/>
          </a:p>
        </p:txBody>
      </p:sp>
      <p:sp>
        <p:nvSpPr>
          <p:cNvPr id="46" name="Arrow"/>
          <p:cNvSpPr/>
          <p:nvPr/>
        </p:nvSpPr>
        <p:spPr>
          <a:xfrm>
            <a:off x="7092544" y="4617720"/>
            <a:ext cx="300152" cy="0"/>
          </a:xfrm>
          <a:prstGeom prst="line">
            <a:avLst/>
          </a:prstGeom>
          <a:noFill/>
          <a:ln w="19050">
            <a:solidFill>
              <a:srgbClr val="8A94A6"/>
            </a:solidFill>
            <a:prstDash val="solid"/>
            <a:tailEnd type="triangle"/>
          </a:ln>
        </p:spPr>
      </p:sp>
      <p:sp>
        <p:nvSpPr>
          <p:cNvPr id="47" name="Step"/>
          <p:cNvSpPr/>
          <p:nvPr/>
        </p:nvSpPr>
        <p:spPr>
          <a:xfrm>
            <a:off x="7429271" y="3886200"/>
            <a:ext cx="1920240" cy="1463040"/>
          </a:xfrm>
          <a:prstGeom prst="roundRect">
            <a:avLst>
              <a:gd name="adj" fmla="val 5000"/>
            </a:avLst>
          </a:prstGeom>
          <a:solidFill>
            <a:schemeClr val="bg2"/>
          </a:solidFill>
          <a:ln/>
        </p:spPr>
      </p:sp>
      <p:sp>
        <p:nvSpPr>
          <p:cNvPr id="48" name="Text 46"/>
          <p:cNvSpPr txBox="1"/>
          <p:nvPr/>
        </p:nvSpPr>
        <p:spPr>
          <a:xfrm>
            <a:off x="7593863" y="4023360"/>
            <a:ext cx="1645920" cy="320040"/>
          </a:xfrm>
          <a:prstGeom prst="rect">
            <a:avLst/>
          </a:prstGeom>
          <a:noFill/>
          <a:ln/>
        </p:spPr>
        <p:txBody>
          <a:bodyPr wrap="square" lIns="0" tIns="0" rIns="0" bIns="0" rtlCol="0" anchor="t"/>
          <a:lstStyle/>
          <a:p>
            <a:pPr algn="l" indent="0" marL="0">
              <a:buNone/>
            </a:pPr>
            <a:r>
              <a:rPr lang="en-US" sz="1600" b="1" dirty="0">
                <a:solidFill>
                  <a:schemeClr val="tx1"/>
                </a:solidFill>
              </a:rPr>
              <a:t>rank()</a:t>
            </a:r>
            <a:endParaRPr lang="en-US" sz="1600" dirty="0"/>
          </a:p>
        </p:txBody>
      </p:sp>
      <p:sp>
        <p:nvSpPr>
          <p:cNvPr id="49" name="Text 47"/>
          <p:cNvSpPr txBox="1"/>
          <p:nvPr/>
        </p:nvSpPr>
        <p:spPr>
          <a:xfrm>
            <a:off x="7593863" y="4370832"/>
            <a:ext cx="1645920" cy="914400"/>
          </a:xfrm>
          <a:prstGeom prst="rect">
            <a:avLst/>
          </a:prstGeom>
          <a:noFill/>
          <a:ln/>
        </p:spPr>
        <p:txBody>
          <a:bodyPr wrap="square" lIns="0" tIns="0" rIns="0" bIns="0" rtlCol="0" anchor="t"/>
          <a:lstStyle/>
          <a:p>
            <a:pPr algn="l" indent="0" marL="0">
              <a:buNone/>
            </a:pPr>
            <a:r>
              <a:rPr lang="en-US" sz="1200" dirty="0">
                <a:solidFill>
                  <a:schemeClr val="tx2"/>
                </a:solidFill>
              </a:rPr>
              <a:t>keep score &gt; 0, sort high → low, top 10</a:t>
            </a:r>
            <a:endParaRPr lang="en-US" sz="1200" dirty="0"/>
          </a:p>
        </p:txBody>
      </p:sp>
      <p:sp>
        <p:nvSpPr>
          <p:cNvPr id="50" name="Arrow"/>
          <p:cNvSpPr/>
          <p:nvPr/>
        </p:nvSpPr>
        <p:spPr>
          <a:xfrm>
            <a:off x="9386087" y="4617720"/>
            <a:ext cx="300152" cy="0"/>
          </a:xfrm>
          <a:prstGeom prst="line">
            <a:avLst/>
          </a:prstGeom>
          <a:noFill/>
          <a:ln w="19050">
            <a:solidFill>
              <a:srgbClr val="8A94A6"/>
            </a:solidFill>
            <a:prstDash val="solid"/>
            <a:tailEnd type="triangle"/>
          </a:ln>
        </p:spPr>
      </p:sp>
      <p:sp>
        <p:nvSpPr>
          <p:cNvPr id="51" name="Step"/>
          <p:cNvSpPr/>
          <p:nvPr/>
        </p:nvSpPr>
        <p:spPr>
          <a:xfrm>
            <a:off x="9722815" y="3886200"/>
            <a:ext cx="1920240" cy="1463040"/>
          </a:xfrm>
          <a:prstGeom prst="roundRect">
            <a:avLst>
              <a:gd name="adj" fmla="val 5000"/>
            </a:avLst>
          </a:prstGeom>
          <a:solidFill>
            <a:schemeClr val="tx1"/>
          </a:solidFill>
          <a:ln/>
        </p:spPr>
      </p:sp>
      <p:sp>
        <p:nvSpPr>
          <p:cNvPr id="52" name="Text 50"/>
          <p:cNvSpPr txBox="1"/>
          <p:nvPr/>
        </p:nvSpPr>
        <p:spPr>
          <a:xfrm>
            <a:off x="9887407" y="4023360"/>
            <a:ext cx="1645920" cy="320040"/>
          </a:xfrm>
          <a:prstGeom prst="rect">
            <a:avLst/>
          </a:prstGeom>
          <a:noFill/>
          <a:ln/>
        </p:spPr>
        <p:txBody>
          <a:bodyPr wrap="square" lIns="0" tIns="0" rIns="0" bIns="0" rtlCol="0" anchor="t"/>
          <a:lstStyle/>
          <a:p>
            <a:pPr algn="l" indent="0" marL="0">
              <a:buNone/>
            </a:pPr>
            <a:r>
              <a:rPr lang="en-US" sz="1600" b="1" dirty="0">
                <a:solidFill>
                  <a:schemeClr val="bg1"/>
                </a:solidFill>
              </a:rPr>
              <a:t>Results page</a:t>
            </a:r>
            <a:endParaRPr lang="en-US" sz="1600" dirty="0"/>
          </a:p>
        </p:txBody>
      </p:sp>
      <p:sp>
        <p:nvSpPr>
          <p:cNvPr id="53" name="Text 51"/>
          <p:cNvSpPr txBox="1"/>
          <p:nvPr/>
        </p:nvSpPr>
        <p:spPr>
          <a:xfrm>
            <a:off x="9887407" y="4370832"/>
            <a:ext cx="1645920" cy="914400"/>
          </a:xfrm>
          <a:prstGeom prst="rect">
            <a:avLst/>
          </a:prstGeom>
          <a:noFill/>
          <a:ln/>
        </p:spPr>
        <p:txBody>
          <a:bodyPr wrap="square" lIns="0" tIns="0" rIns="0" bIns="0" rtlCol="0" anchor="t"/>
          <a:lstStyle/>
          <a:p>
            <a:pPr algn="l" indent="0" marL="0">
              <a:buNone/>
            </a:pPr>
            <a:r>
              <a:rPr lang="en-US" sz="1200" dirty="0">
                <a:solidFill>
                  <a:schemeClr val="accent5"/>
                </a:solidFill>
              </a:rPr>
              <a:t>TF-IDF | BM25 columns, query words highlighted</a:t>
            </a:r>
            <a:endParaRPr lang="en-US" sz="1200" dirty="0"/>
          </a:p>
        </p:txBody>
      </p:sp>
      <p:sp>
        <p:nvSpPr>
          <p:cNvPr id="54" name="Note"/>
          <p:cNvSpPr/>
          <p:nvPr/>
        </p:nvSpPr>
        <p:spPr>
          <a:xfrm>
            <a:off x="548640" y="5577840"/>
            <a:ext cx="5440680" cy="548640"/>
          </a:xfrm>
          <a:prstGeom prst="roundRect">
            <a:avLst>
              <a:gd name="adj" fmla="val 13333"/>
            </a:avLst>
          </a:prstGeom>
          <a:solidFill>
            <a:srgbClr val="E3ECF6"/>
          </a:solidFill>
          <a:ln/>
        </p:spPr>
      </p:sp>
      <p:sp>
        <p:nvSpPr>
          <p:cNvPr id="55" name="Text 53"/>
          <p:cNvSpPr txBox="1"/>
          <p:nvPr/>
        </p:nvSpPr>
        <p:spPr>
          <a:xfrm>
            <a:off x="777240" y="5577840"/>
            <a:ext cx="5029200" cy="548640"/>
          </a:xfrm>
          <a:prstGeom prst="rect">
            <a:avLst/>
          </a:prstGeom>
          <a:noFill/>
          <a:ln/>
        </p:spPr>
        <p:txBody>
          <a:bodyPr wrap="square" lIns="0" tIns="0" rIns="0" bIns="0" rtlCol="0" anchor="ctr"/>
          <a:lstStyle/>
          <a:p>
            <a:pPr algn="l" indent="0" marL="0">
              <a:buNone/>
            </a:pPr>
            <a:r>
              <a:rPr lang="en-US" sz="1400" b="1" dirty="0">
                <a:solidFill>
                  <a:schemeClr val="tx1"/>
                </a:solidFill>
              </a:rPr>
              <a:t>App start: </a:t>
            </a:r>
            <a:pPr algn="l" indent="0" marL="0">
              <a:buNone/>
            </a:pPr>
            <a:r>
              <a:rPr lang="en-US" sz="1400" dirty="0">
                <a:solidFill>
                  <a:schemeClr val="tx1"/>
                </a:solidFill>
              </a:rPr>
              <a:t>pickle.load(index.pkl) → everything in RAM in 1.3 s</a:t>
            </a:r>
            <a:endParaRPr lang="en-US" sz="1400" dirty="0"/>
          </a:p>
        </p:txBody>
      </p:sp>
      <p:sp>
        <p:nvSpPr>
          <p:cNvPr id="56" name="Note"/>
          <p:cNvSpPr/>
          <p:nvPr/>
        </p:nvSpPr>
        <p:spPr>
          <a:xfrm>
            <a:off x="6199632" y="5577840"/>
            <a:ext cx="5440680" cy="548640"/>
          </a:xfrm>
          <a:prstGeom prst="roundRect">
            <a:avLst>
              <a:gd name="adj" fmla="val 13333"/>
            </a:avLst>
          </a:prstGeom>
          <a:solidFill>
            <a:srgbClr val="FBE9DC"/>
          </a:solidFill>
          <a:ln/>
        </p:spPr>
      </p:sp>
      <p:sp>
        <p:nvSpPr>
          <p:cNvPr id="57" name="Text 55"/>
          <p:cNvSpPr txBox="1"/>
          <p:nvPr/>
        </p:nvSpPr>
        <p:spPr>
          <a:xfrm>
            <a:off x="6428232" y="5577840"/>
            <a:ext cx="5029200" cy="548640"/>
          </a:xfrm>
          <a:prstGeom prst="rect">
            <a:avLst/>
          </a:prstGeom>
          <a:noFill/>
          <a:ln/>
        </p:spPr>
        <p:txBody>
          <a:bodyPr wrap="square" lIns="0" tIns="0" rIns="0" bIns="0" rtlCol="0" anchor="ctr"/>
          <a:lstStyle/>
          <a:p>
            <a:pPr algn="l" indent="0" marL="0">
              <a:buNone/>
            </a:pPr>
            <a:r>
              <a:rPr lang="en-US" sz="1400" b="1" dirty="0">
                <a:solidFill>
                  <a:schemeClr val="tx1"/>
                </a:solidFill>
              </a:rPr>
              <a:t>Per query: </a:t>
            </a:r>
            <a:pPr algn="l" indent="0" marL="0">
              <a:buNone/>
            </a:pPr>
            <a:r>
              <a:rPr lang="en-US" sz="1400" dirty="0">
                <a:solidFill>
                  <a:schemeClr val="tx1"/>
                </a:solidFill>
              </a:rPr>
              <a:t>BM25 ≈ 0.005 s · TF-IDF ≈ 0.04 s</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LANDSCAPE</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70 years of ranking text: where TF-IDF and BM25 sit</a:t>
            </a:r>
            <a:endParaRPr lang="en-US" sz="3200" dirty="0"/>
          </a:p>
        </p:txBody>
      </p:sp>
      <p:sp>
        <p:nvSpPr>
          <p:cNvPr id="4" name="Timeline"/>
          <p:cNvSpPr/>
          <p:nvPr/>
        </p:nvSpPr>
        <p:spPr>
          <a:xfrm>
            <a:off x="640080" y="3657600"/>
            <a:ext cx="10911535" cy="0"/>
          </a:xfrm>
          <a:prstGeom prst="line">
            <a:avLst/>
          </a:prstGeom>
          <a:noFill/>
          <a:ln w="25400">
            <a:solidFill>
              <a:srgbClr val="D9DDE4"/>
            </a:solidFill>
            <a:prstDash val="solid"/>
          </a:ln>
        </p:spPr>
      </p:sp>
      <p:sp>
        <p:nvSpPr>
          <p:cNvPr id="5" name="Milestone"/>
          <p:cNvSpPr/>
          <p:nvPr/>
        </p:nvSpPr>
        <p:spPr>
          <a:xfrm>
            <a:off x="1133856" y="3557016"/>
            <a:ext cx="201168" cy="201168"/>
          </a:xfrm>
          <a:prstGeom prst="ellipse">
            <a:avLst/>
          </a:prstGeom>
          <a:solidFill>
            <a:schemeClr val="tx1"/>
          </a:solidFill>
          <a:ln w="25400">
            <a:solidFill>
              <a:schemeClr val="bg1"/>
            </a:solidFill>
            <a:prstDash val="solid"/>
          </a:ln>
        </p:spPr>
      </p:sp>
      <p:sp>
        <p:nvSpPr>
          <p:cNvPr id="6" name="Tick"/>
          <p:cNvSpPr/>
          <p:nvPr/>
        </p:nvSpPr>
        <p:spPr>
          <a:xfrm>
            <a:off x="1234440" y="3246120"/>
            <a:ext cx="0" cy="301752"/>
          </a:xfrm>
          <a:prstGeom prst="line">
            <a:avLst/>
          </a:prstGeom>
          <a:noFill/>
          <a:ln w="12700">
            <a:solidFill>
              <a:srgbClr val="D9DDE4"/>
            </a:solidFill>
            <a:prstDash val="solid"/>
          </a:ln>
        </p:spPr>
      </p:sp>
      <p:sp>
        <p:nvSpPr>
          <p:cNvPr id="7" name="Text 5"/>
          <p:cNvSpPr txBox="1"/>
          <p:nvPr/>
        </p:nvSpPr>
        <p:spPr>
          <a:xfrm>
            <a:off x="521208" y="160020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1960s</a:t>
            </a:r>
            <a:endParaRPr lang="en-US" sz="1400" dirty="0"/>
          </a:p>
        </p:txBody>
      </p:sp>
      <p:sp>
        <p:nvSpPr>
          <p:cNvPr id="8" name="Text 6"/>
          <p:cNvSpPr txBox="1"/>
          <p:nvPr/>
        </p:nvSpPr>
        <p:spPr>
          <a:xfrm>
            <a:off x="521208"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Boolean retrieval</a:t>
            </a:r>
            <a:endParaRPr lang="en-US" sz="1400" dirty="0"/>
          </a:p>
        </p:txBody>
      </p:sp>
      <p:sp>
        <p:nvSpPr>
          <p:cNvPr id="9" name="Text 7"/>
          <p:cNvSpPr txBox="1"/>
          <p:nvPr/>
        </p:nvSpPr>
        <p:spPr>
          <a:xfrm>
            <a:off x="521208"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Exact AND / OR / NOT match. No ranking</a:t>
            </a:r>
            <a:endParaRPr lang="en-US" sz="1200" dirty="0"/>
          </a:p>
        </p:txBody>
      </p:sp>
      <p:sp>
        <p:nvSpPr>
          <p:cNvPr id="10" name="Milestone"/>
          <p:cNvSpPr/>
          <p:nvPr/>
        </p:nvSpPr>
        <p:spPr>
          <a:xfrm>
            <a:off x="2159305" y="3502152"/>
            <a:ext cx="310896" cy="310896"/>
          </a:xfrm>
          <a:prstGeom prst="ellipse">
            <a:avLst/>
          </a:prstGeom>
          <a:solidFill>
            <a:schemeClr val="accent2"/>
          </a:solidFill>
          <a:ln w="25400">
            <a:solidFill>
              <a:schemeClr val="bg1"/>
            </a:solidFill>
            <a:prstDash val="solid"/>
          </a:ln>
        </p:spPr>
      </p:sp>
      <p:sp>
        <p:nvSpPr>
          <p:cNvPr id="11" name="Highlight"/>
          <p:cNvSpPr/>
          <p:nvPr/>
        </p:nvSpPr>
        <p:spPr>
          <a:xfrm>
            <a:off x="1546657" y="3904488"/>
            <a:ext cx="1536192" cy="1783080"/>
          </a:xfrm>
          <a:prstGeom prst="roundRect">
            <a:avLst>
              <a:gd name="adj" fmla="val 4762"/>
            </a:avLst>
          </a:prstGeom>
          <a:solidFill>
            <a:srgbClr val="E3ECF6"/>
          </a:solidFill>
          <a:ln/>
        </p:spPr>
      </p:sp>
      <p:sp>
        <p:nvSpPr>
          <p:cNvPr id="12" name="Tick"/>
          <p:cNvSpPr/>
          <p:nvPr/>
        </p:nvSpPr>
        <p:spPr>
          <a:xfrm>
            <a:off x="2314753" y="3767328"/>
            <a:ext cx="0" cy="201168"/>
          </a:xfrm>
          <a:prstGeom prst="line">
            <a:avLst/>
          </a:prstGeom>
          <a:noFill/>
          <a:ln w="12700">
            <a:solidFill>
              <a:srgbClr val="D9DDE4"/>
            </a:solidFill>
            <a:prstDash val="solid"/>
          </a:ln>
        </p:spPr>
      </p:sp>
      <p:sp>
        <p:nvSpPr>
          <p:cNvPr id="13" name="Text 11"/>
          <p:cNvSpPr txBox="1"/>
          <p:nvPr/>
        </p:nvSpPr>
        <p:spPr>
          <a:xfrm>
            <a:off x="1601521" y="3977640"/>
            <a:ext cx="1426464" cy="292608"/>
          </a:xfrm>
          <a:prstGeom prst="rect">
            <a:avLst/>
          </a:prstGeom>
          <a:noFill/>
          <a:ln/>
        </p:spPr>
        <p:txBody>
          <a:bodyPr wrap="square" lIns="0" tIns="0" rIns="0" bIns="0" rtlCol="0" anchor="t"/>
          <a:lstStyle/>
          <a:p>
            <a:pPr algn="ctr" indent="0" marL="0">
              <a:buNone/>
            </a:pPr>
            <a:r>
              <a:rPr lang="en-US" sz="1400" b="1" dirty="0">
                <a:solidFill>
                  <a:schemeClr val="accent2"/>
                </a:solidFill>
              </a:rPr>
              <a:t>1972–75</a:t>
            </a:r>
            <a:endParaRPr lang="en-US" sz="1400" dirty="0"/>
          </a:p>
        </p:txBody>
      </p:sp>
      <p:sp>
        <p:nvSpPr>
          <p:cNvPr id="14" name="Text 12"/>
          <p:cNvSpPr txBox="1"/>
          <p:nvPr/>
        </p:nvSpPr>
        <p:spPr>
          <a:xfrm>
            <a:off x="1601521"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TF-IDF + vector space</a:t>
            </a:r>
            <a:endParaRPr lang="en-US" sz="1400" dirty="0"/>
          </a:p>
        </p:txBody>
      </p:sp>
      <p:sp>
        <p:nvSpPr>
          <p:cNvPr id="15" name="Text 13"/>
          <p:cNvSpPr txBox="1"/>
          <p:nvPr/>
        </p:nvSpPr>
        <p:spPr>
          <a:xfrm>
            <a:off x="1601521"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Spärck Jones (IDF), Salton (VSM)</a:t>
            </a:r>
            <a:endParaRPr lang="en-US" sz="1200" dirty="0"/>
          </a:p>
        </p:txBody>
      </p:sp>
      <p:sp>
        <p:nvSpPr>
          <p:cNvPr id="16" name="Milestone"/>
          <p:cNvSpPr/>
          <p:nvPr/>
        </p:nvSpPr>
        <p:spPr>
          <a:xfrm>
            <a:off x="3294482" y="3557016"/>
            <a:ext cx="201168" cy="201168"/>
          </a:xfrm>
          <a:prstGeom prst="ellipse">
            <a:avLst/>
          </a:prstGeom>
          <a:solidFill>
            <a:schemeClr val="tx1"/>
          </a:solidFill>
          <a:ln w="25400">
            <a:solidFill>
              <a:schemeClr val="bg1"/>
            </a:solidFill>
            <a:prstDash val="solid"/>
          </a:ln>
        </p:spPr>
      </p:sp>
      <p:sp>
        <p:nvSpPr>
          <p:cNvPr id="17" name="Tick"/>
          <p:cNvSpPr/>
          <p:nvPr/>
        </p:nvSpPr>
        <p:spPr>
          <a:xfrm>
            <a:off x="3395066" y="3246120"/>
            <a:ext cx="0" cy="301752"/>
          </a:xfrm>
          <a:prstGeom prst="line">
            <a:avLst/>
          </a:prstGeom>
          <a:noFill/>
          <a:ln w="12700">
            <a:solidFill>
              <a:srgbClr val="D9DDE4"/>
            </a:solidFill>
            <a:prstDash val="solid"/>
          </a:ln>
        </p:spPr>
      </p:sp>
      <p:sp>
        <p:nvSpPr>
          <p:cNvPr id="18" name="Text 16"/>
          <p:cNvSpPr txBox="1"/>
          <p:nvPr/>
        </p:nvSpPr>
        <p:spPr>
          <a:xfrm>
            <a:off x="2681834" y="160020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1976</a:t>
            </a:r>
            <a:endParaRPr lang="en-US" sz="1400" dirty="0"/>
          </a:p>
        </p:txBody>
      </p:sp>
      <p:sp>
        <p:nvSpPr>
          <p:cNvPr id="19" name="Text 17"/>
          <p:cNvSpPr txBox="1"/>
          <p:nvPr/>
        </p:nvSpPr>
        <p:spPr>
          <a:xfrm>
            <a:off x="2681834"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Probabilistic model</a:t>
            </a:r>
            <a:endParaRPr lang="en-US" sz="1400" dirty="0"/>
          </a:p>
        </p:txBody>
      </p:sp>
      <p:sp>
        <p:nvSpPr>
          <p:cNvPr id="20" name="Text 18"/>
          <p:cNvSpPr txBox="1"/>
          <p:nvPr/>
        </p:nvSpPr>
        <p:spPr>
          <a:xfrm>
            <a:off x="2681834"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Robertson &amp; Spärck Jones</a:t>
            </a:r>
            <a:endParaRPr lang="en-US" sz="1200" dirty="0"/>
          </a:p>
        </p:txBody>
      </p:sp>
      <p:sp>
        <p:nvSpPr>
          <p:cNvPr id="21" name="Milestone"/>
          <p:cNvSpPr/>
          <p:nvPr/>
        </p:nvSpPr>
        <p:spPr>
          <a:xfrm>
            <a:off x="4374794" y="3557016"/>
            <a:ext cx="201168" cy="201168"/>
          </a:xfrm>
          <a:prstGeom prst="ellipse">
            <a:avLst/>
          </a:prstGeom>
          <a:solidFill>
            <a:schemeClr val="tx1"/>
          </a:solidFill>
          <a:ln w="25400">
            <a:solidFill>
              <a:schemeClr val="bg1"/>
            </a:solidFill>
            <a:prstDash val="solid"/>
          </a:ln>
        </p:spPr>
      </p:sp>
      <p:sp>
        <p:nvSpPr>
          <p:cNvPr id="22" name="Tick"/>
          <p:cNvSpPr/>
          <p:nvPr/>
        </p:nvSpPr>
        <p:spPr>
          <a:xfrm>
            <a:off x="4475378" y="3767328"/>
            <a:ext cx="0" cy="201168"/>
          </a:xfrm>
          <a:prstGeom prst="line">
            <a:avLst/>
          </a:prstGeom>
          <a:noFill/>
          <a:ln w="12700">
            <a:solidFill>
              <a:srgbClr val="D9DDE4"/>
            </a:solidFill>
            <a:prstDash val="solid"/>
          </a:ln>
        </p:spPr>
      </p:sp>
      <p:sp>
        <p:nvSpPr>
          <p:cNvPr id="23" name="Text 21"/>
          <p:cNvSpPr txBox="1"/>
          <p:nvPr/>
        </p:nvSpPr>
        <p:spPr>
          <a:xfrm>
            <a:off x="3762146" y="397764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1990</a:t>
            </a:r>
            <a:endParaRPr lang="en-US" sz="1400" dirty="0"/>
          </a:p>
        </p:txBody>
      </p:sp>
      <p:sp>
        <p:nvSpPr>
          <p:cNvPr id="24" name="Text 22"/>
          <p:cNvSpPr txBox="1"/>
          <p:nvPr/>
        </p:nvSpPr>
        <p:spPr>
          <a:xfrm>
            <a:off x="3762146"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LSI / LSA</a:t>
            </a:r>
            <a:endParaRPr lang="en-US" sz="1400" dirty="0"/>
          </a:p>
        </p:txBody>
      </p:sp>
      <p:sp>
        <p:nvSpPr>
          <p:cNvPr id="25" name="Text 23"/>
          <p:cNvSpPr txBox="1"/>
          <p:nvPr/>
        </p:nvSpPr>
        <p:spPr>
          <a:xfrm>
            <a:off x="3762146"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SVD finds latent topics</a:t>
            </a:r>
            <a:endParaRPr lang="en-US" sz="1200" dirty="0"/>
          </a:p>
        </p:txBody>
      </p:sp>
      <p:sp>
        <p:nvSpPr>
          <p:cNvPr id="26" name="Milestone"/>
          <p:cNvSpPr/>
          <p:nvPr/>
        </p:nvSpPr>
        <p:spPr>
          <a:xfrm>
            <a:off x="5400243" y="3502152"/>
            <a:ext cx="310896" cy="310896"/>
          </a:xfrm>
          <a:prstGeom prst="ellipse">
            <a:avLst/>
          </a:prstGeom>
          <a:solidFill>
            <a:schemeClr val="accent1"/>
          </a:solidFill>
          <a:ln w="25400">
            <a:solidFill>
              <a:schemeClr val="bg1"/>
            </a:solidFill>
            <a:prstDash val="solid"/>
          </a:ln>
        </p:spPr>
      </p:sp>
      <p:sp>
        <p:nvSpPr>
          <p:cNvPr id="27" name="Highlight"/>
          <p:cNvSpPr/>
          <p:nvPr/>
        </p:nvSpPr>
        <p:spPr>
          <a:xfrm>
            <a:off x="4787595" y="1527048"/>
            <a:ext cx="1536192" cy="1783080"/>
          </a:xfrm>
          <a:prstGeom prst="roundRect">
            <a:avLst>
              <a:gd name="adj" fmla="val 4762"/>
            </a:avLst>
          </a:prstGeom>
          <a:solidFill>
            <a:srgbClr val="FBE9DC"/>
          </a:solidFill>
          <a:ln/>
        </p:spPr>
      </p:sp>
      <p:sp>
        <p:nvSpPr>
          <p:cNvPr id="28" name="Tick"/>
          <p:cNvSpPr/>
          <p:nvPr/>
        </p:nvSpPr>
        <p:spPr>
          <a:xfrm>
            <a:off x="5555691" y="3246120"/>
            <a:ext cx="0" cy="301752"/>
          </a:xfrm>
          <a:prstGeom prst="line">
            <a:avLst/>
          </a:prstGeom>
          <a:noFill/>
          <a:ln w="12700">
            <a:solidFill>
              <a:srgbClr val="D9DDE4"/>
            </a:solidFill>
            <a:prstDash val="solid"/>
          </a:ln>
        </p:spPr>
      </p:sp>
      <p:sp>
        <p:nvSpPr>
          <p:cNvPr id="29" name="Text 27"/>
          <p:cNvSpPr txBox="1"/>
          <p:nvPr/>
        </p:nvSpPr>
        <p:spPr>
          <a:xfrm>
            <a:off x="4842459" y="1600200"/>
            <a:ext cx="1426464" cy="292608"/>
          </a:xfrm>
          <a:prstGeom prst="rect">
            <a:avLst/>
          </a:prstGeom>
          <a:noFill/>
          <a:ln/>
        </p:spPr>
        <p:txBody>
          <a:bodyPr wrap="square" lIns="0" tIns="0" rIns="0" bIns="0" rtlCol="0" anchor="t"/>
          <a:lstStyle/>
          <a:p>
            <a:pPr algn="ctr" indent="0" marL="0">
              <a:buNone/>
            </a:pPr>
            <a:r>
              <a:rPr lang="en-US" sz="1400" b="1" dirty="0">
                <a:solidFill>
                  <a:schemeClr val="accent1"/>
                </a:solidFill>
              </a:rPr>
              <a:t>1994</a:t>
            </a:r>
            <a:endParaRPr lang="en-US" sz="1400" dirty="0"/>
          </a:p>
        </p:txBody>
      </p:sp>
      <p:sp>
        <p:nvSpPr>
          <p:cNvPr id="30" name="Text 28"/>
          <p:cNvSpPr txBox="1"/>
          <p:nvPr/>
        </p:nvSpPr>
        <p:spPr>
          <a:xfrm>
            <a:off x="4842459"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Okapi BM25</a:t>
            </a:r>
            <a:endParaRPr lang="en-US" sz="1400" dirty="0"/>
          </a:p>
        </p:txBody>
      </p:sp>
      <p:sp>
        <p:nvSpPr>
          <p:cNvPr id="31" name="Text 29"/>
          <p:cNvSpPr txBox="1"/>
          <p:nvPr/>
        </p:nvSpPr>
        <p:spPr>
          <a:xfrm>
            <a:off x="4842459"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Robertson et al., TREC-3</a:t>
            </a:r>
            <a:endParaRPr lang="en-US" sz="1200" dirty="0"/>
          </a:p>
        </p:txBody>
      </p:sp>
      <p:sp>
        <p:nvSpPr>
          <p:cNvPr id="32" name="Milestone"/>
          <p:cNvSpPr/>
          <p:nvPr/>
        </p:nvSpPr>
        <p:spPr>
          <a:xfrm>
            <a:off x="6535420" y="3557016"/>
            <a:ext cx="201168" cy="201168"/>
          </a:xfrm>
          <a:prstGeom prst="ellipse">
            <a:avLst/>
          </a:prstGeom>
          <a:solidFill>
            <a:schemeClr val="tx1"/>
          </a:solidFill>
          <a:ln w="25400">
            <a:solidFill>
              <a:schemeClr val="bg1"/>
            </a:solidFill>
            <a:prstDash val="solid"/>
          </a:ln>
        </p:spPr>
      </p:sp>
      <p:sp>
        <p:nvSpPr>
          <p:cNvPr id="33" name="Tick"/>
          <p:cNvSpPr/>
          <p:nvPr/>
        </p:nvSpPr>
        <p:spPr>
          <a:xfrm>
            <a:off x="6636004" y="3767328"/>
            <a:ext cx="0" cy="201168"/>
          </a:xfrm>
          <a:prstGeom prst="line">
            <a:avLst/>
          </a:prstGeom>
          <a:noFill/>
          <a:ln w="12700">
            <a:solidFill>
              <a:srgbClr val="D9DDE4"/>
            </a:solidFill>
            <a:prstDash val="solid"/>
          </a:ln>
        </p:spPr>
      </p:sp>
      <p:sp>
        <p:nvSpPr>
          <p:cNvPr id="34" name="Text 32"/>
          <p:cNvSpPr txBox="1"/>
          <p:nvPr/>
        </p:nvSpPr>
        <p:spPr>
          <a:xfrm>
            <a:off x="5922772" y="3977640"/>
            <a:ext cx="1426464" cy="292608"/>
          </a:xfrm>
          <a:prstGeom prst="rect">
            <a:avLst/>
          </a:prstGeom>
          <a:noFill/>
          <a:ln/>
        </p:spPr>
        <p:txBody>
          <a:bodyPr wrap="square" lIns="0" tIns="0" rIns="0" bIns="0" rtlCol="0" anchor="t"/>
          <a:lstStyle/>
          <a:p>
            <a:pPr algn="ctr" indent="0" marL="0">
              <a:buNone/>
            </a:pPr>
            <a:r>
              <a:rPr lang="en-US" sz="1400" b="1" dirty="0">
                <a:solidFill>
                  <a:schemeClr val="tx1"/>
                </a:solidFill>
              </a:rPr>
              <a:t>1998</a:t>
            </a:r>
            <a:endParaRPr lang="en-US" sz="1400" dirty="0"/>
          </a:p>
        </p:txBody>
      </p:sp>
      <p:sp>
        <p:nvSpPr>
          <p:cNvPr id="35" name="Text 33"/>
          <p:cNvSpPr txBox="1"/>
          <p:nvPr/>
        </p:nvSpPr>
        <p:spPr>
          <a:xfrm>
            <a:off x="5922772"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Query likelihood</a:t>
            </a:r>
            <a:endParaRPr lang="en-US" sz="1400" dirty="0"/>
          </a:p>
        </p:txBody>
      </p:sp>
      <p:sp>
        <p:nvSpPr>
          <p:cNvPr id="36" name="Text 34"/>
          <p:cNvSpPr txBox="1"/>
          <p:nvPr/>
        </p:nvSpPr>
        <p:spPr>
          <a:xfrm>
            <a:off x="5922772"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Ponte &amp; Croft: language models</a:t>
            </a:r>
            <a:endParaRPr lang="en-US" sz="1200" dirty="0"/>
          </a:p>
        </p:txBody>
      </p:sp>
      <p:sp>
        <p:nvSpPr>
          <p:cNvPr id="37" name="Milestone"/>
          <p:cNvSpPr/>
          <p:nvPr/>
        </p:nvSpPr>
        <p:spPr>
          <a:xfrm>
            <a:off x="7615733" y="3557016"/>
            <a:ext cx="201168" cy="201168"/>
          </a:xfrm>
          <a:prstGeom prst="ellipse">
            <a:avLst/>
          </a:prstGeom>
          <a:solidFill>
            <a:schemeClr val="accent6"/>
          </a:solidFill>
          <a:ln w="25400">
            <a:solidFill>
              <a:schemeClr val="bg1"/>
            </a:solidFill>
            <a:prstDash val="solid"/>
          </a:ln>
        </p:spPr>
      </p:sp>
      <p:sp>
        <p:nvSpPr>
          <p:cNvPr id="38" name="Tick"/>
          <p:cNvSpPr/>
          <p:nvPr/>
        </p:nvSpPr>
        <p:spPr>
          <a:xfrm>
            <a:off x="7716317" y="3246120"/>
            <a:ext cx="0" cy="301752"/>
          </a:xfrm>
          <a:prstGeom prst="line">
            <a:avLst/>
          </a:prstGeom>
          <a:noFill/>
          <a:ln w="12700">
            <a:solidFill>
              <a:srgbClr val="D9DDE4"/>
            </a:solidFill>
            <a:prstDash val="solid"/>
          </a:ln>
        </p:spPr>
      </p:sp>
      <p:sp>
        <p:nvSpPr>
          <p:cNvPr id="39" name="Text 37"/>
          <p:cNvSpPr txBox="1"/>
          <p:nvPr/>
        </p:nvSpPr>
        <p:spPr>
          <a:xfrm>
            <a:off x="7003085" y="160020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2019</a:t>
            </a:r>
            <a:endParaRPr lang="en-US" sz="1400" dirty="0"/>
          </a:p>
        </p:txBody>
      </p:sp>
      <p:sp>
        <p:nvSpPr>
          <p:cNvPr id="40" name="Text 38"/>
          <p:cNvSpPr txBox="1"/>
          <p:nvPr/>
        </p:nvSpPr>
        <p:spPr>
          <a:xfrm>
            <a:off x="7003085"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BERT re-rankers</a:t>
            </a:r>
            <a:endParaRPr lang="en-US" sz="1400" dirty="0"/>
          </a:p>
        </p:txBody>
      </p:sp>
      <p:sp>
        <p:nvSpPr>
          <p:cNvPr id="41" name="Text 39"/>
          <p:cNvSpPr txBox="1"/>
          <p:nvPr/>
        </p:nvSpPr>
        <p:spPr>
          <a:xfrm>
            <a:off x="7003085"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monoBERT re-scores top hits</a:t>
            </a:r>
            <a:endParaRPr lang="en-US" sz="1200" dirty="0"/>
          </a:p>
        </p:txBody>
      </p:sp>
      <p:sp>
        <p:nvSpPr>
          <p:cNvPr id="42" name="Milestone"/>
          <p:cNvSpPr/>
          <p:nvPr/>
        </p:nvSpPr>
        <p:spPr>
          <a:xfrm>
            <a:off x="8696046" y="3557016"/>
            <a:ext cx="201168" cy="201168"/>
          </a:xfrm>
          <a:prstGeom prst="ellipse">
            <a:avLst/>
          </a:prstGeom>
          <a:solidFill>
            <a:schemeClr val="accent6"/>
          </a:solidFill>
          <a:ln w="25400">
            <a:solidFill>
              <a:schemeClr val="bg1"/>
            </a:solidFill>
            <a:prstDash val="solid"/>
          </a:ln>
        </p:spPr>
      </p:sp>
      <p:sp>
        <p:nvSpPr>
          <p:cNvPr id="43" name="Tick"/>
          <p:cNvSpPr/>
          <p:nvPr/>
        </p:nvSpPr>
        <p:spPr>
          <a:xfrm>
            <a:off x="8796630" y="3767328"/>
            <a:ext cx="0" cy="201168"/>
          </a:xfrm>
          <a:prstGeom prst="line">
            <a:avLst/>
          </a:prstGeom>
          <a:noFill/>
          <a:ln w="12700">
            <a:solidFill>
              <a:srgbClr val="D9DDE4"/>
            </a:solidFill>
            <a:prstDash val="solid"/>
          </a:ln>
        </p:spPr>
      </p:sp>
      <p:sp>
        <p:nvSpPr>
          <p:cNvPr id="44" name="Text 42"/>
          <p:cNvSpPr txBox="1"/>
          <p:nvPr/>
        </p:nvSpPr>
        <p:spPr>
          <a:xfrm>
            <a:off x="8083398" y="397764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2020</a:t>
            </a:r>
            <a:endParaRPr lang="en-US" sz="1400" dirty="0"/>
          </a:p>
        </p:txBody>
      </p:sp>
      <p:sp>
        <p:nvSpPr>
          <p:cNvPr id="45" name="Text 43"/>
          <p:cNvSpPr txBox="1"/>
          <p:nvPr/>
        </p:nvSpPr>
        <p:spPr>
          <a:xfrm>
            <a:off x="8083398"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Dense retrieval</a:t>
            </a:r>
            <a:endParaRPr lang="en-US" sz="1400" dirty="0"/>
          </a:p>
        </p:txBody>
      </p:sp>
      <p:sp>
        <p:nvSpPr>
          <p:cNvPr id="46" name="Text 44"/>
          <p:cNvSpPr txBox="1"/>
          <p:nvPr/>
        </p:nvSpPr>
        <p:spPr>
          <a:xfrm>
            <a:off x="8083398"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DPR, ColBERT embeddings</a:t>
            </a:r>
            <a:endParaRPr lang="en-US" sz="1200" dirty="0"/>
          </a:p>
        </p:txBody>
      </p:sp>
      <p:sp>
        <p:nvSpPr>
          <p:cNvPr id="47" name="Milestone"/>
          <p:cNvSpPr/>
          <p:nvPr/>
        </p:nvSpPr>
        <p:spPr>
          <a:xfrm>
            <a:off x="9776358" y="3557016"/>
            <a:ext cx="201168" cy="201168"/>
          </a:xfrm>
          <a:prstGeom prst="ellipse">
            <a:avLst/>
          </a:prstGeom>
          <a:solidFill>
            <a:schemeClr val="accent6"/>
          </a:solidFill>
          <a:ln w="25400">
            <a:solidFill>
              <a:schemeClr val="bg1"/>
            </a:solidFill>
            <a:prstDash val="solid"/>
          </a:ln>
        </p:spPr>
      </p:sp>
      <p:sp>
        <p:nvSpPr>
          <p:cNvPr id="48" name="Tick"/>
          <p:cNvSpPr/>
          <p:nvPr/>
        </p:nvSpPr>
        <p:spPr>
          <a:xfrm>
            <a:off x="9876942" y="3246120"/>
            <a:ext cx="0" cy="301752"/>
          </a:xfrm>
          <a:prstGeom prst="line">
            <a:avLst/>
          </a:prstGeom>
          <a:noFill/>
          <a:ln w="12700">
            <a:solidFill>
              <a:srgbClr val="D9DDE4"/>
            </a:solidFill>
            <a:prstDash val="solid"/>
          </a:ln>
        </p:spPr>
      </p:sp>
      <p:sp>
        <p:nvSpPr>
          <p:cNvPr id="49" name="Text 47"/>
          <p:cNvSpPr txBox="1"/>
          <p:nvPr/>
        </p:nvSpPr>
        <p:spPr>
          <a:xfrm>
            <a:off x="9163710" y="160020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2021</a:t>
            </a:r>
            <a:endParaRPr lang="en-US" sz="1400" dirty="0"/>
          </a:p>
        </p:txBody>
      </p:sp>
      <p:sp>
        <p:nvSpPr>
          <p:cNvPr id="50" name="Text 48"/>
          <p:cNvSpPr txBox="1"/>
          <p:nvPr/>
        </p:nvSpPr>
        <p:spPr>
          <a:xfrm>
            <a:off x="9163710" y="192024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Learned sparse</a:t>
            </a:r>
            <a:endParaRPr lang="en-US" sz="1400" dirty="0"/>
          </a:p>
        </p:txBody>
      </p:sp>
      <p:sp>
        <p:nvSpPr>
          <p:cNvPr id="51" name="Text 49"/>
          <p:cNvSpPr txBox="1"/>
          <p:nvPr/>
        </p:nvSpPr>
        <p:spPr>
          <a:xfrm>
            <a:off x="9163710" y="244144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SPLADE: BERT-weighted terms</a:t>
            </a:r>
            <a:endParaRPr lang="en-US" sz="1200" dirty="0"/>
          </a:p>
        </p:txBody>
      </p:sp>
      <p:sp>
        <p:nvSpPr>
          <p:cNvPr id="52" name="Milestone"/>
          <p:cNvSpPr/>
          <p:nvPr/>
        </p:nvSpPr>
        <p:spPr>
          <a:xfrm>
            <a:off x="10856671" y="3557016"/>
            <a:ext cx="201168" cy="201168"/>
          </a:xfrm>
          <a:prstGeom prst="ellipse">
            <a:avLst/>
          </a:prstGeom>
          <a:solidFill>
            <a:schemeClr val="accent6"/>
          </a:solidFill>
          <a:ln w="25400">
            <a:solidFill>
              <a:schemeClr val="bg1"/>
            </a:solidFill>
            <a:prstDash val="solid"/>
          </a:ln>
        </p:spPr>
      </p:sp>
      <p:sp>
        <p:nvSpPr>
          <p:cNvPr id="53" name="Tick"/>
          <p:cNvSpPr/>
          <p:nvPr/>
        </p:nvSpPr>
        <p:spPr>
          <a:xfrm>
            <a:off x="10957255" y="3767328"/>
            <a:ext cx="0" cy="201168"/>
          </a:xfrm>
          <a:prstGeom prst="line">
            <a:avLst/>
          </a:prstGeom>
          <a:noFill/>
          <a:ln w="12700">
            <a:solidFill>
              <a:srgbClr val="D9DDE4"/>
            </a:solidFill>
            <a:prstDash val="solid"/>
          </a:ln>
        </p:spPr>
      </p:sp>
      <p:sp>
        <p:nvSpPr>
          <p:cNvPr id="54" name="Text 52"/>
          <p:cNvSpPr txBox="1"/>
          <p:nvPr/>
        </p:nvSpPr>
        <p:spPr>
          <a:xfrm>
            <a:off x="10244023" y="3977640"/>
            <a:ext cx="1426464" cy="292608"/>
          </a:xfrm>
          <a:prstGeom prst="rect">
            <a:avLst/>
          </a:prstGeom>
          <a:noFill/>
          <a:ln/>
        </p:spPr>
        <p:txBody>
          <a:bodyPr wrap="square" lIns="0" tIns="0" rIns="0" bIns="0" rtlCol="0" anchor="t"/>
          <a:lstStyle/>
          <a:p>
            <a:pPr algn="ctr" indent="0" marL="0">
              <a:buNone/>
            </a:pPr>
            <a:r>
              <a:rPr lang="en-US" sz="1400" b="1" dirty="0">
                <a:solidFill>
                  <a:schemeClr val="accent6"/>
                </a:solidFill>
              </a:rPr>
              <a:t>2023+</a:t>
            </a:r>
            <a:endParaRPr lang="en-US" sz="1400" dirty="0"/>
          </a:p>
        </p:txBody>
      </p:sp>
      <p:sp>
        <p:nvSpPr>
          <p:cNvPr id="55" name="Text 53"/>
          <p:cNvSpPr txBox="1"/>
          <p:nvPr/>
        </p:nvSpPr>
        <p:spPr>
          <a:xfrm>
            <a:off x="10244023" y="4297680"/>
            <a:ext cx="1426464" cy="502920"/>
          </a:xfrm>
          <a:prstGeom prst="rect">
            <a:avLst/>
          </a:prstGeom>
          <a:noFill/>
          <a:ln/>
        </p:spPr>
        <p:txBody>
          <a:bodyPr wrap="square" lIns="0" tIns="0" rIns="0" bIns="0" rtlCol="0" anchor="t"/>
          <a:lstStyle/>
          <a:p>
            <a:pPr algn="ctr" indent="0" marL="0">
              <a:buNone/>
            </a:pPr>
            <a:r>
              <a:rPr lang="en-US" sz="1400" b="1" dirty="0">
                <a:solidFill>
                  <a:schemeClr val="tx1"/>
                </a:solidFill>
              </a:rPr>
              <a:t>Hybrid + RAG</a:t>
            </a:r>
            <a:endParaRPr lang="en-US" sz="1400" dirty="0"/>
          </a:p>
        </p:txBody>
      </p:sp>
      <p:sp>
        <p:nvSpPr>
          <p:cNvPr id="56" name="Text 54"/>
          <p:cNvSpPr txBox="1"/>
          <p:nvPr/>
        </p:nvSpPr>
        <p:spPr>
          <a:xfrm>
            <a:off x="10244023" y="4818888"/>
            <a:ext cx="1426464" cy="777240"/>
          </a:xfrm>
          <a:prstGeom prst="rect">
            <a:avLst/>
          </a:prstGeom>
          <a:noFill/>
          <a:ln/>
        </p:spPr>
        <p:txBody>
          <a:bodyPr wrap="square" lIns="0" tIns="0" rIns="0" bIns="0" rtlCol="0" anchor="t"/>
          <a:lstStyle/>
          <a:p>
            <a:pPr algn="ctr" indent="0" marL="0">
              <a:buNone/>
            </a:pPr>
            <a:r>
              <a:rPr lang="en-US" sz="1200" dirty="0">
                <a:solidFill>
                  <a:schemeClr val="tx2"/>
                </a:solidFill>
              </a:rPr>
              <a:t>BM25 + embeddings feed LLMs</a:t>
            </a:r>
            <a:endParaRPr lang="en-US" sz="1200" dirty="0"/>
          </a:p>
        </p:txBody>
      </p:sp>
      <p:sp>
        <p:nvSpPr>
          <p:cNvPr id="57" name="Text 55"/>
          <p:cNvSpPr txBox="1"/>
          <p:nvPr/>
        </p:nvSpPr>
        <p:spPr>
          <a:xfrm>
            <a:off x="548640" y="5897880"/>
            <a:ext cx="11094415" cy="320040"/>
          </a:xfrm>
          <a:prstGeom prst="rect">
            <a:avLst/>
          </a:prstGeom>
          <a:noFill/>
          <a:ln/>
        </p:spPr>
        <p:txBody>
          <a:bodyPr wrap="square" lIns="0" tIns="0" rIns="0" bIns="0" rtlCol="0" anchor="t"/>
          <a:lstStyle/>
          <a:p>
            <a:pPr algn="ctr" indent="0" marL="0">
              <a:buNone/>
            </a:pPr>
            <a:r>
              <a:rPr lang="en-US" sz="1300" dirty="0">
                <a:solidFill>
                  <a:schemeClr val="tx1"/>
                </a:solidFill>
              </a:rPr>
              <a:t>● </a:t>
            </a:r>
            <a:pPr algn="ctr" indent="0" marL="0">
              <a:buNone/>
            </a:pPr>
            <a:r>
              <a:rPr lang="en-US" sz="1300" dirty="0">
                <a:solidFill>
                  <a:schemeClr val="tx2"/>
                </a:solidFill>
              </a:rPr>
              <a:t>Lexical / statistical: no training data, CPU only     </a:t>
            </a:r>
            <a:pPr algn="ctr" indent="0" marL="0">
              <a:buNone/>
            </a:pPr>
            <a:r>
              <a:rPr lang="en-US" sz="1300" dirty="0">
                <a:solidFill>
                  <a:schemeClr val="accent6"/>
                </a:solidFill>
              </a:rPr>
              <a:t>● </a:t>
            </a:r>
            <a:pPr algn="ctr" indent="0" marL="0">
              <a:buNone/>
            </a:pPr>
            <a:r>
              <a:rPr lang="en-US" sz="1300" dirty="0">
                <a:solidFill>
                  <a:schemeClr val="tx2"/>
                </a:solidFill>
              </a:rPr>
              <a:t>Neural: learns meaning from labelled data, usually needs GPUs</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TWO ALGORITHMS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TF-IDF vs BM25: same idea, two fixes</a:t>
            </a:r>
            <a:endParaRPr lang="en-US" sz="3200" dirty="0"/>
          </a:p>
        </p:txBody>
      </p:sp>
      <p:sp>
        <p:nvSpPr>
          <p:cNvPr id="4" name="TF-IDF card"/>
          <p:cNvSpPr/>
          <p:nvPr/>
        </p:nvSpPr>
        <p:spPr>
          <a:xfrm>
            <a:off x="548640" y="1554480"/>
            <a:ext cx="5410048" cy="4572000"/>
          </a:xfrm>
          <a:prstGeom prst="roundRect">
            <a:avLst>
              <a:gd name="adj" fmla="val 1600"/>
            </a:avLst>
          </a:prstGeom>
          <a:solidFill>
            <a:srgbClr val="E3ECF6"/>
          </a:solidFill>
          <a:ln/>
        </p:spPr>
      </p:sp>
      <p:sp>
        <p:nvSpPr>
          <p:cNvPr id="5" name="Text 3"/>
          <p:cNvSpPr txBox="1"/>
          <p:nvPr/>
        </p:nvSpPr>
        <p:spPr>
          <a:xfrm>
            <a:off x="822960" y="1719072"/>
            <a:ext cx="4861408" cy="411480"/>
          </a:xfrm>
          <a:prstGeom prst="rect">
            <a:avLst/>
          </a:prstGeom>
          <a:noFill/>
          <a:ln/>
        </p:spPr>
        <p:txBody>
          <a:bodyPr wrap="square" lIns="0" tIns="0" rIns="0" bIns="0" rtlCol="0" anchor="t"/>
          <a:lstStyle/>
          <a:p>
            <a:pPr algn="l" indent="0" marL="0">
              <a:buNone/>
            </a:pPr>
            <a:r>
              <a:rPr lang="en-US" sz="2000" b="1" dirty="0">
                <a:solidFill>
                  <a:schemeClr val="accent2"/>
                </a:solidFill>
              </a:rPr>
              <a:t>TF-IDF + cosine similarity</a:t>
            </a:r>
            <a:endParaRPr lang="en-US" sz="2000" dirty="0"/>
          </a:p>
        </p:txBody>
      </p:sp>
      <p:sp>
        <p:nvSpPr>
          <p:cNvPr id="6" name="Text 4"/>
          <p:cNvSpPr txBox="1"/>
          <p:nvPr/>
        </p:nvSpPr>
        <p:spPr>
          <a:xfrm>
            <a:off x="822960" y="2240280"/>
            <a:ext cx="4861408" cy="365760"/>
          </a:xfrm>
          <a:prstGeom prst="rect">
            <a:avLst/>
          </a:prstGeom>
          <a:noFill/>
          <a:ln/>
        </p:spPr>
        <p:txBody>
          <a:bodyPr wrap="square" lIns="0" tIns="0" rIns="0" bIns="0" rtlCol="0" anchor="t"/>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weight = tf × ln((1 + N) / (1 + df)) + 1</a:t>
            </a:r>
            <a:endParaRPr lang="en-US" sz="1400" dirty="0"/>
          </a:p>
        </p:txBody>
      </p:sp>
      <p:sp>
        <p:nvSpPr>
          <p:cNvPr id="7" name="Text 5"/>
          <p:cNvSpPr txBox="1"/>
          <p:nvPr/>
        </p:nvSpPr>
        <p:spPr>
          <a:xfrm>
            <a:off x="822960" y="2606040"/>
            <a:ext cx="4861408" cy="365760"/>
          </a:xfrm>
          <a:prstGeom prst="rect">
            <a:avLst/>
          </a:prstGeom>
          <a:noFill/>
          <a:ln/>
        </p:spPr>
        <p:txBody>
          <a:bodyPr wrap="square" lIns="0" tIns="0" rIns="0" bIns="0" rtlCol="0" anchor="t"/>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score  = cos(q, e) = q · e / (|q| |e|)</a:t>
            </a:r>
            <a:endParaRPr lang="en-US" sz="1400" dirty="0"/>
          </a:p>
        </p:txBody>
      </p:sp>
      <p:sp>
        <p:nvSpPr>
          <p:cNvPr id="8" name="Text 6"/>
          <p:cNvSpPr txBox="1"/>
          <p:nvPr/>
        </p:nvSpPr>
        <p:spPr>
          <a:xfrm>
            <a:off x="822960" y="3108960"/>
            <a:ext cx="4861408" cy="822960"/>
          </a:xfrm>
          <a:prstGeom prst="rect">
            <a:avLst/>
          </a:prstGeom>
          <a:noFill/>
          <a:ln/>
        </p:spPr>
        <p:txBody>
          <a:bodyPr wrap="square" lIns="0" tIns="0" rIns="0" bIns="0" rtlCol="0" anchor="t"/>
          <a:lstStyle/>
          <a:p>
            <a:pPr algn="l" indent="0" marL="0">
              <a:buNone/>
            </a:pPr>
            <a:r>
              <a:rPr lang="en-US" sz="1400" dirty="0">
                <a:solidFill>
                  <a:schemeClr val="tx2"/>
                </a:solidFill>
              </a:rPr>
              <a:t>Frequent in this email × rare across all emails. Scores every email with one sparse matrix multiplication (scikit-learn).</a:t>
            </a:r>
            <a:endParaRPr lang="en-US" sz="1400" dirty="0"/>
          </a:p>
        </p:txBody>
      </p:sp>
      <p:sp>
        <p:nvSpPr>
          <p:cNvPr id="9" name="Weakness"/>
          <p:cNvSpPr/>
          <p:nvPr/>
        </p:nvSpPr>
        <p:spPr>
          <a:xfrm>
            <a:off x="822960" y="4069080"/>
            <a:ext cx="4861408" cy="1828800"/>
          </a:xfrm>
          <a:prstGeom prst="roundRect">
            <a:avLst>
              <a:gd name="adj" fmla="val 4000"/>
            </a:avLst>
          </a:prstGeom>
          <a:solidFill>
            <a:schemeClr val="bg1"/>
          </a:solidFill>
          <a:ln/>
        </p:spPr>
      </p:sp>
      <p:sp>
        <p:nvSpPr>
          <p:cNvPr id="10" name="Text 8"/>
          <p:cNvSpPr txBox="1"/>
          <p:nvPr/>
        </p:nvSpPr>
        <p:spPr>
          <a:xfrm>
            <a:off x="1051560" y="4206240"/>
            <a:ext cx="449564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TWO WEAKNESSES</a:t>
            </a:r>
            <a:endParaRPr lang="en-US" sz="1100" dirty="0"/>
          </a:p>
        </p:txBody>
      </p:sp>
      <p:sp>
        <p:nvSpPr>
          <p:cNvPr id="11" name="Text 9"/>
          <p:cNvSpPr txBox="1"/>
          <p:nvPr/>
        </p:nvSpPr>
        <p:spPr>
          <a:xfrm>
            <a:off x="1051560" y="4526280"/>
            <a:ext cx="4404208" cy="1325880"/>
          </a:xfrm>
          <a:prstGeom prst="rect">
            <a:avLst/>
          </a:prstGeom>
          <a:noFill/>
          <a:ln/>
        </p:spPr>
        <p:txBody>
          <a:bodyPr wrap="square" lIns="0" tIns="0" rIns="0" bIns="0" rtlCol="0" anchor="t"/>
          <a:lstStyle/>
          <a:p>
            <a:pPr algn="l" indent="0" marL="0">
              <a:spcAft>
                <a:spcPts val="800"/>
              </a:spcAft>
              <a:buNone/>
            </a:pPr>
            <a:r>
              <a:rPr lang="en-US" sz="1400" b="1" dirty="0">
                <a:solidFill>
                  <a:schemeClr val="accent4"/>
                </a:solidFill>
              </a:rPr>
              <a:t>No saturation: </a:t>
            </a:r>
            <a:pPr algn="l" indent="0" marL="0">
              <a:spcAft>
                <a:spcPts val="800"/>
              </a:spcAft>
              <a:buNone/>
            </a:pPr>
            <a:r>
              <a:rPr lang="en-US" sz="1400" dirty="0">
                <a:solidFill>
                  <a:schemeClr val="tx1"/>
                </a:solidFill>
              </a:rPr>
              <a:t>50 repeats = 50× the weight</a:t>
            </a:r>
            <a:endParaRPr lang="en-US" sz="1400" dirty="0"/>
          </a:p>
          <a:p>
            <a:pPr algn="l" indent="0" marL="0">
              <a:spcAft>
                <a:spcPts val="800"/>
              </a:spcAft>
              <a:buNone/>
            </a:pPr>
            <a:r>
              <a:rPr lang="en-US" sz="1400" b="1" dirty="0">
                <a:solidFill>
                  <a:schemeClr val="accent4"/>
                </a:solidFill>
              </a:rPr>
              <a:t>Length bias: </a:t>
            </a:r>
            <a:pPr algn="l" indent="0" marL="0">
              <a:spcAft>
                <a:spcPts val="800"/>
              </a:spcAft>
              <a:buNone/>
            </a:pPr>
            <a:r>
              <a:rPr lang="en-US" sz="1400" dirty="0">
                <a:solidFill>
                  <a:schemeClr val="tx1"/>
                </a:solidFill>
              </a:rPr>
              <a:t>dividing by the email’s own length makes 4-word replies look like perfect matches</a:t>
            </a:r>
            <a:endParaRPr lang="en-US" sz="1400" dirty="0"/>
          </a:p>
        </p:txBody>
      </p:sp>
      <p:sp>
        <p:nvSpPr>
          <p:cNvPr id="12" name="BM25 card"/>
          <p:cNvSpPr/>
          <p:nvPr/>
        </p:nvSpPr>
        <p:spPr>
          <a:xfrm>
            <a:off x="6233008" y="1554480"/>
            <a:ext cx="5410048" cy="4572000"/>
          </a:xfrm>
          <a:prstGeom prst="roundRect">
            <a:avLst>
              <a:gd name="adj" fmla="val 1600"/>
            </a:avLst>
          </a:prstGeom>
          <a:solidFill>
            <a:srgbClr val="FBE9DC"/>
          </a:solidFill>
          <a:ln/>
        </p:spPr>
      </p:sp>
      <p:sp>
        <p:nvSpPr>
          <p:cNvPr id="13" name="Text 11"/>
          <p:cNvSpPr txBox="1"/>
          <p:nvPr/>
        </p:nvSpPr>
        <p:spPr>
          <a:xfrm>
            <a:off x="6507328" y="1719072"/>
            <a:ext cx="4861408" cy="411480"/>
          </a:xfrm>
          <a:prstGeom prst="rect">
            <a:avLst/>
          </a:prstGeom>
          <a:noFill/>
          <a:ln/>
        </p:spPr>
        <p:txBody>
          <a:bodyPr wrap="square" lIns="0" tIns="0" rIns="0" bIns="0" rtlCol="0" anchor="t"/>
          <a:lstStyle/>
          <a:p>
            <a:pPr algn="l" indent="0" marL="0">
              <a:buNone/>
            </a:pPr>
            <a:r>
              <a:rPr lang="en-US" sz="2000" b="1" dirty="0">
                <a:solidFill>
                  <a:schemeClr val="accent1"/>
                </a:solidFill>
              </a:rPr>
              <a:t>Okapi BM25 (hand-written, ~15 lines)</a:t>
            </a:r>
            <a:endParaRPr lang="en-US" sz="2000" dirty="0"/>
          </a:p>
        </p:txBody>
      </p:sp>
      <p:sp>
        <p:nvSpPr>
          <p:cNvPr id="14" name="Text 12"/>
          <p:cNvSpPr txBox="1"/>
          <p:nvPr/>
        </p:nvSpPr>
        <p:spPr>
          <a:xfrm>
            <a:off x="6507328" y="2240280"/>
            <a:ext cx="4861408" cy="731520"/>
          </a:xfrm>
          <a:prstGeom prst="rect">
            <a:avLst/>
          </a:prstGeom>
          <a:noFill/>
          <a:ln/>
        </p:spPr>
        <p:txBody>
          <a:bodyPr wrap="square" lIns="0" tIns="0" rIns="0" bIns="0" rtlCol="0" anchor="t"/>
          <a:lstStyle/>
          <a:p>
            <a:pPr algn="l" indent="0" marL="0">
              <a:buNone/>
            </a:pPr>
            <a:r>
              <a:rPr lang="en-US" sz="1400" b="1" dirty="0">
                <a:solidFill>
                  <a:schemeClr val="tx1"/>
                </a:solidFill>
                <a:latin typeface="Courier New" pitchFamily="34" charset="0"/>
                <a:ea typeface="Courier New" pitchFamily="34" charset="-122"/>
                <a:cs typeface="Courier New" pitchFamily="34" charset="-120"/>
              </a:rPr>
              <a:t>Σ IDF(w) · tf·(k1+1) / (tf + k1·(1 − b + b·len/avg))</a:t>
            </a:r>
            <a:endParaRPr lang="en-US" sz="1400" dirty="0"/>
          </a:p>
        </p:txBody>
      </p:sp>
      <p:sp>
        <p:nvSpPr>
          <p:cNvPr id="15" name="Text 13"/>
          <p:cNvSpPr txBox="1"/>
          <p:nvPr/>
        </p:nvSpPr>
        <p:spPr>
          <a:xfrm>
            <a:off x="6507328" y="3108960"/>
            <a:ext cx="4861408" cy="822960"/>
          </a:xfrm>
          <a:prstGeom prst="rect">
            <a:avLst/>
          </a:prstGeom>
          <a:noFill/>
          <a:ln/>
        </p:spPr>
        <p:txBody>
          <a:bodyPr wrap="square" lIns="0" tIns="0" rIns="0" bIns="0" rtlCol="0" anchor="t"/>
          <a:lstStyle/>
          <a:p>
            <a:pPr algn="l" indent="0" marL="0">
              <a:buNone/>
            </a:pPr>
            <a:r>
              <a:rPr lang="en-US" sz="1400" dirty="0">
                <a:solidFill>
                  <a:schemeClr val="tx2"/>
                </a:solidFill>
              </a:rPr>
              <a:t>Same rarity idea, but scores only emails in the inverted index for the query words. Default in Lucene, Elasticsearch, Solr.</a:t>
            </a:r>
            <a:endParaRPr lang="en-US" sz="1400" dirty="0"/>
          </a:p>
        </p:txBody>
      </p:sp>
      <p:sp>
        <p:nvSpPr>
          <p:cNvPr id="16" name="Fixes"/>
          <p:cNvSpPr/>
          <p:nvPr/>
        </p:nvSpPr>
        <p:spPr>
          <a:xfrm>
            <a:off x="6507328" y="4069080"/>
            <a:ext cx="4861408" cy="1828800"/>
          </a:xfrm>
          <a:prstGeom prst="roundRect">
            <a:avLst>
              <a:gd name="adj" fmla="val 4000"/>
            </a:avLst>
          </a:prstGeom>
          <a:solidFill>
            <a:schemeClr val="bg1"/>
          </a:solidFill>
          <a:ln/>
        </p:spPr>
      </p:sp>
      <p:sp>
        <p:nvSpPr>
          <p:cNvPr id="17" name="Text 15"/>
          <p:cNvSpPr txBox="1"/>
          <p:nvPr/>
        </p:nvSpPr>
        <p:spPr>
          <a:xfrm>
            <a:off x="6735928" y="4206240"/>
            <a:ext cx="4495648" cy="256032"/>
          </a:xfrm>
          <a:prstGeom prst="rect">
            <a:avLst/>
          </a:prstGeom>
          <a:noFill/>
          <a:ln/>
        </p:spPr>
        <p:txBody>
          <a:bodyPr wrap="square" lIns="0" tIns="0" rIns="0" bIns="0" rtlCol="0" anchor="t"/>
          <a:lstStyle/>
          <a:p>
            <a:pPr algn="l" indent="0" marL="0">
              <a:buNone/>
            </a:pPr>
            <a:r>
              <a:rPr lang="en-US" sz="1100" b="1" spc="150" kern="0" dirty="0">
                <a:solidFill>
                  <a:schemeClr val="accent1"/>
                </a:solidFill>
              </a:rPr>
              <a:t>THE TWO FIXES</a:t>
            </a:r>
            <a:endParaRPr lang="en-US" sz="1100" dirty="0"/>
          </a:p>
        </p:txBody>
      </p:sp>
      <p:sp>
        <p:nvSpPr>
          <p:cNvPr id="18" name="Text 16"/>
          <p:cNvSpPr txBox="1"/>
          <p:nvPr/>
        </p:nvSpPr>
        <p:spPr>
          <a:xfrm>
            <a:off x="6735928" y="4526280"/>
            <a:ext cx="4404208" cy="1325880"/>
          </a:xfrm>
          <a:prstGeom prst="rect">
            <a:avLst/>
          </a:prstGeom>
          <a:noFill/>
          <a:ln/>
        </p:spPr>
        <p:txBody>
          <a:bodyPr wrap="square" lIns="0" tIns="0" rIns="0" bIns="0" rtlCol="0" anchor="t"/>
          <a:lstStyle/>
          <a:p>
            <a:pPr algn="l" indent="0" marL="0">
              <a:spcAft>
                <a:spcPts val="800"/>
              </a:spcAft>
              <a:buNone/>
            </a:pPr>
            <a:r>
              <a:rPr lang="en-US" sz="1400" b="1" dirty="0">
                <a:solidFill>
                  <a:schemeClr val="accent3"/>
                </a:solidFill>
              </a:rPr>
              <a:t>k1 = 1.5 saturation: </a:t>
            </a:r>
            <a:pPr algn="l" indent="0" marL="0">
              <a:spcAft>
                <a:spcPts val="800"/>
              </a:spcAft>
              <a:buNone/>
            </a:pPr>
            <a:r>
              <a:rPr lang="en-US" sz="1400" dirty="0">
                <a:solidFill>
                  <a:schemeClr val="tx1"/>
                </a:solidFill>
              </a:rPr>
              <a:t>50 repeats = only 2.4× the weight</a:t>
            </a:r>
            <a:endParaRPr lang="en-US" sz="1400" dirty="0"/>
          </a:p>
          <a:p>
            <a:pPr algn="l" indent="0" marL="0">
              <a:spcAft>
                <a:spcPts val="800"/>
              </a:spcAft>
              <a:buNone/>
            </a:pPr>
            <a:r>
              <a:rPr lang="en-US" sz="1400" b="1" dirty="0">
                <a:solidFill>
                  <a:schemeClr val="accent3"/>
                </a:solidFill>
              </a:rPr>
              <a:t>b = 0.75 length vs average: </a:t>
            </a:r>
            <a:pPr algn="l" indent="0" marL="0">
              <a:spcAft>
                <a:spcPts val="800"/>
              </a:spcAft>
              <a:buNone/>
            </a:pPr>
            <a:r>
              <a:rPr lang="en-US" sz="1400" dirty="0">
                <a:solidFill>
                  <a:schemeClr val="tx1"/>
                </a:solidFill>
              </a:rPr>
              <a:t>long emails partly penalised, not crushed</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THE FIXES, IN NUMBERS · python compare.py</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Repeating a word stops paying off</a:t>
            </a:r>
            <a:endParaRPr lang="en-US" sz="3200" dirty="0"/>
          </a:p>
        </p:txBody>
      </p:sp>
      <p:graphicFrame>
        <p:nvGraphicFramePr>
          <p:cNvPr id="4" name="Chart 0" descr=""/>
          <p:cNvGraphicFramePr/>
          <p:nvPr/>
        </p:nvGraphicFramePr>
        <p:xfrm>
          <a:off x="548640" y="1554480"/>
          <a:ext cx="658368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406640" y="1600200"/>
            <a:ext cx="4236415"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DEMO · QUERY “GAS PIPELINE”</a:t>
            </a:r>
            <a:endParaRPr lang="en-US" sz="1100" dirty="0"/>
          </a:p>
        </p:txBody>
      </p:sp>
      <p:sp>
        <p:nvSpPr>
          <p:cNvPr id="6" name="Text 3"/>
          <p:cNvSpPr txBox="1"/>
          <p:nvPr/>
        </p:nvSpPr>
        <p:spPr>
          <a:xfrm>
            <a:off x="7406640" y="1874520"/>
            <a:ext cx="4236415" cy="731520"/>
          </a:xfrm>
          <a:prstGeom prst="rect">
            <a:avLst/>
          </a:prstGeom>
          <a:noFill/>
          <a:ln/>
        </p:spPr>
        <p:txBody>
          <a:bodyPr wrap="square" lIns="0" tIns="0" rIns="0" bIns="0" rtlCol="0" anchor="t"/>
          <a:lstStyle/>
          <a:p>
            <a:pPr algn="l" indent="0" marL="0">
              <a:buNone/>
            </a:pPr>
            <a:r>
              <a:rPr lang="en-US" sz="1400" dirty="0">
                <a:solidFill>
                  <a:schemeClr val="tx1"/>
                </a:solidFill>
              </a:rPr>
              <a:t>Junk email “gas gas gas gas gas gas gas gas gas” vs a real 60-word email about a pipeline shutdown.</a:t>
            </a:r>
            <a:endParaRPr lang="en-US" sz="1400" dirty="0"/>
          </a:p>
        </p:txBody>
      </p:sp>
      <p:sp>
        <p:nvSpPr>
          <p:cNvPr id="7" name="TF-IDF result"/>
          <p:cNvSpPr/>
          <p:nvPr/>
        </p:nvSpPr>
        <p:spPr>
          <a:xfrm>
            <a:off x="7406640" y="2697480"/>
            <a:ext cx="4236415" cy="1508760"/>
          </a:xfrm>
          <a:prstGeom prst="roundRect">
            <a:avLst>
              <a:gd name="adj" fmla="val 4848"/>
            </a:avLst>
          </a:prstGeom>
          <a:solidFill>
            <a:srgbClr val="E3ECF6"/>
          </a:solidFill>
          <a:ln/>
        </p:spPr>
      </p:sp>
      <p:sp>
        <p:nvSpPr>
          <p:cNvPr id="8" name="Text 5"/>
          <p:cNvSpPr txBox="1"/>
          <p:nvPr/>
        </p:nvSpPr>
        <p:spPr>
          <a:xfrm>
            <a:off x="7635240" y="2807208"/>
            <a:ext cx="2743200" cy="320040"/>
          </a:xfrm>
          <a:prstGeom prst="rect">
            <a:avLst/>
          </a:prstGeom>
          <a:noFill/>
          <a:ln/>
        </p:spPr>
        <p:txBody>
          <a:bodyPr wrap="square" lIns="0" tIns="0" rIns="0" bIns="0" rtlCol="0" anchor="t"/>
          <a:lstStyle/>
          <a:p>
            <a:pPr algn="l" indent="0" marL="0">
              <a:buNone/>
            </a:pPr>
            <a:r>
              <a:rPr lang="en-US" sz="1600" b="1" dirty="0">
                <a:solidFill>
                  <a:schemeClr val="accent2"/>
                </a:solidFill>
              </a:rPr>
              <a:t>TF-IDF</a:t>
            </a:r>
            <a:endParaRPr lang="en-US" sz="1600" dirty="0"/>
          </a:p>
        </p:txBody>
      </p:sp>
      <p:sp>
        <p:nvSpPr>
          <p:cNvPr id="9" name="Text 6"/>
          <p:cNvSpPr txBox="1"/>
          <p:nvPr/>
        </p:nvSpPr>
        <p:spPr>
          <a:xfrm>
            <a:off x="7635240" y="3200400"/>
            <a:ext cx="3779215" cy="914400"/>
          </a:xfrm>
          <a:prstGeom prst="rect">
            <a:avLst/>
          </a:prstGeom>
          <a:noFill/>
          <a:ln/>
        </p:spPr>
        <p:txBody>
          <a:bodyPr wrap="square" lIns="0" tIns="0" rIns="0" bIns="0" rtlCol="0" anchor="t"/>
          <a:lstStyle/>
          <a:p>
            <a:pPr algn="l" indent="0" marL="0">
              <a:spcAft>
                <a:spcPts val="600"/>
              </a:spcAft>
              <a:buNone/>
            </a:pPr>
            <a:r>
              <a:rPr lang="en-US" sz="1400" b="1" dirty="0">
                <a:solidFill>
                  <a:schemeClr val="accent4"/>
                </a:solidFill>
              </a:rPr>
              <a:t>1. Re: gas  0.556  ← junk wins</a:t>
            </a:r>
            <a:endParaRPr lang="en-US" sz="1400" dirty="0"/>
          </a:p>
          <a:p>
            <a:pPr algn="l" indent="0" marL="0">
              <a:spcAft>
                <a:spcPts val="600"/>
              </a:spcAft>
              <a:buNone/>
            </a:pPr>
            <a:r>
              <a:rPr lang="en-US" sz="1400" dirty="0">
                <a:solidFill>
                  <a:schemeClr val="tx1"/>
                </a:solidFill>
              </a:rPr>
              <a:t>2. Pipeline shutdown  0.365</a:t>
            </a:r>
            <a:endParaRPr lang="en-US" sz="1400" dirty="0"/>
          </a:p>
        </p:txBody>
      </p:sp>
      <p:sp>
        <p:nvSpPr>
          <p:cNvPr id="10" name="BM25 result"/>
          <p:cNvSpPr/>
          <p:nvPr/>
        </p:nvSpPr>
        <p:spPr>
          <a:xfrm>
            <a:off x="7406640" y="4389120"/>
            <a:ext cx="4236415" cy="1508760"/>
          </a:xfrm>
          <a:prstGeom prst="roundRect">
            <a:avLst>
              <a:gd name="adj" fmla="val 4848"/>
            </a:avLst>
          </a:prstGeom>
          <a:solidFill>
            <a:srgbClr val="FBE9DC"/>
          </a:solidFill>
          <a:ln/>
        </p:spPr>
      </p:sp>
      <p:sp>
        <p:nvSpPr>
          <p:cNvPr id="11" name="Text 8"/>
          <p:cNvSpPr txBox="1"/>
          <p:nvPr/>
        </p:nvSpPr>
        <p:spPr>
          <a:xfrm>
            <a:off x="7635240" y="4498848"/>
            <a:ext cx="2743200" cy="320040"/>
          </a:xfrm>
          <a:prstGeom prst="rect">
            <a:avLst/>
          </a:prstGeom>
          <a:noFill/>
          <a:ln/>
        </p:spPr>
        <p:txBody>
          <a:bodyPr wrap="square" lIns="0" tIns="0" rIns="0" bIns="0" rtlCol="0" anchor="t"/>
          <a:lstStyle/>
          <a:p>
            <a:pPr algn="l" indent="0" marL="0">
              <a:buNone/>
            </a:pPr>
            <a:r>
              <a:rPr lang="en-US" sz="1600" b="1" dirty="0">
                <a:solidFill>
                  <a:schemeClr val="accent1"/>
                </a:solidFill>
              </a:rPr>
              <a:t>BM25</a:t>
            </a:r>
            <a:endParaRPr lang="en-US" sz="1600" dirty="0"/>
          </a:p>
        </p:txBody>
      </p:sp>
      <p:sp>
        <p:nvSpPr>
          <p:cNvPr id="12" name="Text 9"/>
          <p:cNvSpPr txBox="1"/>
          <p:nvPr/>
        </p:nvSpPr>
        <p:spPr>
          <a:xfrm>
            <a:off x="7635240" y="4892040"/>
            <a:ext cx="3779215" cy="914400"/>
          </a:xfrm>
          <a:prstGeom prst="rect">
            <a:avLst/>
          </a:prstGeom>
          <a:noFill/>
          <a:ln/>
        </p:spPr>
        <p:txBody>
          <a:bodyPr wrap="square" lIns="0" tIns="0" rIns="0" bIns="0" rtlCol="0" anchor="t"/>
          <a:lstStyle/>
          <a:p>
            <a:pPr algn="l" indent="0" marL="0">
              <a:spcAft>
                <a:spcPts val="600"/>
              </a:spcAft>
              <a:buNone/>
            </a:pPr>
            <a:r>
              <a:rPr lang="en-US" sz="1400" b="1" dirty="0">
                <a:solidFill>
                  <a:schemeClr val="accent3"/>
                </a:solidFill>
              </a:rPr>
              <a:t>1. Pipeline shutdown  1.593  ← correct</a:t>
            </a:r>
            <a:endParaRPr lang="en-US" sz="1400" dirty="0"/>
          </a:p>
          <a:p>
            <a:pPr algn="l" indent="0" marL="0">
              <a:spcAft>
                <a:spcPts val="600"/>
              </a:spcAft>
              <a:buNone/>
            </a:pPr>
            <a:r>
              <a:rPr lang="en-US" sz="1400" dirty="0">
                <a:solidFill>
                  <a:schemeClr val="tx1"/>
                </a:solidFill>
              </a:rPr>
              <a:t>2. Re: gas  1.184</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OUR BENCHMARK · CRANFIELD: 1,400 DOCS, 225 QUERIES, HUMAN LABELS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On labelled data, BM25 is the best keyword ranker</a:t>
            </a:r>
            <a:endParaRPr lang="en-US" sz="3200" dirty="0"/>
          </a:p>
        </p:txBody>
      </p:sp>
      <p:graphicFrame>
        <p:nvGraphicFramePr>
          <p:cNvPr id="4" name="Chart 0" descr=""/>
          <p:cNvGraphicFramePr/>
          <p:nvPr/>
        </p:nvGraphicFramePr>
        <p:xfrm>
          <a:off x="548640" y="1508760"/>
          <a:ext cx="6675120" cy="4617720"/>
        </p:xfrm>
        <a:graphic xmlns:a="http://schemas.openxmlformats.org/drawingml/2006/main">
          <a:graphicData uri="http://schemas.openxmlformats.org/drawingml/2006/chart">
            <c:chart xmlns:c="http://schemas.openxmlformats.org/drawingml/2006/chart" r:id="rId1"/>
          </a:graphicData>
        </a:graphic>
      </p:graphicFrame>
      <p:sp>
        <p:nvSpPr>
          <p:cNvPr id="5" name="KPI"/>
          <p:cNvSpPr/>
          <p:nvPr/>
        </p:nvSpPr>
        <p:spPr>
          <a:xfrm>
            <a:off x="7498080" y="1600200"/>
            <a:ext cx="4144975" cy="1371600"/>
          </a:xfrm>
          <a:prstGeom prst="roundRect">
            <a:avLst>
              <a:gd name="adj" fmla="val 5333"/>
            </a:avLst>
          </a:prstGeom>
          <a:solidFill>
            <a:schemeClr val="tx1"/>
          </a:solidFill>
          <a:ln/>
        </p:spPr>
      </p:sp>
      <p:sp>
        <p:nvSpPr>
          <p:cNvPr id="6" name="Text 3"/>
          <p:cNvSpPr txBox="1"/>
          <p:nvPr/>
        </p:nvSpPr>
        <p:spPr>
          <a:xfrm>
            <a:off x="7726680" y="1709928"/>
            <a:ext cx="3687775" cy="502920"/>
          </a:xfrm>
          <a:prstGeom prst="rect">
            <a:avLst/>
          </a:prstGeom>
          <a:noFill/>
          <a:ln/>
        </p:spPr>
        <p:txBody>
          <a:bodyPr wrap="square" lIns="0" tIns="0" rIns="0" bIns="0" rtlCol="0" anchor="t"/>
          <a:lstStyle/>
          <a:p>
            <a:pPr algn="l" indent="0" marL="0">
              <a:buNone/>
            </a:pPr>
            <a:r>
              <a:rPr lang="en-US" sz="2600" b="1" dirty="0">
                <a:solidFill>
                  <a:schemeClr val="accent1"/>
                </a:solidFill>
              </a:rPr>
              <a:t>+4.1%</a:t>
            </a:r>
            <a:endParaRPr lang="en-US" sz="2600" dirty="0"/>
          </a:p>
        </p:txBody>
      </p:sp>
      <p:sp>
        <p:nvSpPr>
          <p:cNvPr id="7" name="Text 4"/>
          <p:cNvSpPr txBox="1"/>
          <p:nvPr/>
        </p:nvSpPr>
        <p:spPr>
          <a:xfrm>
            <a:off x="7726680" y="2221992"/>
            <a:ext cx="3733495" cy="731520"/>
          </a:xfrm>
          <a:prstGeom prst="rect">
            <a:avLst/>
          </a:prstGeom>
          <a:noFill/>
          <a:ln/>
        </p:spPr>
        <p:txBody>
          <a:bodyPr wrap="square" lIns="0" tIns="0" rIns="0" bIns="0" rtlCol="0" anchor="t"/>
          <a:lstStyle/>
          <a:p>
            <a:pPr algn="l" indent="0" marL="0">
              <a:buNone/>
            </a:pPr>
            <a:r>
              <a:rPr lang="en-US" sz="1200" dirty="0">
                <a:solidFill>
                  <a:schemeClr val="bg1"/>
                </a:solidFill>
              </a:rPr>
              <a:t>nDCG@10 for BM25 over TF-IDF (0.363 vs 0.349); better on P@10, MAP and MRR too</a:t>
            </a:r>
            <a:endParaRPr lang="en-US" sz="1200" dirty="0"/>
          </a:p>
        </p:txBody>
      </p:sp>
      <p:sp>
        <p:nvSpPr>
          <p:cNvPr id="8" name="KPI"/>
          <p:cNvSpPr/>
          <p:nvPr/>
        </p:nvSpPr>
        <p:spPr>
          <a:xfrm>
            <a:off x="7498080" y="3136392"/>
            <a:ext cx="4144975" cy="1371600"/>
          </a:xfrm>
          <a:prstGeom prst="roundRect">
            <a:avLst>
              <a:gd name="adj" fmla="val 5333"/>
            </a:avLst>
          </a:prstGeom>
          <a:solidFill>
            <a:schemeClr val="bg2"/>
          </a:solidFill>
          <a:ln/>
        </p:spPr>
      </p:sp>
      <p:sp>
        <p:nvSpPr>
          <p:cNvPr id="9" name="Text 6"/>
          <p:cNvSpPr txBox="1"/>
          <p:nvPr/>
        </p:nvSpPr>
        <p:spPr>
          <a:xfrm>
            <a:off x="7726680" y="3246120"/>
            <a:ext cx="3687775" cy="502920"/>
          </a:xfrm>
          <a:prstGeom prst="rect">
            <a:avLst/>
          </a:prstGeom>
          <a:noFill/>
          <a:ln/>
        </p:spPr>
        <p:txBody>
          <a:bodyPr wrap="square" lIns="0" tIns="0" rIns="0" bIns="0" rtlCol="0" anchor="t"/>
          <a:lstStyle/>
          <a:p>
            <a:pPr algn="l" indent="0" marL="0">
              <a:buNone/>
            </a:pPr>
            <a:r>
              <a:rPr lang="en-US" sz="2600" b="1" dirty="0">
                <a:solidFill>
                  <a:schemeClr val="tx1"/>
                </a:solidFill>
              </a:rPr>
              <a:t>105 vs 77</a:t>
            </a:r>
            <a:endParaRPr lang="en-US" sz="2600" dirty="0"/>
          </a:p>
        </p:txBody>
      </p:sp>
      <p:sp>
        <p:nvSpPr>
          <p:cNvPr id="10" name="Text 7"/>
          <p:cNvSpPr txBox="1"/>
          <p:nvPr/>
        </p:nvSpPr>
        <p:spPr>
          <a:xfrm>
            <a:off x="7726680" y="3758184"/>
            <a:ext cx="3733495" cy="731520"/>
          </a:xfrm>
          <a:prstGeom prst="rect">
            <a:avLst/>
          </a:prstGeom>
          <a:noFill/>
          <a:ln/>
        </p:spPr>
        <p:txBody>
          <a:bodyPr wrap="square" lIns="0" tIns="0" rIns="0" bIns="0" rtlCol="0" anchor="t"/>
          <a:lstStyle/>
          <a:p>
            <a:pPr algn="l" indent="0" marL="0">
              <a:buNone/>
            </a:pPr>
            <a:r>
              <a:rPr lang="en-US" sz="1200" dirty="0">
                <a:solidFill>
                  <a:schemeClr val="tx2"/>
                </a:solidFill>
              </a:rPr>
              <a:t>queries won by BM25 vs TF-IDF (43 ties); paired t-test p ≈ 0.06: consistent, modest edge</a:t>
            </a:r>
            <a:endParaRPr lang="en-US" sz="1200" dirty="0"/>
          </a:p>
        </p:txBody>
      </p:sp>
      <p:sp>
        <p:nvSpPr>
          <p:cNvPr id="11" name="KPI"/>
          <p:cNvSpPr/>
          <p:nvPr/>
        </p:nvSpPr>
        <p:spPr>
          <a:xfrm>
            <a:off x="7498080" y="4672584"/>
            <a:ext cx="4144975" cy="1371600"/>
          </a:xfrm>
          <a:prstGeom prst="roundRect">
            <a:avLst>
              <a:gd name="adj" fmla="val 5333"/>
            </a:avLst>
          </a:prstGeom>
          <a:solidFill>
            <a:schemeClr val="bg2"/>
          </a:solidFill>
          <a:ln/>
        </p:spPr>
      </p:sp>
      <p:sp>
        <p:nvSpPr>
          <p:cNvPr id="12" name="Text 9"/>
          <p:cNvSpPr txBox="1"/>
          <p:nvPr/>
        </p:nvSpPr>
        <p:spPr>
          <a:xfrm>
            <a:off x="7726680" y="4782312"/>
            <a:ext cx="3687775" cy="502920"/>
          </a:xfrm>
          <a:prstGeom prst="rect">
            <a:avLst/>
          </a:prstGeom>
          <a:noFill/>
          <a:ln/>
        </p:spPr>
        <p:txBody>
          <a:bodyPr wrap="square" lIns="0" tIns="0" rIns="0" bIns="0" rtlCol="0" anchor="t"/>
          <a:lstStyle/>
          <a:p>
            <a:pPr algn="l" indent="0" marL="0">
              <a:buNone/>
            </a:pPr>
            <a:r>
              <a:rPr lang="en-US" sz="2600" b="1" dirty="0">
                <a:solidFill>
                  <a:schemeClr val="tx1"/>
                </a:solidFill>
              </a:rPr>
              <a:t>+7.8%</a:t>
            </a:r>
            <a:endParaRPr lang="en-US" sz="2600" dirty="0"/>
          </a:p>
        </p:txBody>
      </p:sp>
      <p:sp>
        <p:nvSpPr>
          <p:cNvPr id="13" name="Text 10"/>
          <p:cNvSpPr txBox="1"/>
          <p:nvPr/>
        </p:nvSpPr>
        <p:spPr>
          <a:xfrm>
            <a:off x="7726680" y="5294376"/>
            <a:ext cx="3733495" cy="731520"/>
          </a:xfrm>
          <a:prstGeom prst="rect">
            <a:avLst/>
          </a:prstGeom>
          <a:noFill/>
          <a:ln/>
        </p:spPr>
        <p:txBody>
          <a:bodyPr wrap="square" lIns="0" tIns="0" rIns="0" bIns="0" rtlCol="0" anchor="t"/>
          <a:lstStyle/>
          <a:p>
            <a:pPr algn="l" indent="0" marL="0">
              <a:buNone/>
            </a:pPr>
            <a:r>
              <a:rPr lang="en-US" sz="1200" dirty="0">
                <a:solidFill>
                  <a:schemeClr val="tx2"/>
                </a:solidFill>
              </a:rPr>
              <a:t>from length normalisation alone (b = 0 → 0.75); defaults within 2% of the best tuning</a:t>
            </a:r>
            <a:endParaRPr lang="en-US" sz="1200" dirty="0"/>
          </a:p>
        </p:txBody>
      </p:sp>
      <p:sp>
        <p:nvSpPr>
          <p:cNvPr id="14" name="Text 11"/>
          <p:cNvSpPr txBox="1"/>
          <p:nvPr/>
        </p:nvSpPr>
        <p:spPr>
          <a:xfrm>
            <a:off x="548640" y="6172200"/>
            <a:ext cx="11094415" cy="228600"/>
          </a:xfrm>
          <a:prstGeom prst="rect">
            <a:avLst/>
          </a:prstGeom>
          <a:noFill/>
          <a:ln/>
        </p:spPr>
        <p:txBody>
          <a:bodyPr wrap="square" lIns="0" tIns="0" rIns="0" bIns="0" rtlCol="0" anchor="t"/>
          <a:lstStyle/>
          <a:p>
            <a:pPr algn="l" indent="0" marL="0">
              <a:buNone/>
            </a:pPr>
            <a:r>
              <a:rPr lang="en-US" sz="1000" i="1" dirty="0">
                <a:solidFill>
                  <a:schemeClr val="tx2"/>
                </a:solidFill>
              </a:rPr>
              <a:t>Project’s own search_tfidf() / search_bm25(), unchanged · LSA edges ahead on this tiny set but needs an SVD of 251k × 631k on Enron</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REAL DATA · ALL 251,115 ENRON EMAILS</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On real email the gap is obvious: #1 results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589520" cy="914400"/>
        </p:xfrm>
        <a:graphic>
          <a:graphicData uri="http://schemas.openxmlformats.org/drawingml/2006/table">
            <a:tbl>
              <a:tblPr/>
              <a:tblGrid>
                <a:gridCol w="1828800"/>
                <a:gridCol w="2514600"/>
                <a:gridCol w="3246120"/>
              </a:tblGrid>
              <a:tr h="530352">
                <a:tc>
                  <a:txBody>
                    <a:bodyPr/>
                    <a:lstStyle/>
                    <a:p>
                      <a:pPr indent="0" marL="0">
                        <a:buNone/>
                      </a:pPr>
                      <a:r>
                        <a:rPr lang="en-US" sz="1400" b="1" dirty="0">
                          <a:solidFill>
                            <a:schemeClr val="bg1"/>
                          </a:solidFill>
                          <a:latin typeface="+mn-lt" pitchFamily="34" charset="0"/>
                          <a:ea typeface="+mn-lt" pitchFamily="34" charset="-122"/>
                          <a:cs typeface="+mn-lt" pitchFamily="34" charset="-120"/>
                        </a:rPr>
                        <a:t>Query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TF-IDF #1</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BM25 #1</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stock options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“Options” · 9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“ENE Options” · 159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power outage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“Outage”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“Planned Power Outage at 3WTC on Sunday”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natural gas price</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“RE:”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“Where will Natural Gas prices go next?”</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sec investigation</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(no subject) · 7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“SEC investigation of stock buying”</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skilling resign</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“Skilling’s office” · 1 word</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“FW: WSJ Skilling Interview”</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530352">
                <a:tc>
                  <a:txBody>
                    <a:bodyPr/>
                    <a:lstStyle/>
                    <a:p>
                      <a:pPr indent="0" marL="0">
                        <a:buNone/>
                      </a:pPr>
                      <a:r>
                        <a:rPr lang="en-US" sz="1400" b="1" dirty="0">
                          <a:solidFill>
                            <a:schemeClr val="tx1"/>
                          </a:solidFill>
                          <a:latin typeface="+mn-lt" pitchFamily="34" charset="0"/>
                          <a:ea typeface="+mn-lt" pitchFamily="34" charset="-122"/>
                          <a:cs typeface="+mn-lt" pitchFamily="34" charset="-120"/>
                        </a:rPr>
                        <a:t>bankruptcy</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latin typeface="+mn-lt" pitchFamily="34" charset="0"/>
                          <a:ea typeface="+mn-lt" pitchFamily="34" charset="-122"/>
                          <a:cs typeface="+mn-lt" pitchFamily="34" charset="-120"/>
                        </a:rPr>
                        <a:t>(no subject) · 4 words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“Bankruptcy in California; Implications…”</a:t>
                      </a:r>
                      <a:endParaRPr lang="en-US" sz="1400" dirty="0">
                        <a:latin typeface="+mn-lt" charset="0"/>
                        <a:ea typeface="+mn-lt" charset="0"/>
                        <a:cs typeface="+mn-lt" charset="0"/>
                      </a:endParaRPr>
                    </a:p>
                  </a:txBody>
                  <a:tcPr marL="73152" marR="73152" marT="73152" marB="73152"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5" name="Enron stat"/>
          <p:cNvSpPr/>
          <p:nvPr/>
        </p:nvSpPr>
        <p:spPr>
          <a:xfrm>
            <a:off x="8412480" y="1600200"/>
            <a:ext cx="3227832" cy="1261872"/>
          </a:xfrm>
          <a:prstGeom prst="roundRect">
            <a:avLst>
              <a:gd name="adj" fmla="val 5797"/>
            </a:avLst>
          </a:prstGeom>
          <a:solidFill>
            <a:srgbClr val="E3ECF6"/>
          </a:solidFill>
          <a:ln/>
        </p:spPr>
      </p:sp>
      <p:sp>
        <p:nvSpPr>
          <p:cNvPr id="6" name="Text 3"/>
          <p:cNvSpPr txBox="1"/>
          <p:nvPr/>
        </p:nvSpPr>
        <p:spPr>
          <a:xfrm>
            <a:off x="8641080" y="1737360"/>
            <a:ext cx="2834640" cy="502920"/>
          </a:xfrm>
          <a:prstGeom prst="rect">
            <a:avLst/>
          </a:prstGeom>
          <a:noFill/>
          <a:ln/>
        </p:spPr>
        <p:txBody>
          <a:bodyPr wrap="square" lIns="0" tIns="0" rIns="0" bIns="0" rtlCol="0" anchor="t"/>
          <a:lstStyle/>
          <a:p>
            <a:pPr algn="l" indent="0" marL="0">
              <a:buNone/>
            </a:pPr>
            <a:r>
              <a:rPr lang="en-US" sz="2400" b="1" dirty="0">
                <a:solidFill>
                  <a:schemeClr val="accent2"/>
                </a:solidFill>
              </a:rPr>
              <a:t>1–10 words</a:t>
            </a:r>
            <a:endParaRPr lang="en-US" sz="2400" dirty="0"/>
          </a:p>
        </p:txBody>
      </p:sp>
      <p:sp>
        <p:nvSpPr>
          <p:cNvPr id="7" name="Text 4"/>
          <p:cNvSpPr txBox="1"/>
          <p:nvPr/>
        </p:nvSpPr>
        <p:spPr>
          <a:xfrm>
            <a:off x="8641080" y="2258568"/>
            <a:ext cx="2834640" cy="548640"/>
          </a:xfrm>
          <a:prstGeom prst="rect">
            <a:avLst/>
          </a:prstGeom>
          <a:noFill/>
          <a:ln/>
        </p:spPr>
        <p:txBody>
          <a:bodyPr wrap="square" lIns="0" tIns="0" rIns="0" bIns="0" rtlCol="0" anchor="t"/>
          <a:lstStyle/>
          <a:p>
            <a:pPr algn="l" indent="0" marL="0">
              <a:buNone/>
            </a:pPr>
            <a:r>
              <a:rPr lang="en-US" sz="1300" dirty="0">
                <a:solidFill>
                  <a:schemeClr val="tx2"/>
                </a:solidFill>
              </a:rPr>
              <a:t>typical length of TF-IDF’s top hits</a:t>
            </a:r>
            <a:endParaRPr lang="en-US" sz="1300" dirty="0"/>
          </a:p>
        </p:txBody>
      </p:sp>
      <p:sp>
        <p:nvSpPr>
          <p:cNvPr id="8" name="Enron stat"/>
          <p:cNvSpPr/>
          <p:nvPr/>
        </p:nvSpPr>
        <p:spPr>
          <a:xfrm>
            <a:off x="8412480" y="3017520"/>
            <a:ext cx="3227832" cy="1261872"/>
          </a:xfrm>
          <a:prstGeom prst="roundRect">
            <a:avLst>
              <a:gd name="adj" fmla="val 5797"/>
            </a:avLst>
          </a:prstGeom>
          <a:solidFill>
            <a:srgbClr val="FBE9DC"/>
          </a:solidFill>
          <a:ln/>
        </p:spPr>
      </p:sp>
      <p:sp>
        <p:nvSpPr>
          <p:cNvPr id="9" name="Text 6"/>
          <p:cNvSpPr txBox="1"/>
          <p:nvPr/>
        </p:nvSpPr>
        <p:spPr>
          <a:xfrm>
            <a:off x="8641080" y="3154680"/>
            <a:ext cx="2834640" cy="502920"/>
          </a:xfrm>
          <a:prstGeom prst="rect">
            <a:avLst/>
          </a:prstGeom>
          <a:noFill/>
          <a:ln/>
        </p:spPr>
        <p:txBody>
          <a:bodyPr wrap="square" lIns="0" tIns="0" rIns="0" bIns="0" rtlCol="0" anchor="t"/>
          <a:lstStyle/>
          <a:p>
            <a:pPr algn="l" indent="0" marL="0">
              <a:buNone/>
            </a:pPr>
            <a:r>
              <a:rPr lang="en-US" sz="2400" b="1" dirty="0">
                <a:solidFill>
                  <a:schemeClr val="accent1"/>
                </a:solidFill>
              </a:rPr>
              <a:t>100–600 words</a:t>
            </a:r>
            <a:endParaRPr lang="en-US" sz="2400" dirty="0"/>
          </a:p>
        </p:txBody>
      </p:sp>
      <p:sp>
        <p:nvSpPr>
          <p:cNvPr id="10" name="Text 7"/>
          <p:cNvSpPr txBox="1"/>
          <p:nvPr/>
        </p:nvSpPr>
        <p:spPr>
          <a:xfrm>
            <a:off x="8641080" y="3675888"/>
            <a:ext cx="2834640" cy="548640"/>
          </a:xfrm>
          <a:prstGeom prst="rect">
            <a:avLst/>
          </a:prstGeom>
          <a:noFill/>
          <a:ln/>
        </p:spPr>
        <p:txBody>
          <a:bodyPr wrap="square" lIns="0" tIns="0" rIns="0" bIns="0" rtlCol="0" anchor="t"/>
          <a:lstStyle/>
          <a:p>
            <a:pPr algn="l" indent="0" marL="0">
              <a:buNone/>
            </a:pPr>
            <a:r>
              <a:rPr lang="en-US" sz="1300" dirty="0">
                <a:solidFill>
                  <a:schemeClr val="tx2"/>
                </a:solidFill>
              </a:rPr>
              <a:t>BM25’s top hits, and on topic</a:t>
            </a:r>
            <a:endParaRPr lang="en-US" sz="1300" dirty="0"/>
          </a:p>
        </p:txBody>
      </p:sp>
      <p:sp>
        <p:nvSpPr>
          <p:cNvPr id="11" name="Enron stat"/>
          <p:cNvSpPr/>
          <p:nvPr/>
        </p:nvSpPr>
        <p:spPr>
          <a:xfrm>
            <a:off x="8412480" y="4434840"/>
            <a:ext cx="3227832" cy="1261872"/>
          </a:xfrm>
          <a:prstGeom prst="roundRect">
            <a:avLst>
              <a:gd name="adj" fmla="val 5797"/>
            </a:avLst>
          </a:prstGeom>
          <a:solidFill>
            <a:schemeClr val="tx1"/>
          </a:solidFill>
          <a:ln/>
        </p:spPr>
      </p:sp>
      <p:sp>
        <p:nvSpPr>
          <p:cNvPr id="12" name="Text 9"/>
          <p:cNvSpPr txBox="1"/>
          <p:nvPr/>
        </p:nvSpPr>
        <p:spPr>
          <a:xfrm>
            <a:off x="8641080" y="4572000"/>
            <a:ext cx="2834640" cy="502920"/>
          </a:xfrm>
          <a:prstGeom prst="rect">
            <a:avLst/>
          </a:prstGeom>
          <a:noFill/>
          <a:ln/>
        </p:spPr>
        <p:txBody>
          <a:bodyPr wrap="square" lIns="0" tIns="0" rIns="0" bIns="0" rtlCol="0" anchor="t"/>
          <a:lstStyle/>
          <a:p>
            <a:pPr algn="l" indent="0" marL="0">
              <a:buNone/>
            </a:pPr>
            <a:r>
              <a:rPr lang="en-US" sz="2400" b="1" dirty="0">
                <a:solidFill>
                  <a:schemeClr val="accent1"/>
                </a:solidFill>
              </a:rPr>
              <a:t>0.04 s → 0.005 s</a:t>
            </a:r>
            <a:endParaRPr lang="en-US" sz="2400" dirty="0"/>
          </a:p>
        </p:txBody>
      </p:sp>
      <p:sp>
        <p:nvSpPr>
          <p:cNvPr id="13" name="Text 10"/>
          <p:cNvSpPr txBox="1"/>
          <p:nvPr/>
        </p:nvSpPr>
        <p:spPr>
          <a:xfrm>
            <a:off x="8641080" y="5093208"/>
            <a:ext cx="2834640" cy="548640"/>
          </a:xfrm>
          <a:prstGeom prst="rect">
            <a:avLst/>
          </a:prstGeom>
          <a:noFill/>
          <a:ln/>
        </p:spPr>
        <p:txBody>
          <a:bodyPr wrap="square" lIns="0" tIns="0" rIns="0" bIns="0" rtlCol="0" anchor="t"/>
          <a:lstStyle/>
          <a:p>
            <a:pPr algn="l" indent="0" marL="0">
              <a:buNone/>
            </a:pPr>
            <a:r>
              <a:rPr lang="en-US" sz="1300" dirty="0">
                <a:solidFill>
                  <a:schemeClr val="bg1"/>
                </a:solidFill>
              </a:rPr>
              <a:t>per query: BM25 scores only emails containing the words</a:t>
            </a:r>
            <a:endParaRPr lang="en-US" sz="1300" dirty="0"/>
          </a:p>
        </p:txBody>
      </p:sp>
      <p:sp>
        <p:nvSpPr>
          <p:cNvPr id="14" name="Text 11"/>
          <p:cNvSpPr txBox="1"/>
          <p:nvPr/>
        </p:nvSpPr>
        <p:spPr>
          <a:xfrm>
            <a:off x="548640" y="5852160"/>
            <a:ext cx="11094415" cy="274320"/>
          </a:xfrm>
          <a:prstGeom prst="rect">
            <a:avLst/>
          </a:prstGeom>
          <a:noFill/>
          <a:ln/>
        </p:spPr>
        <p:txBody>
          <a:bodyPr wrap="square" lIns="0" tIns="0" rIns="0" bIns="0" rtlCol="0" anchor="t"/>
          <a:lstStyle/>
          <a:p>
            <a:pPr algn="l" indent="0" marL="0">
              <a:buNone/>
            </a:pPr>
            <a:r>
              <a:rPr lang="en-US" sz="1100" i="1" dirty="0">
                <a:solidFill>
                  <a:schemeClr val="tx2"/>
                </a:solidFill>
              </a:rPr>
              <a:t>Judged by eye: Enron has no relevance labels, which is why the Cranfield benchmark exists. Live: python app.py → localhost:8000</a:t>
            </a:r>
            <a:endParaRPr lang="en-US" sz="11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PUBLISHED BENCHMARKS · BEIR (NEURIPS 2021) + MS MARCO</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Neural retrievers: rarely better zero-shot, always costlier</a:t>
            </a:r>
            <a:endParaRPr lang="en-US" sz="3200" dirty="0"/>
          </a:p>
        </p:txBody>
      </p:sp>
      <p:graphicFrame>
        <p:nvGraphicFramePr>
          <p:cNvPr id="4" name="Chart 0" descr=""/>
          <p:cNvGraphicFramePr/>
          <p:nvPr/>
        </p:nvGraphicFramePr>
        <p:xfrm>
          <a:off x="548640" y="1508760"/>
          <a:ext cx="6035040" cy="4617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903720" y="1600200"/>
            <a:ext cx="4739335" cy="256032"/>
          </a:xfrm>
          <a:prstGeom prst="rect">
            <a:avLst/>
          </a:prstGeom>
          <a:noFill/>
          <a:ln/>
        </p:spPr>
        <p:txBody>
          <a:bodyPr wrap="square" lIns="0" tIns="0" rIns="0" bIns="0" rtlCol="0" anchor="t"/>
          <a:lstStyle/>
          <a:p>
            <a:pPr algn="l" indent="0" marL="0">
              <a:buNone/>
            </a:pPr>
            <a:r>
              <a:rPr lang="en-US" sz="1100" b="1" spc="150" kern="0" dirty="0">
                <a:solidFill>
                  <a:schemeClr val="tx2"/>
                </a:solidFill>
              </a:rPr>
              <a:t>COST PER QUERY · 1M DOCS (BEIR TABLE 3)</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1920240"/>
          <a:ext cx="4739335" cy="914400"/>
        </p:xfrm>
        <a:graphic>
          <a:graphicData uri="http://schemas.openxmlformats.org/drawingml/2006/table">
            <a:tbl>
              <a:tblPr/>
              <a:tblGrid>
                <a:gridCol w="1920240"/>
                <a:gridCol w="1719072"/>
                <a:gridCol w="1097280"/>
              </a:tblGrid>
              <a:tr h="438912">
                <a:tc>
                  <a:txBody>
                    <a:bodyPr/>
                    <a:lstStyle/>
                    <a:p>
                      <a:pPr indent="0" marL="0">
                        <a:buNone/>
                      </a:pPr>
                      <a:r>
                        <a:rPr lang="en-US" sz="1400" b="1" dirty="0">
                          <a:solidFill>
                            <a:schemeClr val="bg1"/>
                          </a:solidFill>
                          <a:latin typeface="+mn-lt" pitchFamily="34" charset="0"/>
                          <a:ea typeface="+mn-lt" pitchFamily="34" charset="-122"/>
                          <a:cs typeface="+mn-lt" pitchFamily="34" charset="-120"/>
                        </a:rPr>
                        <a:t>Model</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Latency</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mn-lt" pitchFamily="34" charset="0"/>
                          <a:ea typeface="+mn-lt" pitchFamily="34" charset="-122"/>
                          <a:cs typeface="+mn-lt" pitchFamily="34" charset="-120"/>
                        </a:rPr>
                        <a:t>Index</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438912">
                <a:tc>
                  <a:txBody>
                    <a:bodyPr/>
                    <a:lstStyle/>
                    <a:p>
                      <a:pPr indent="0" marL="0">
                        <a:buNone/>
                      </a:pPr>
                      <a:r>
                        <a:rPr lang="en-US" sz="1400" b="1" dirty="0">
                          <a:solidFill>
                            <a:schemeClr val="tx1"/>
                          </a:solidFill>
                          <a:latin typeface="+mn-lt" pitchFamily="34" charset="0"/>
                          <a:ea typeface="+mn-lt" pitchFamily="34" charset="-122"/>
                          <a:cs typeface="+mn-lt" pitchFamily="34" charset="-120"/>
                        </a:rPr>
                        <a:t>BM25</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indent="0" marL="0">
                        <a:buNone/>
                      </a:pPr>
                      <a:r>
                        <a:rPr lang="en-US" sz="1400" b="1" dirty="0">
                          <a:solidFill>
                            <a:schemeClr val="accent1"/>
                          </a:solidFill>
                          <a:latin typeface="+mn-lt" pitchFamily="34" charset="0"/>
                          <a:ea typeface="+mn-lt" pitchFamily="34" charset="-122"/>
                          <a:cs typeface="+mn-lt" pitchFamily="34" charset="-120"/>
                        </a:rPr>
                        <a:t>20 ms CPU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indent="0" marL="0">
                        <a:buNone/>
                      </a:pPr>
                      <a:r>
                        <a:rPr lang="en-US" sz="1400" b="1" dirty="0">
                          <a:solidFill>
                            <a:schemeClr val="accent1"/>
                          </a:solidFill>
                          <a:latin typeface="+mn-lt" pitchFamily="34" charset="0"/>
                          <a:ea typeface="+mn-lt" pitchFamily="34" charset="-122"/>
                          <a:cs typeface="+mn-lt" pitchFamily="34" charset="-120"/>
                        </a:rPr>
                        <a:t>0.4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r>
              <a:tr h="438912">
                <a:tc>
                  <a:txBody>
                    <a:bodyPr/>
                    <a:lstStyle/>
                    <a:p>
                      <a:pPr indent="0" marL="0">
                        <a:buNone/>
                      </a:pPr>
                      <a:r>
                        <a:rPr lang="en-US" sz="1400" b="1" dirty="0">
                          <a:solidFill>
                            <a:schemeClr val="tx1"/>
                          </a:solidFill>
                          <a:latin typeface="+mn-lt" pitchFamily="34" charset="0"/>
                          <a:ea typeface="+mn-lt" pitchFamily="34" charset="-122"/>
                          <a:cs typeface="+mn-lt" pitchFamily="34" charset="-120"/>
                        </a:rPr>
                        <a:t>DPR (dense)</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230 ms CPU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3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1"/>
                          </a:solidFill>
                          <a:latin typeface="+mn-lt" pitchFamily="34" charset="0"/>
                          <a:ea typeface="+mn-lt" pitchFamily="34" charset="-122"/>
                          <a:cs typeface="+mn-lt" pitchFamily="34" charset="-120"/>
                        </a:rPr>
                        <a:t>ColBERT</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350 ms GPU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20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latin typeface="+mn-lt" pitchFamily="34" charset="0"/>
                          <a:ea typeface="+mn-lt" pitchFamily="34" charset="-122"/>
                          <a:cs typeface="+mn-lt" pitchFamily="34" charset="-120"/>
                        </a:rPr>
                        <a:t>BM25 + cross-enc.</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6.1 s CPU</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mn-lt" pitchFamily="34" charset="0"/>
                          <a:ea typeface="+mn-lt" pitchFamily="34" charset="-122"/>
                          <a:cs typeface="+mn-lt" pitchFamily="34" charset="-120"/>
                        </a:rPr>
                        <a:t>0.4 GB</a:t>
                      </a:r>
                      <a:endParaRPr lang="en-US" sz="14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7" name="Takeaway"/>
          <p:cNvSpPr/>
          <p:nvPr/>
        </p:nvSpPr>
        <p:spPr>
          <a:xfrm>
            <a:off x="6903720" y="4343400"/>
            <a:ext cx="4739335" cy="1737360"/>
          </a:xfrm>
          <a:prstGeom prst="roundRect">
            <a:avLst>
              <a:gd name="adj" fmla="val 4211"/>
            </a:avLst>
          </a:prstGeom>
          <a:solidFill>
            <a:schemeClr val="tx1"/>
          </a:solidFill>
          <a:ln/>
        </p:spPr>
      </p:sp>
      <p:sp>
        <p:nvSpPr>
          <p:cNvPr id="8" name="Text 4"/>
          <p:cNvSpPr txBox="1"/>
          <p:nvPr/>
        </p:nvSpPr>
        <p:spPr>
          <a:xfrm>
            <a:off x="7132320" y="4434840"/>
            <a:ext cx="4282135" cy="1554480"/>
          </a:xfrm>
          <a:prstGeom prst="rect">
            <a:avLst/>
          </a:prstGeom>
          <a:noFill/>
          <a:ln/>
        </p:spPr>
        <p:txBody>
          <a:bodyPr wrap="square" lIns="0" tIns="0" rIns="0" bIns="0" rtlCol="0" anchor="ctr"/>
          <a:lstStyle/>
          <a:p>
            <a:pPr algn="l" indent="0" marL="0">
              <a:buNone/>
            </a:pPr>
            <a:r>
              <a:rPr lang="en-US" sz="1300" b="1" dirty="0">
                <a:solidFill>
                  <a:schemeClr val="accent1"/>
                </a:solidFill>
              </a:rPr>
              <a:t>In-domain (MS MARCO, ~500k labels): </a:t>
            </a:r>
            <a:pPr algn="l" indent="0" marL="0">
              <a:buNone/>
            </a:pPr>
            <a:r>
              <a:rPr lang="en-US" sz="1300" dirty="0">
                <a:solidFill>
                  <a:schemeClr val="bg1"/>
                </a:solidFill>
              </a:rPr>
              <a:t>BM25 0.187 MRR@10 vs 0.335 dense, 0.372 BERT re-ranker. Enron has no labels, and the best systems still keep BM25 inside (hybrid, re-ranking).</a:t>
            </a:r>
            <a:endParaRPr lang="en-US" sz="1300" dirty="0"/>
          </a:p>
        </p:txBody>
      </p:sp>
      <p:sp>
        <p:nvSpPr>
          <p:cNvPr id="9" name="Text 5"/>
          <p:cNvSpPr txBox="1"/>
          <p:nvPr/>
        </p:nvSpPr>
        <p:spPr>
          <a:xfrm>
            <a:off x="548640" y="6172200"/>
            <a:ext cx="11094415" cy="228600"/>
          </a:xfrm>
          <a:prstGeom prst="rect">
            <a:avLst/>
          </a:prstGeom>
          <a:noFill/>
          <a:ln/>
        </p:spPr>
        <p:txBody>
          <a:bodyPr wrap="square" lIns="0" tIns="0" rIns="0" bIns="0" rtlCol="0" anchor="t"/>
          <a:lstStyle/>
          <a:p>
            <a:pPr algn="l" indent="0" marL="0">
              <a:buNone/>
            </a:pPr>
            <a:r>
              <a:rPr lang="en-US" sz="1000" i="1" dirty="0">
                <a:solidFill>
                  <a:schemeClr val="tx2"/>
                </a:solidFill>
              </a:rPr>
              <a:t>Sources: Thakur et al., BEIR, NeurIPS 2021; Lin et al., Pyserini, SIGIR 2021.</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chemeClr val="accent1"/>
                </a:solidFill>
              </a:rPr>
              <a:t>WHY BM25 · THE VERDICT</a:t>
            </a:r>
            <a:endParaRPr lang="en-US" sz="1200" dirty="0"/>
          </a:p>
        </p:txBody>
      </p:sp>
      <p:sp>
        <p:nvSpPr>
          <p:cNvPr id="3" name="Text 0"/>
          <p:cNvSpPr/>
          <p:nvPr>
            <p:ph idx="101" type="title" hasCustomPrompt="1"/>
          </p:nvPr>
        </p:nvSpPr>
        <p:spPr>
          <a:xfrm>
            <a:off x="548640" y="621792"/>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BM25 wins on quality, speed and cost for this project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766560" cy="914400"/>
        </p:xfrm>
        <a:graphic>
          <a:graphicData uri="http://schemas.openxmlformats.org/drawingml/2006/table">
            <a:tbl>
              <a:tblPr/>
              <a:tblGrid>
                <a:gridCol w="1783080"/>
                <a:gridCol w="822960"/>
                <a:gridCol w="960120"/>
                <a:gridCol w="1005840"/>
                <a:gridCol w="1051560"/>
                <a:gridCol w="1143000"/>
              </a:tblGrid>
              <a:tr h="457200">
                <a:tc>
                  <a:txBody>
                    <a:bodyPr/>
                    <a:lstStyle/>
                    <a:p>
                      <a:pPr algn="l" indent="0" marL="0">
                        <a:buNone/>
                      </a:pPr>
                      <a:r>
                        <a:rPr lang="en-US" sz="1300" b="1" dirty="0">
                          <a:solidFill>
                            <a:schemeClr val="bg1"/>
                          </a:solidFill>
                          <a:latin typeface="+mn-lt" pitchFamily="34" charset="0"/>
                          <a:ea typeface="+mn-lt" pitchFamily="34" charset="-122"/>
                          <a:cs typeface="+mn-lt" pitchFamily="34" charset="-120"/>
                        </a:rPr>
                        <a:t>Algorithm</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latin typeface="+mn-lt" pitchFamily="34" charset="0"/>
                          <a:ea typeface="+mn-lt" pitchFamily="34" charset="-122"/>
                          <a:cs typeface="+mn-lt" pitchFamily="34" charset="-120"/>
                        </a:rPr>
                        <a:t>Ranks</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latin typeface="+mn-lt" pitchFamily="34" charset="0"/>
                          <a:ea typeface="+mn-lt" pitchFamily="34" charset="-122"/>
                          <a:cs typeface="+mn-lt" pitchFamily="34" charset="-120"/>
                        </a:rPr>
                        <a:t>No labels</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latin typeface="+mn-lt" pitchFamily="34" charset="0"/>
                          <a:ea typeface="+mn-lt" pitchFamily="34" charset="-122"/>
                          <a:cs typeface="+mn-lt" pitchFamily="34" charset="-120"/>
                        </a:rPr>
                        <a:t>Laptop CPU</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latin typeface="+mn-lt" pitchFamily="34" charset="0"/>
                          <a:ea typeface="+mn-lt" pitchFamily="34" charset="-122"/>
                          <a:cs typeface="+mn-lt" pitchFamily="34" charset="-120"/>
                        </a:rPr>
                        <a:t>Fast at 251k</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latin typeface="+mn-lt" pitchFamily="34" charset="0"/>
                          <a:ea typeface="+mn-lt" pitchFamily="34" charset="-122"/>
                          <a:cs typeface="+mn-lt" pitchFamily="34" charset="-120"/>
                        </a:rPr>
                        <a:t>Explainable</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tx1"/>
                    </a:solidFill>
                  </a:tcPr>
                </a:tc>
              </a:tr>
              <a:tr h="457200">
                <a:tc>
                  <a:txBody>
                    <a:bodyPr/>
                    <a:lstStyle/>
                    <a:p>
                      <a:pPr indent="0" marL="0">
                        <a:buNone/>
                      </a:pPr>
                      <a:r>
                        <a:rPr lang="en-US" sz="1300" b="1" dirty="0">
                          <a:solidFill>
                            <a:schemeClr val="tx1"/>
                          </a:solidFill>
                          <a:latin typeface="+mn-lt" pitchFamily="34" charset="0"/>
                          <a:ea typeface="+mn-lt" pitchFamily="34" charset="-122"/>
                          <a:cs typeface="+mn-lt" pitchFamily="34" charset="-120"/>
                        </a:rPr>
                        <a:t>Boolean search</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latin typeface="+mn-lt" pitchFamily="34" charset="0"/>
                          <a:ea typeface="+mn-lt" pitchFamily="34" charset="-122"/>
                          <a:cs typeface="+mn-lt" pitchFamily="34" charset="-120"/>
                        </a:rPr>
                        <a:t>TF-IDF + cosine</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rgbClr val="D99A1E"/>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accent1"/>
                          </a:solidFill>
                          <a:latin typeface="+mn-lt" pitchFamily="34" charset="0"/>
                          <a:ea typeface="+mn-lt" pitchFamily="34" charset="-122"/>
                          <a:cs typeface="+mn-lt" pitchFamily="34" charset="-120"/>
                        </a:rPr>
                        <a:t>BM25</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rgbClr val="FBE9DC"/>
                    </a:solidFill>
                  </a:tcPr>
                </a:tc>
              </a:tr>
              <a:tr h="457200">
                <a:tc>
                  <a:txBody>
                    <a:bodyPr/>
                    <a:lstStyle/>
                    <a:p>
                      <a:pPr indent="0" marL="0">
                        <a:buNone/>
                      </a:pPr>
                      <a:r>
                        <a:rPr lang="en-US" sz="1300" b="1" dirty="0">
                          <a:solidFill>
                            <a:schemeClr val="tx1"/>
                          </a:solidFill>
                          <a:latin typeface="+mn-lt" pitchFamily="34" charset="0"/>
                          <a:ea typeface="+mn-lt" pitchFamily="34" charset="-122"/>
                          <a:cs typeface="+mn-lt" pitchFamily="34" charset="-120"/>
                        </a:rPr>
                        <a:t>LSA / LSI</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rgbClr val="D99A1E"/>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rgbClr val="D99A1E"/>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latin typeface="+mn-lt" pitchFamily="34" charset="0"/>
                          <a:ea typeface="+mn-lt" pitchFamily="34" charset="-122"/>
                          <a:cs typeface="+mn-lt" pitchFamily="34" charset="-120"/>
                        </a:rPr>
                        <a:t>Dense embeddings</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rgbClr val="D99A1E"/>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latin typeface="+mn-lt" pitchFamily="34" charset="0"/>
                          <a:ea typeface="+mn-lt" pitchFamily="34" charset="-122"/>
                          <a:cs typeface="+mn-lt" pitchFamily="34" charset="-120"/>
                        </a:rPr>
                        <a:t>BERT re-ranker</a:t>
                      </a:r>
                      <a:endParaRPr lang="en-US" sz="13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3"/>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4"/>
                          </a:solidFill>
                          <a:latin typeface="+mn-lt" pitchFamily="34" charset="0"/>
                          <a:ea typeface="+mn-lt" pitchFamily="34" charset="-122"/>
                          <a:cs typeface="+mn-lt" pitchFamily="34" charset="-120"/>
                        </a:rPr>
                        <a:t>✗</a:t>
                      </a:r>
                      <a:endParaRPr lang="en-US" sz="1700" dirty="0">
                        <a:latin typeface="+mn-lt" charset="0"/>
                        <a:ea typeface="+mn-lt" charset="0"/>
                        <a:cs typeface="+mn-lt" charset="0"/>
                      </a:endParaRPr>
                    </a:p>
                  </a:txBody>
                  <a:tcPr marL="54864" marR="54864" marT="54864" marB="54864" anchor="ctr">
                    <a:lnL w="9525" cap="flat" cmpd="sng" algn="ctr">
                      <a:solidFill>
                        <a:srgbClr val="D9DDE4"/>
                      </a:solidFill>
                      <a:prstDash val="solid"/>
                      <a:round/>
                      <a:headEnd type="none" w="med" len="med"/>
                      <a:tailEnd type="none" w="med" len="med"/>
                    </a:lnL>
                    <a:lnR w="9525" cap="flat" cmpd="sng" algn="ctr">
                      <a:solidFill>
                        <a:srgbClr val="D9DDE4"/>
                      </a:solidFill>
                      <a:prstDash val="solid"/>
                      <a:round/>
                      <a:headEnd type="none" w="med" len="med"/>
                      <a:tailEnd type="none" w="med" len="med"/>
                    </a:lnR>
                    <a:lnT w="9525" cap="flat" cmpd="sng" algn="ctr">
                      <a:solidFill>
                        <a:srgbClr val="D9DDE4"/>
                      </a:solidFill>
                      <a:prstDash val="solid"/>
                      <a:round/>
                      <a:headEnd type="none" w="med" len="med"/>
                      <a:tailEnd type="none" w="med" len="med"/>
                    </a:lnT>
                    <a:lnB w="9525" cap="flat" cmpd="sng" algn="ctr">
                      <a:solidFill>
                        <a:srgbClr val="D9DDE4"/>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548640" y="4983480"/>
            <a:ext cx="6766560" cy="548640"/>
          </a:xfrm>
          <a:prstGeom prst="rect">
            <a:avLst/>
          </a:prstGeom>
          <a:noFill/>
          <a:ln/>
        </p:spPr>
        <p:txBody>
          <a:bodyPr wrap="square" lIns="0" tIns="0" rIns="0" bIns="0" rtlCol="0" anchor="t"/>
          <a:lstStyle/>
          <a:p>
            <a:pPr algn="l" indent="0" marL="0">
              <a:buNone/>
            </a:pPr>
            <a:r>
              <a:rPr lang="en-US" sz="1300" i="1" dirty="0">
                <a:solidFill>
                  <a:schemeClr val="tx2"/>
                </a:solidFill>
              </a:rPr>
              <a:t>None of the keyword methods handles synonyms (“layoffs” ≠ “job cuts”). Next step: hybrid BM25 + embeddings.</a:t>
            </a:r>
            <a:endParaRPr lang="en-US" sz="1300" dirty="0"/>
          </a:p>
        </p:txBody>
      </p:sp>
      <p:sp>
        <p:nvSpPr>
          <p:cNvPr id="6" name="Verdict"/>
          <p:cNvSpPr/>
          <p:nvPr/>
        </p:nvSpPr>
        <p:spPr>
          <a:xfrm>
            <a:off x="7635240" y="1600200"/>
            <a:ext cx="4007815" cy="4526280"/>
          </a:xfrm>
          <a:prstGeom prst="roundRect">
            <a:avLst>
              <a:gd name="adj" fmla="val 1825"/>
            </a:avLst>
          </a:prstGeom>
          <a:solidFill>
            <a:schemeClr val="accent1"/>
          </a:solidFill>
          <a:ln/>
        </p:spPr>
      </p:sp>
      <p:sp>
        <p:nvSpPr>
          <p:cNvPr id="7" name="Text 4"/>
          <p:cNvSpPr txBox="1"/>
          <p:nvPr/>
        </p:nvSpPr>
        <p:spPr>
          <a:xfrm>
            <a:off x="7909560" y="1783080"/>
            <a:ext cx="3459175" cy="548640"/>
          </a:xfrm>
          <a:prstGeom prst="rect">
            <a:avLst/>
          </a:prstGeom>
          <a:noFill/>
          <a:ln/>
        </p:spPr>
        <p:txBody>
          <a:bodyPr wrap="square" lIns="0" tIns="0" rIns="0" bIns="0" rtlCol="0" anchor="t"/>
          <a:lstStyle/>
          <a:p>
            <a:pPr algn="l" indent="0" marL="0">
              <a:buNone/>
            </a:pPr>
            <a:r>
              <a:rPr lang="en-US" sz="2800" b="1" dirty="0">
                <a:solidFill>
                  <a:schemeClr val="bg1"/>
                </a:solidFill>
              </a:rPr>
              <a:t>+4.1%</a:t>
            </a:r>
            <a:endParaRPr lang="en-US" sz="2800" dirty="0"/>
          </a:p>
        </p:txBody>
      </p:sp>
      <p:sp>
        <p:nvSpPr>
          <p:cNvPr id="8" name="Text 5"/>
          <p:cNvSpPr txBox="1"/>
          <p:nvPr/>
        </p:nvSpPr>
        <p:spPr>
          <a:xfrm>
            <a:off x="7909560" y="2350008"/>
            <a:ext cx="3459175" cy="640080"/>
          </a:xfrm>
          <a:prstGeom prst="rect">
            <a:avLst/>
          </a:prstGeom>
          <a:noFill/>
          <a:ln/>
        </p:spPr>
        <p:txBody>
          <a:bodyPr wrap="square" lIns="0" tIns="0" rIns="0" bIns="0" rtlCol="0" anchor="t"/>
          <a:lstStyle/>
          <a:p>
            <a:pPr algn="l" indent="0" marL="0">
              <a:buNone/>
            </a:pPr>
            <a:r>
              <a:rPr lang="en-US" sz="1400" dirty="0">
                <a:solidFill>
                  <a:schemeClr val="tx1"/>
                </a:solidFill>
              </a:rPr>
              <a:t>nDCG@10 vs TF-IDF on human-labelled queries</a:t>
            </a:r>
            <a:endParaRPr lang="en-US" sz="1400" dirty="0"/>
          </a:p>
        </p:txBody>
      </p:sp>
      <p:sp>
        <p:nvSpPr>
          <p:cNvPr id="9" name="Text 6"/>
          <p:cNvSpPr txBox="1"/>
          <p:nvPr/>
        </p:nvSpPr>
        <p:spPr>
          <a:xfrm>
            <a:off x="7909560" y="3200400"/>
            <a:ext cx="3459175" cy="548640"/>
          </a:xfrm>
          <a:prstGeom prst="rect">
            <a:avLst/>
          </a:prstGeom>
          <a:noFill/>
          <a:ln/>
        </p:spPr>
        <p:txBody>
          <a:bodyPr wrap="square" lIns="0" tIns="0" rIns="0" bIns="0" rtlCol="0" anchor="t"/>
          <a:lstStyle/>
          <a:p>
            <a:pPr algn="l" indent="0" marL="0">
              <a:buNone/>
            </a:pPr>
            <a:r>
              <a:rPr lang="en-US" sz="2800" b="1" dirty="0">
                <a:solidFill>
                  <a:schemeClr val="bg1"/>
                </a:solidFill>
              </a:rPr>
              <a:t>8× faster</a:t>
            </a:r>
            <a:endParaRPr lang="en-US" sz="2800" dirty="0"/>
          </a:p>
        </p:txBody>
      </p:sp>
      <p:sp>
        <p:nvSpPr>
          <p:cNvPr id="10" name="Text 7"/>
          <p:cNvSpPr txBox="1"/>
          <p:nvPr/>
        </p:nvSpPr>
        <p:spPr>
          <a:xfrm>
            <a:off x="7909560" y="3767328"/>
            <a:ext cx="3459175" cy="640080"/>
          </a:xfrm>
          <a:prstGeom prst="rect">
            <a:avLst/>
          </a:prstGeom>
          <a:noFill/>
          <a:ln/>
        </p:spPr>
        <p:txBody>
          <a:bodyPr wrap="square" lIns="0" tIns="0" rIns="0" bIns="0" rtlCol="0" anchor="t"/>
          <a:lstStyle/>
          <a:p>
            <a:pPr algn="l" indent="0" marL="0">
              <a:buNone/>
            </a:pPr>
            <a:r>
              <a:rPr lang="en-US" sz="1400" dirty="0">
                <a:solidFill>
                  <a:schemeClr val="tx1"/>
                </a:solidFill>
              </a:rPr>
              <a:t>5 ms vs 40 ms per query on 251,115 emails</a:t>
            </a:r>
            <a:endParaRPr lang="en-US" sz="1400" dirty="0"/>
          </a:p>
        </p:txBody>
      </p:sp>
      <p:sp>
        <p:nvSpPr>
          <p:cNvPr id="11" name="Text 8"/>
          <p:cNvSpPr txBox="1"/>
          <p:nvPr/>
        </p:nvSpPr>
        <p:spPr>
          <a:xfrm>
            <a:off x="7909560" y="4617720"/>
            <a:ext cx="3459175" cy="548640"/>
          </a:xfrm>
          <a:prstGeom prst="rect">
            <a:avLst/>
          </a:prstGeom>
          <a:noFill/>
          <a:ln/>
        </p:spPr>
        <p:txBody>
          <a:bodyPr wrap="square" lIns="0" tIns="0" rIns="0" bIns="0" rtlCol="0" anchor="t"/>
          <a:lstStyle/>
          <a:p>
            <a:pPr algn="l" indent="0" marL="0">
              <a:buNone/>
            </a:pPr>
            <a:r>
              <a:rPr lang="en-US" sz="2800" b="1" dirty="0">
                <a:solidFill>
                  <a:schemeClr val="bg1"/>
                </a:solidFill>
              </a:rPr>
              <a:t>0 labels, 0 GPUs</a:t>
            </a:r>
            <a:endParaRPr lang="en-US" sz="2800" dirty="0"/>
          </a:p>
        </p:txBody>
      </p:sp>
      <p:sp>
        <p:nvSpPr>
          <p:cNvPr id="12" name="Text 9"/>
          <p:cNvSpPr txBox="1"/>
          <p:nvPr/>
        </p:nvSpPr>
        <p:spPr>
          <a:xfrm>
            <a:off x="7909560" y="5184648"/>
            <a:ext cx="3459175" cy="640080"/>
          </a:xfrm>
          <a:prstGeom prst="rect">
            <a:avLst/>
          </a:prstGeom>
          <a:noFill/>
          <a:ln/>
        </p:spPr>
        <p:txBody>
          <a:bodyPr wrap="square" lIns="0" tIns="0" rIns="0" bIns="0" rtlCol="0" anchor="t"/>
          <a:lstStyle/>
          <a:p>
            <a:pPr algn="l" indent="0" marL="0">
              <a:buNone/>
            </a:pPr>
            <a:r>
              <a:rPr lang="en-US" sz="1400" dirty="0">
                <a:solidFill>
                  <a:schemeClr val="tx1"/>
                </a:solidFill>
              </a:rPr>
              <a:t>robust zero-shot, explainable, ~15 lines</a:t>
            </a:r>
            <a:endParaRPr lang="en-US" sz="1400" dirty="0"/>
          </a:p>
        </p:txBody>
      </p:sp>
      <p:sp>
        <p:nvSpPr>
          <p:cNvPr id="13" name="Text 10"/>
          <p:cNvSpPr txBox="1"/>
          <p:nvPr/>
        </p:nvSpPr>
        <p:spPr>
          <a:xfrm>
            <a:off x="548640" y="5760720"/>
            <a:ext cx="6766560" cy="365760"/>
          </a:xfrm>
          <a:prstGeom prst="rect">
            <a:avLst/>
          </a:prstGeom>
          <a:noFill/>
          <a:ln/>
        </p:spPr>
        <p:txBody>
          <a:bodyPr wrap="square" lIns="0" tIns="0" rIns="0" bIns="0" rtlCol="0" anchor="t"/>
          <a:lstStyle/>
          <a:p>
            <a:pPr algn="l" indent="0" marL="0">
              <a:buNone/>
            </a:pPr>
            <a:r>
              <a:rPr lang="en-US" sz="1500" b="1" dirty="0">
                <a:solidFill>
                  <a:schemeClr val="tx1"/>
                </a:solidFill>
              </a:rPr>
              <a:t>Thank you. Questions?  ·  Live demo: python app.py → localhost:8000</a:t>
            </a:r>
            <a:endParaRPr lang="en-US" sz="15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nron Search">
  <a:themeElements>
    <a:clrScheme name="Enron Search">
      <a:dk1>
        <a:srgbClr val="14213D"/>
      </a:dk1>
      <a:lt1>
        <a:srgbClr val="FFFFFF"/>
      </a:lt1>
      <a:dk2>
        <a:srgbClr val="4A5568"/>
      </a:dk2>
      <a:lt2>
        <a:srgbClr val="F2F3F6"/>
      </a:lt2>
      <a:accent1>
        <a:srgbClr val="E07A2E"/>
      </a:accent1>
      <a:accent2>
        <a:srgbClr val="3B6EA8"/>
      </a:accent2>
      <a:accent3>
        <a:srgbClr val="2E8B57"/>
      </a:accent3>
      <a:accent4>
        <a:srgbClr val="C0392B"/>
      </a:accent4>
      <a:accent5>
        <a:srgbClr val="BFD0E6"/>
      </a:accent5>
      <a:accent6>
        <a:srgbClr val="8A94A6"/>
      </a:accent6>
      <a:hlink>
        <a:srgbClr val="3B6EA8"/>
      </a:hlink>
      <a:folHlink>
        <a:srgbClr val="4A5568"/>
      </a:folHlink>
    </a:clrScheme>
    <a:fontScheme name="Enron Sear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Enron Email Search: TF-IDF vs BM25</dc:title>
  <dc:subject>PptxGenJS Presentation</dc:subject>
  <dc:creator>Enron Email Search team</dc:creator>
  <cp:lastModifiedBy>Enron Email Search team</cp:lastModifiedBy>
  <cp:revision>1</cp:revision>
  <dcterms:created xsi:type="dcterms:W3CDTF">2026-10-25T14:03:33Z</dcterms:created>
  <dcterms:modified xsi:type="dcterms:W3CDTF">2026-10-25T14:03:33Z</dcterms:modified>
</cp:coreProperties>
</file>