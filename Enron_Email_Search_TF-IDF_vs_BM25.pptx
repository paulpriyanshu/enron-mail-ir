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bf1438-2a41-e6d3-fa06-e2381f09daa2}">
          <p14:sldIdLst>
            <p14:sldId id="256"/>
            <p14:sldId id="257"/>
          </p14:sldIdLst>
        </p14:section>
        <p14:section name="1 · The project" id="{37abc9b5-8f11-a897-e52e-f4cbea8e550f}">
          <p14:sldIdLst>
            <p14:sldId id="258"/>
            <p14:sldId id="259"/>
            <p14:sldId id="260"/>
            <p14:sldId id="261"/>
            <p14:sldId id="262"/>
            <p14:sldId id="263"/>
          </p14:sldIdLst>
        </p14:section>
        <p14:section name="2 · The algorithms" id="{bb2271e5-acbb-f609-5bf2-d496c12a97d1}">
          <p14:sldIdLst>
            <p14:sldId id="264"/>
            <p14:sldId id="265"/>
            <p14:sldId id="266"/>
            <p14:sldId id="267"/>
            <p14:sldId id="268"/>
            <p14:sldId id="269"/>
            <p14:sldId id="270"/>
            <p14:sldId id="271"/>
            <p14:sldId id="272"/>
          </p14:sldIdLst>
        </p14:section>
        <p14:section name="3 · Benchmarks" id="{0c37fb38-327f-4b62-9458-9ac1025189ed}">
          <p14:sldIdLst>
            <p14:sldId id="273"/>
            <p14:sldId id="274"/>
            <p14:sldId id="275"/>
            <p14:sldId id="276"/>
            <p14:sldId id="277"/>
            <p14:sldId id="278"/>
            <p14:sldId id="279"/>
            <p14:sldId id="280"/>
          </p14:sldIdLst>
        </p14:section>
        <p14:section name="4 · Why BM25" id="{10131d8c-fd4c-1e30-5a25-ce1d8822a7d4}">
          <p14:sldIdLst>
            <p14:sldId id="281"/>
            <p14:sldId id="282"/>
            <p14:sldId id="283"/>
            <p14:sldId id="284"/>
            <p14:sldId id="285"/>
            <p14:sldId id="286"/>
          </p14:sldIdLst>
        </p14:section>
        <p14:section name="Close" id="{26af704e-dda1-6a14-4707-cb1c8f06925c}">
          <p14:sldIdLst>
            <p14:sldId id="287"/>
          </p14:sldIdLst>
        </p14:section>
        <p14:section name="Appendix" id="{01ae5635-78c9-873c-dd81-3af22f21b5fa}">
          <p14:sldIdLst>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Weight of one word vs how often it repeats (email of average length)</a:t>
            </a:r>
          </a:p>
        </c:rich>
      </c:tx>
      <c:layout/>
      <c:overlay val="0"/>
    </c:title>
    <c:autoTitleDeleted val="0"/>
    <c:plotArea>
      <c:layout/>
      <c:lineChart>
        <c:varyColors val="0"/>
        <c:ser>
          <c:idx val="0"/>
          <c:order val="0"/>
          <c:tx>
            <c:strRef>
              <c:f>Sheet1!$B$1</c:f>
              <c:strCache>
                <c:ptCount val="1"/>
                <c:pt idx="0">
                  <c:v>TF-IDF weight (linear)</c:v>
                </c:pt>
              </c:strCache>
            </c:strRef>
          </c:tx>
          <c:spPr>
            <a:solidFill>
              <a:srgbClr val="3B6EA8"/>
            </a:solidFill>
            <a:ln w="38100" cap="flat">
              <a:solidFill>
                <a:srgbClr val="3B6EA8"/>
              </a:solidFill>
              <a:prstDash val="solid"/>
              <a:round/>
            </a:ln>
            <a:effectLst/>
          </c:spPr>
          <c:invertIfNegative val="0"/>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3B6EA8"/>
              </a:solidFill>
              <a:ln w="9525" cap="flat">
                <a:solidFill>
                  <a:srgbClr val="3B6EA8"/>
                </a:solidFill>
                <a:prstDash val="solid"/>
                <a:round/>
              </a:ln>
              <a:effectLst/>
            </c:spPr>
          </c:marker>
          <c:cat>
            <c:multiLvlStrRef>
              <c:f>Sheet1!$A$2:$A$8</c:f>
              <c:multiLvlStrCache>
                <c:ptCount val="7"/>
                <c:lvl>
                  <c:pt idx="0">
                    <c:v>1</c:v>
                  </c:pt>
                  <c:pt idx="1">
                    <c:v>2</c:v>
                  </c:pt>
                  <c:pt idx="2">
                    <c:v>3</c:v>
                  </c:pt>
                  <c:pt idx="3">
                    <c:v>5</c:v>
                  </c:pt>
                  <c:pt idx="4">
                    <c:v>10</c:v>
                  </c:pt>
                  <c:pt idx="5">
                    <c:v>20</c:v>
                  </c:pt>
                  <c:pt idx="6">
                    <c:v>50</c:v>
                  </c:pt>
                </c:lvl>
              </c:multiLvlStrCache>
            </c:multiLvlStrRef>
          </c:cat>
          <c:val>
            <c:numRef>
              <c:f>Sheet1!$B$2:$B$8</c:f>
              <c:numCache>
                <c:formatCode>General</c:formatCode>
                <c:ptCount val="7"/>
                <c:pt idx="0">
                  <c:v>1</c:v>
                </c:pt>
                <c:pt idx="1">
                  <c:v>2</c:v>
                </c:pt>
                <c:pt idx="2">
                  <c:v>3</c:v>
                </c:pt>
                <c:pt idx="3">
                  <c:v>5</c:v>
                </c:pt>
                <c:pt idx="4">
                  <c:v>10</c:v>
                </c:pt>
                <c:pt idx="5">
                  <c:v>20</c:v>
                </c:pt>
                <c:pt idx="6">
                  <c:v>50</c:v>
                </c:pt>
              </c:numCache>
            </c:numRef>
          </c:val>
          <c:smooth val="0"/>
        </c:ser>
        <c:ser>
          <c:idx val="1"/>
          <c:order val="1"/>
          <c:tx>
            <c:strRef>
              <c:f>Sheet1!$C$1</c:f>
              <c:strCache>
                <c:ptCount val="1"/>
                <c:pt idx="0">
                  <c:v>BM25 weight (k1 = 1.5)</c:v>
                </c:pt>
              </c:strCache>
            </c:strRef>
          </c:tx>
          <c:spPr>
            <a:solidFill>
              <a:srgbClr val="E07A2E"/>
            </a:solidFill>
            <a:ln w="38100" cap="flat">
              <a:solidFill>
                <a:srgbClr val="E07A2E"/>
              </a:solidFill>
              <a:prstDash val="solid"/>
              <a:round/>
            </a:ln>
            <a:effectLst/>
          </c:spPr>
          <c:invertIfNegative val="0"/>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07A2E"/>
              </a:solidFill>
              <a:ln w="9525" cap="flat">
                <a:solidFill>
                  <a:srgbClr val="E07A2E"/>
                </a:solidFill>
                <a:prstDash val="solid"/>
                <a:round/>
              </a:ln>
              <a:effectLst/>
            </c:spPr>
          </c:marker>
          <c:cat>
            <c:multiLvlStrRef>
              <c:f>Sheet1!$A$2:$A$8</c:f>
              <c:multiLvlStrCache>
                <c:ptCount val="7"/>
                <c:lvl>
                  <c:pt idx="0">
                    <c:v>1</c:v>
                  </c:pt>
                  <c:pt idx="1">
                    <c:v>2</c:v>
                  </c:pt>
                  <c:pt idx="2">
                    <c:v>3</c:v>
                  </c:pt>
                  <c:pt idx="3">
                    <c:v>5</c:v>
                  </c:pt>
                  <c:pt idx="4">
                    <c:v>10</c:v>
                  </c:pt>
                  <c:pt idx="5">
                    <c:v>20</c:v>
                  </c:pt>
                  <c:pt idx="6">
                    <c:v>50</c:v>
                  </c:pt>
                </c:lvl>
              </c:multiLvlStrCache>
            </c:multiLvlStrRef>
          </c:cat>
          <c:val>
            <c:numRef>
              <c:f>Sheet1!$C$2:$C$8</c:f>
              <c:numCache>
                <c:formatCode>General</c:formatCode>
                <c:ptCount val="7"/>
                <c:pt idx="0">
                  <c:v>1</c:v>
                </c:pt>
                <c:pt idx="1">
                  <c:v>1.43</c:v>
                </c:pt>
                <c:pt idx="2">
                  <c:v>1.67</c:v>
                </c:pt>
                <c:pt idx="3">
                  <c:v>1.92</c:v>
                </c:pt>
                <c:pt idx="4">
                  <c:v>2.17</c:v>
                </c:pt>
                <c:pt idx="5">
                  <c:v>2.33</c:v>
                </c:pt>
                <c:pt idx="6">
                  <c:v>2.43</c:v>
                </c:pt>
              </c:numCache>
            </c:numRef>
          </c:val>
          <c:smooth val="0"/>
        </c:ser>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8"/>
                    </a:solidFill>
                    <a:latin typeface="+mn-lt"/>
                  </a:defRPr>
                </a:pPr>
                <a:r>
                  <a:rPr sz="1200" b="0" i="0" u="none" strike="noStrike">
                    <a:solidFill>
                      <a:srgbClr val="4A5568"/>
                    </a:solidFill>
                    <a:latin typeface="+mn-lt"/>
                  </a:rPr>
                  <a:t>times the word appears</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2E5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nDCG@10 (higher is better)</a:t>
            </a:r>
          </a:p>
        </c:rich>
      </c:tx>
      <c:layout/>
      <c:overlay val="0"/>
    </c:title>
    <c:autoTitleDeleted val="0"/>
    <c:plotArea>
      <c:layout/>
      <c:barChart>
        <c:barDir val="bar"/>
        <c:grouping val="clustered"/>
        <c:varyColors val="0"/>
        <c:ser>
          <c:idx val="0"/>
          <c:order val="0"/>
          <c:tx>
            <c:strRef>
              <c:f>Sheet1!$B$1</c:f>
              <c:strCache>
                <c:ptCount val="1"/>
                <c:pt idx="0">
                  <c:v>nDCG@10</c:v>
                </c:pt>
              </c:strCache>
            </c:strRef>
          </c:tx>
          <c:spPr>
            <a:solidFill>
              <a:srgbClr val="B8BFCC"/>
            </a:solidFill>
            <a:effectLst/>
          </c:spPr>
          <c:invertIfNegative val="0"/>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B8BFCC"/>
              </a:solidFill>
              <a:effectLst/>
            </c:spPr>
          </c:dPt>
          <c:dPt>
            <c:idx val="1"/>
            <c:invertIfNegative val="0"/>
            <c:bubble3D val="0"/>
            <c:spPr>
              <a:solidFill>
                <a:srgbClr val="B8BFCC"/>
              </a:solidFill>
              <a:effectLst/>
            </c:spPr>
          </c:dPt>
          <c:dPt>
            <c:idx val="2"/>
            <c:invertIfNegative val="0"/>
            <c:bubble3D val="0"/>
            <c:spPr>
              <a:solidFill>
                <a:srgbClr val="B8BFCC"/>
              </a:solidFill>
              <a:effectLst/>
            </c:spPr>
          </c:dPt>
          <c:dPt>
            <c:idx val="3"/>
            <c:invertIfNegative val="0"/>
            <c:bubble3D val="0"/>
            <c:spPr>
              <a:solidFill>
                <a:srgbClr val="B8BFCC"/>
              </a:solidFill>
              <a:effectLst/>
            </c:spPr>
          </c:dPt>
          <c:dPt>
            <c:idx val="4"/>
            <c:invertIfNegative val="0"/>
            <c:bubble3D val="0"/>
            <c:spPr>
              <a:solidFill>
                <a:srgbClr val="B8BFCC"/>
              </a:solidFill>
              <a:effectLst/>
            </c:spPr>
          </c:dPt>
          <c:dPt>
            <c:idx val="5"/>
            <c:invertIfNegative val="0"/>
            <c:bubble3D val="0"/>
            <c:spPr>
              <a:solidFill>
                <a:srgbClr val="3B6EA8"/>
              </a:solidFill>
              <a:effectLst/>
            </c:spPr>
          </c:dPt>
          <c:dPt>
            <c:idx val="6"/>
            <c:invertIfNegative val="0"/>
            <c:bubble3D val="0"/>
            <c:spPr>
              <a:solidFill>
                <a:srgbClr val="B8BFCC"/>
              </a:solidFill>
              <a:effectLst/>
            </c:spPr>
          </c:dPt>
          <c:dPt>
            <c:idx val="7"/>
            <c:invertIfNegative val="0"/>
            <c:bubble3D val="0"/>
            <c:spPr>
              <a:solidFill>
                <a:srgbClr val="E07A2E"/>
              </a:solidFill>
              <a:effectLst/>
            </c:spPr>
          </c:dPt>
          <c:dPt>
            <c:idx val="8"/>
            <c:invertIfNegative val="0"/>
            <c:bubble3D val="0"/>
            <c:spPr>
              <a:solidFill>
                <a:srgbClr val="4A5568"/>
              </a:solidFill>
              <a:effectLst/>
            </c:spPr>
          </c:dPt>
          <c:cat>
            <c:multiLvlStrRef>
              <c:f>Sheet1!$A$2:$A$10</c:f>
              <c:multiLvlStrCache>
                <c:ptCount val="9"/>
                <c:lvl>
                  <c:pt idx="0">
                    <c:v>Boolean AND</c:v>
                  </c:pt>
                  <c:pt idx="1">
                    <c:v>Boolean OR</c:v>
                  </c:pt>
                  <c:pt idx="2">
                    <c:v>Raw TF (no IDF)</c:v>
                  </c:pt>
                  <c:pt idx="3">
                    <c:v>BM25L</c:v>
                  </c:pt>
                  <c:pt idx="4">
                    <c:v>Query likelihood</c:v>
                  </c:pt>
                  <c:pt idx="5">
                    <c:v>TF-IDF (ours)</c:v>
                  </c:pt>
                  <c:pt idx="6">
                    <c:v>BM25+</c:v>
                  </c:pt>
                  <c:pt idx="7">
                    <c:v>BM25 (ours)</c:v>
                  </c:pt>
                  <c:pt idx="8">
                    <c:v>LSA (200-dim SVD)</c:v>
                  </c:pt>
                </c:lvl>
              </c:multiLvlStrCache>
            </c:multiLvlStrRef>
          </c:cat>
          <c:val>
            <c:numRef>
              <c:f>Sheet1!$B$2:$B$10</c:f>
              <c:numCache>
                <c:formatCode>General</c:formatCode>
                <c:ptCount val="9"/>
                <c:pt idx="0">
                  <c:v>0.011</c:v>
                </c:pt>
                <c:pt idx="1">
                  <c:v>0.012</c:v>
                </c:pt>
                <c:pt idx="2">
                  <c:v>0.217</c:v>
                </c:pt>
                <c:pt idx="3">
                  <c:v>0.259</c:v>
                </c:pt>
                <c:pt idx="4">
                  <c:v>0.317</c:v>
                </c:pt>
                <c:pt idx="5">
                  <c:v>0.349</c:v>
                </c:pt>
                <c:pt idx="6">
                  <c:v>0.363</c:v>
                </c:pt>
                <c:pt idx="7">
                  <c:v>0.363</c:v>
                </c:pt>
                <c:pt idx="8">
                  <c:v>0.373</c:v>
                </c:pt>
              </c:numCache>
            </c:numRef>
          </c:val>
        </c:ser>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b"/>
        <c:majorGridlines>
          <c:spPr>
            <a:ln w="9525" cap="flat">
              <a:solidFill>
                <a:srgbClr val="E2E5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Which ranker did better, per query (nDCG@10)</a:t>
            </a:r>
          </a:p>
        </c:rich>
      </c:tx>
      <c:layout/>
      <c:overlay val="0"/>
    </c:title>
    <c:autoTitleDeleted val="0"/>
    <c:plotArea>
      <c:layout/>
      <c:doughnutChart>
        <c:varyColors val="1"/>
        <c:ser>
          <c:idx val="0"/>
          <c:order val="0"/>
          <c:tx>
            <c:strRef>
              <c:f>Sheet1!$B$1</c:f>
              <c:strCache>
                <c:ptCount val="1"/>
                <c:pt idx="0">
                  <c:v>Queries</c:v>
                </c:pt>
              </c:strCache>
            </c:strRef>
          </c:tx>
          <c:spPr>
            <a:solidFill>
              <a:schemeClr val="accent1"/>
            </a:solidFill>
            <a:ln w="9525" cap="flat">
              <a:solidFill>
                <a:srgbClr val="F9F9F9"/>
              </a:solidFill>
              <a:prstDash val="solid"/>
              <a:round/>
            </a:ln>
            <a:effectLst/>
          </c:spPr>
          <c:dPt>
            <c:idx val="0"/>
            <c:bubble3D val="0"/>
            <c:spPr>
              <a:solidFill>
                <a:srgbClr val="E07A2E"/>
              </a:solidFill>
              <a:effectLst/>
            </c:spPr>
          </c:dPt>
          <c:dPt>
            <c:idx val="1"/>
            <c:bubble3D val="0"/>
            <c:spPr>
              <a:solidFill>
                <a:srgbClr val="3B6EA8"/>
              </a:solidFill>
              <a:effectLst/>
            </c:spPr>
          </c:dPt>
          <c:dPt>
            <c:idx val="2"/>
            <c:bubble3D val="0"/>
            <c:spPr>
              <a:solidFill>
                <a:srgbClr val="C9CED8"/>
              </a:solidFill>
              <a:effectLst/>
            </c:spPr>
          </c:dPt>
          <c:dLbls>
            <c:dLbl>
              <c:idx val="0"/>
              <c:numFmt formatCode="General"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3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BM25 better</c:v>
                </c:pt>
                <c:pt idx="1">
                  <c:v>TF-IDF better</c:v>
                </c:pt>
                <c:pt idx="2">
                  <c:v>Tie</c:v>
                </c:pt>
              </c:strCache>
            </c:strRef>
          </c:cat>
          <c:val>
            <c:numRef>
              <c:f>Sheet1!$B$2:$B$4</c:f>
              <c:numCache>
                <c:ptCount val="3"/>
                <c:pt idx="0">
                  <c:v>105</c:v>
                </c:pt>
                <c:pt idx="1">
                  <c:v>77</c:v>
                </c:pt>
                <c:pt idx="2">
                  <c:v>43</c:v>
                </c:pt>
              </c:numCache>
            </c:numRef>
          </c:val>
        </c:ser>
        <c:firstSliceAng val="0"/>
        <c:holeSize val="55"/>
      </c:doughnutChart>
      <c:spPr>
        <a:noFill/>
        <a:ln>
          <a:noFill/>
        </a:ln>
        <a:effectLst/>
      </c:spPr>
    </c:plotArea>
    <c:legend>
      <c:legendPos val="r"/>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Average nDCG@10 vs BM25 across 18 datasets (BM25 = 0)</a:t>
            </a:r>
          </a:p>
        </c:rich>
      </c:tx>
      <c:layout/>
      <c:overlay val="0"/>
    </c:title>
    <c:autoTitleDeleted val="0"/>
    <c:plotArea>
      <c:layout/>
      <c:barChart>
        <c:barDir val="bar"/>
        <c:grouping val="clustered"/>
        <c:varyColors val="0"/>
        <c:ser>
          <c:idx val="0"/>
          <c:order val="0"/>
          <c:tx>
            <c:strRef>
              <c:f>Sheet1!$B$1</c:f>
              <c:strCache>
                <c:ptCount val="1"/>
                <c:pt idx="0">
                  <c:v>vs BM25</c:v>
                </c:pt>
              </c:strCache>
            </c:strRef>
          </c:tx>
          <c:spPr>
            <a:solidFill>
              <a:srgbClr val="9AA3B5"/>
            </a:solidFill>
            <a:effectLst/>
          </c:spPr>
          <c:invertIfNegative val="0"/>
          <c:dLbls>
            <c:numFmt formatCode="+0.0&quot;%&quot;;-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3B5"/>
              </a:solidFill>
              <a:effectLst/>
            </c:spPr>
          </c:dPt>
          <c:dPt>
            <c:idx val="1"/>
            <c:invertIfNegative val="0"/>
            <c:bubble3D val="0"/>
            <c:spPr>
              <a:solidFill>
                <a:srgbClr val="9AA3B5"/>
              </a:solidFill>
              <a:effectLst/>
            </c:spPr>
          </c:dPt>
          <c:dPt>
            <c:idx val="2"/>
            <c:invertIfNegative val="0"/>
            <c:bubble3D val="0"/>
            <c:spPr>
              <a:solidFill>
                <a:srgbClr val="9AA3B5"/>
              </a:solidFill>
              <a:effectLst/>
            </c:spPr>
          </c:dPt>
          <c:dPt>
            <c:idx val="3"/>
            <c:invertIfNegative val="0"/>
            <c:bubble3D val="0"/>
            <c:spPr>
              <a:solidFill>
                <a:srgbClr val="9AA3B5"/>
              </a:solidFill>
              <a:effectLst/>
            </c:spPr>
          </c:dPt>
          <c:dPt>
            <c:idx val="4"/>
            <c:invertIfNegative val="0"/>
            <c:bubble3D val="0"/>
            <c:spPr>
              <a:solidFill>
                <a:srgbClr val="9AA3B5"/>
              </a:solidFill>
              <a:effectLst/>
            </c:spPr>
          </c:dPt>
          <c:dPt>
            <c:idx val="5"/>
            <c:invertIfNegative val="0"/>
            <c:bubble3D val="0"/>
            <c:spPr>
              <a:solidFill>
                <a:srgbClr val="9AA3B5"/>
              </a:solidFill>
              <a:effectLst/>
            </c:spPr>
          </c:dPt>
          <c:dPt>
            <c:idx val="6"/>
            <c:invertIfNegative val="0"/>
            <c:bubble3D val="0"/>
            <c:spPr>
              <a:solidFill>
                <a:srgbClr val="E07A2E"/>
              </a:solidFill>
              <a:effectLst/>
            </c:spPr>
          </c:dPt>
          <c:dPt>
            <c:idx val="7"/>
            <c:invertIfNegative val="0"/>
            <c:bubble3D val="0"/>
            <c:spPr>
              <a:solidFill>
                <a:srgbClr val="E07A2E"/>
              </a:solidFill>
              <a:effectLst/>
            </c:spPr>
          </c:dPt>
          <c:dPt>
            <c:idx val="8"/>
            <c:invertIfNegative val="0"/>
            <c:bubble3D val="0"/>
            <c:spPr>
              <a:solidFill>
                <a:srgbClr val="E07A2E"/>
              </a:solidFill>
              <a:effectLst/>
            </c:spPr>
          </c:dPt>
          <c:cat>
            <c:multiLvlStrRef>
              <c:f>Sheet1!$A$2:$A$10</c:f>
              <c:multiLvlStrCache>
                <c:ptCount val="9"/>
                <c:lvl>
                  <c:pt idx="0">
                    <c:v>DPR (dense)</c:v>
                  </c:pt>
                  <c:pt idx="1">
                    <c:v>DeepCT (sparse)</c:v>
                  </c:pt>
                  <c:pt idx="2">
                    <c:v>SPARTA (sparse)</c:v>
                  </c:pt>
                  <c:pt idx="3">
                    <c:v>ANCE (dense)</c:v>
                  </c:pt>
                  <c:pt idx="4">
                    <c:v>GenQ (dense)</c:v>
                  </c:pt>
                  <c:pt idx="5">
                    <c:v>TAS-B (dense)</c:v>
                  </c:pt>
                  <c:pt idx="6">
                    <c:v>docT5query (expansion)</c:v>
                  </c:pt>
                  <c:pt idx="7">
                    <c:v>ColBERT (late interaction)</c:v>
                  </c:pt>
                  <c:pt idx="8">
                    <c:v>BM25 + cross-encoder</c:v>
                  </c:pt>
                </c:lvl>
              </c:multiLvlStrCache>
            </c:multiLvlStrRef>
          </c:cat>
          <c:val>
            <c:numRef>
              <c:f>Sheet1!$B$2:$B$10</c:f>
              <c:numCache>
                <c:formatCode>General</c:formatCode>
                <c:ptCount val="9"/>
                <c:pt idx="0">
                  <c:v>-47.7</c:v>
                </c:pt>
                <c:pt idx="1">
                  <c:v>-27.9</c:v>
                </c:pt>
                <c:pt idx="2">
                  <c:v>-20.3</c:v>
                </c:pt>
                <c:pt idx="3">
                  <c:v>-7.4</c:v>
                </c:pt>
                <c:pt idx="4">
                  <c:v>-3.6</c:v>
                </c:pt>
                <c:pt idx="5">
                  <c:v>-2.8</c:v>
                </c:pt>
                <c:pt idx="6">
                  <c:v>1.6</c:v>
                </c:pt>
                <c:pt idx="7">
                  <c:v>2.5</c:v>
                </c:pt>
                <c:pt idx="8">
                  <c:v>11</c:v>
                </c:pt>
              </c:numCache>
            </c:numRef>
          </c:val>
        </c:ser>
        <c:dLbls>
          <c:numFmt formatCode="+0.0&quot;%&quot;;-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20"/>
          <c:min val="-60"/>
        </c:scaling>
        <c:delete val="0"/>
        <c:axPos val="b"/>
        <c:majorGridlines>
          <c:spPr>
            <a:ln w="9525" cap="flat">
              <a:solidFill>
                <a:srgbClr val="E2E5EB"/>
              </a:solidFill>
              <a:prstDash val="solid"/>
              <a:round/>
            </a:ln>
          </c:spPr>
        </c:majorGridlines>
        <c:numFmt formatCode="+0&quot;%&quot;;-0&quot;%&quot;;0"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MS MARCO passages, MRR@10 (trained on ~500k labelled queries)</a:t>
            </a:r>
          </a:p>
        </c:rich>
      </c:tx>
      <c:layout/>
      <c:overlay val="0"/>
    </c:title>
    <c:autoTitleDeleted val="0"/>
    <c:plotArea>
      <c:layout/>
      <c:barChart>
        <c:barDir val="bar"/>
        <c:grouping val="clustered"/>
        <c:varyColors val="0"/>
        <c:ser>
          <c:idx val="0"/>
          <c:order val="0"/>
          <c:tx>
            <c:strRef>
              <c:f>Sheet1!$B$1</c:f>
              <c:strCache>
                <c:ptCount val="1"/>
                <c:pt idx="0">
                  <c:v>MRR@10</c:v>
                </c:pt>
              </c:strCache>
            </c:strRef>
          </c:tx>
          <c:spPr>
            <a:solidFill>
              <a:srgbClr val="9AA3B5"/>
            </a:solidFill>
            <a:effectLst/>
          </c:spPr>
          <c:invertIfNegative val="0"/>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3B5"/>
              </a:solidFill>
              <a:effectLst/>
            </c:spPr>
          </c:dPt>
          <c:dPt>
            <c:idx val="1"/>
            <c:invertIfNegative val="0"/>
            <c:bubble3D val="0"/>
            <c:spPr>
              <a:solidFill>
                <a:srgbClr val="14213D"/>
              </a:solidFill>
              <a:effectLst/>
            </c:spPr>
          </c:dPt>
          <c:dPt>
            <c:idx val="2"/>
            <c:invertIfNegative val="0"/>
            <c:bubble3D val="0"/>
            <c:spPr>
              <a:solidFill>
                <a:srgbClr val="9AA3B5"/>
              </a:solidFill>
              <a:effectLst/>
            </c:spPr>
          </c:dPt>
          <c:dPt>
            <c:idx val="3"/>
            <c:invertIfNegative val="0"/>
            <c:bubble3D val="0"/>
            <c:spPr>
              <a:solidFill>
                <a:srgbClr val="9AA3B5"/>
              </a:solidFill>
              <a:effectLst/>
            </c:spPr>
          </c:dPt>
          <c:dPt>
            <c:idx val="4"/>
            <c:invertIfNegative val="0"/>
            <c:bubble3D val="0"/>
            <c:spPr>
              <a:solidFill>
                <a:srgbClr val="9AA3B5"/>
              </a:solidFill>
              <a:effectLst/>
            </c:spPr>
          </c:dPt>
          <c:dPt>
            <c:idx val="5"/>
            <c:invertIfNegative val="0"/>
            <c:bubble3D val="0"/>
            <c:spPr>
              <a:solidFill>
                <a:srgbClr val="E07A2E"/>
              </a:solidFill>
              <a:effectLst/>
            </c:spPr>
          </c:dPt>
          <c:cat>
            <c:multiLvlStrRef>
              <c:f>Sheet1!$A$2:$A$7</c:f>
              <c:multiLvlStrCache>
                <c:ptCount val="6"/>
                <c:lvl>
                  <c:pt idx="0">
                    <c:v>monoBERT re-ranker</c:v>
                  </c:pt>
                  <c:pt idx="1">
                    <c:v>Hybrid: TCT-ColBERT + BM25</c:v>
                  </c:pt>
                  <c:pt idx="2">
                    <c:v>TCT-ColBERT (dense)</c:v>
                  </c:pt>
                  <c:pt idx="3">
                    <c:v>DistilBERT (dense)</c:v>
                  </c:pt>
                  <c:pt idx="4">
                    <c:v>BM25 + doc2query-T5</c:v>
                  </c:pt>
                  <c:pt idx="5">
                    <c:v>BM25</c:v>
                  </c:pt>
                </c:lvl>
              </c:multiLvlStrCache>
            </c:multiLvlStrRef>
          </c:cat>
          <c:val>
            <c:numRef>
              <c:f>Sheet1!$B$2:$B$7</c:f>
              <c:numCache>
                <c:formatCode>General</c:formatCode>
                <c:ptCount val="6"/>
                <c:pt idx="0">
                  <c:v>0.372</c:v>
                </c:pt>
                <c:pt idx="1">
                  <c:v>0.353</c:v>
                </c:pt>
                <c:pt idx="2">
                  <c:v>0.335</c:v>
                </c:pt>
                <c:pt idx="3">
                  <c:v>0.323</c:v>
                </c:pt>
                <c:pt idx="4">
                  <c:v>0.282</c:v>
                </c:pt>
                <c:pt idx="5">
                  <c:v>0.187</c:v>
                </c:pt>
              </c:numCache>
            </c:numRef>
          </c:val>
        </c:ser>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b"/>
        <c:majorGridlines>
          <c:spPr>
            <a:ln w="9525" cap="flat">
              <a:solidFill>
                <a:srgbClr val="E2E5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Our project is a search engine for the Enron email dataset. We implemented two classic ranking algorithms, TF-IDF and BM25, compared them side by side on about 250 thousand real emails, benchmarked them on a labelled test collection, and placed them against the wider family of search algorithms, including modern neural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deck at a glance. First the project itself: the data, the pipeline and the sparse index. Then the algorithms: TF-IDF and BM25 in detail, and where they sit among other search algorithms. Then benchmarks, both our own on a labelled test collection and published results from the research community. Finally, why BM25 is the right choice for this project. The four numbers on the right are the headline results we'll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project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it works like Gmail's search bar. You type a query and the app shows the most relevant emails. The twist is that every search runs through two ranking algorithms at once, so we can compare them. We had three goals: understand ranking, implement it ourselves, and benchmark it. On the right is a real result for 'stock options': TF-IDF's top hits are tiny 6 to 11 word emails, while BM25 finds the actual stock option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the Enron scandal. When the company collapsed in 2001, the regulator released about half a million emails from 150 employees. One surprise: about half the dataset is duplicates, because Enron's mail system stored the same email in several folders like sent, _sent_mail and all_documents. We remove exact duplicates, which leaves 251 thousand unique emails using 631 thousand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two phases. Phase A is indexing. It runs once and takes about 75 seconds: read the CSV, parse each email with Python's email module, skip duplicates, tokenise into lowercase words without stop words, build two indexes, TF-IDF vectors and BM25 word counts, and save everything to index.pkl with pickle. Phase B happens on every search. The app loads index.pkl into memory once at start-up. When you search, Flask runs both algorithms on the same query, rank() keeps the matches and sorts them, and the page shows the top 10 of each side by side with the query words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Python. We parse emails with Python's built-in email module, use scikit-learn for TF-IDF, and wrote BM25 ourselves with NumPy, because scikit-learn doesn't have BM25 and writing it shows we understand the formula. Vectors live in SciPy sparse matrices, the index is saved with pickle, and the website is Flask with plain HTML. If asked 'why not Elasticsearch?': it uses BM25 internally, so it would be a black box. We wanted to build the ranking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sparse matrices matter. The real matrix has 251 thousand emails times 631 thousand words, which is 158 billion cells, about 1.27 terabytes if stored normally. But an average email uses only 97 different words, so 99.98% of the cells are zero. CSR format stores only three arrays: the non-zero values, their column numbers, and where each email starts. That brings it down to about 300 megabytes. BM25 uses CSC, the same idea stored column by column, which answers 'which emails contain this word?' instantly. That is an inverted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algorithms. First the big picture, then TF-IDF and BM25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ranking has a long history. Boolean search in the 1960s only matched, it didn't rank. In the 1970s Karen Spärck Jones introduced IDF and Gerard Salton the vector space model, which together give TF-IDF. The probabilistic model of 1976 led to Okapi BM25, which was tuned at the TREC-3 evaluation in 1994 and is still the default in Lucene and Elasticsearch today. Since 2019 neural methods have arrived: BERT re-rankers, dense retrieval like DPR and ColBERT, learned sparse models like SPLADE, and now hybrid search feeding LLMs in RAG systems. Notice that even the newest systems still use BM25 as a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families. Lexical methods, where our project sits, match exact words and weight them by frequency and rarity. They need nothing but the text. Latent semantic methods like LSA compress the word-document matrix into topics using SVD, which gets expensive at our size. Neural dense retrieval uses a transformer to turn text into vectors and finds nearest neighbours, which understands meaning but needs a trained model, GPUs and a big vector index. Finally, neural re-rankers and learned sparse models use BERT to re-score or re-weight results, and they typically run on top of BM25.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answers: how important is this word to this email? TF is how often the word appears in the email. IDF is how rare the word is across all emails. A word like 'the' is everywhere, so its IDF is near zero, while 'bankruptcy' is rare, so it's high. Multiply them and you get a weight for every word in every email. To search, the query becomes a vector too, and we measure the angle between query and email with cosine similarity. It has two weaknesses we'll come back to: repeating a word keeps adding score, and dividing by length makes very short emails look like perfect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TF-IDF on a tiny example with three emails and the query 'gas pipeline'. 'gas' appears in 2 of 3 emails, so its IDF is lower, 1.288. 'pipeline' appears in only one, so it's 1.693. For Email 1 we multiply counts by IDF, then divide by the vector's length. The query becomes a vector too. Cosine similarity is then just multiplying matching words and adding them up: Email 1 scores 0.869 and ranks first, Email 0 scores 0.319, and Email 2 shares no words so it isn't shown. In code, this whole step is a single matrix multiplication.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stands for Best Matching 25. It keeps TF-IDF's idea but fixes its two weaknesses. k1 controls saturation: tf appears on both the top and the bottom of the fraction, so the score flattens out as a word repeats. b controls length normalisation: each email's length is compared to the average length, and with b = 0.75 long emails are only partly penalised. 1.5 and 0.75 are standard defaults. This is the default ranking function in Elasticsearch, Lucene and Solr. We wrote it ourselves in about 15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BM25 on the same three emails. First, IDF with BM25's formula: 0.47 for gas and 0.98 for pipeline. Then we use the inverted index. The CSC matrix tells us directly which emails contain each word, so Email 2 is never even looked at. That's why BM25 is faster. We score each word-email pair with the formula and add them up: Email 1 gets 1.924, Email 0 gets 0.598. On this tiny example both algorithms agree. The difference shows up when emails differ in length and repetition.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first fix. In TF-IDF a word's weight grows linearly: 50 repeats give 50 times the weight. In BM25 it saturates: 50 repeats give only about 2.4 times the weight of one. So spamming a word stops helping. The second fix is length. TF-IDF's cosine divides by the email's full length, which gives very short emails a huge boost. BM25 compares each email to the average length, and only partly penalises long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small demo you can run with python compare.py. One email is junk, just 'gas' repeated. The other is a real email about a pipeline shutdown that contains both query words. TF-IDF ranks the junk first, because the junk is short and pure 'gas', while the real email is longer and gets divided down. BM25 ranks the real email first, because repeating 'gas' saturates and the length penalty is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judged results by eye. Now let's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question is: how do we know BM25 is better, other than by looking? Enron has no relevance labels, so we can't compute accuracy on it. So we ran the project's exact search functions, unchanged, on Cranfield, the classic test collection from the 1960s with 225 queries and human relevance judgements. We compared 9 rankers in total and used the standard metrics: nDCG at 10, which rewards putting the best documents at the top; precision at 10; mean average precision; and mean reciprocal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BM25 scores 0.363 nDCG at 10 versus 0.349 for TF-IDF, a 4.1% improvement using our project's own code, and it also beats the query-likelihood language model. To be honest about it, LSA edges slightly ahead on Cranfield: it is a tiny, technical collection where matching related terms helps. But LSA needs an SVD of the whole matrix, which on Enron is 251 thousand by 631 thousand, and it is slower per query. Boolean search scores almost zero because long natural-language queries rarely match every word, and OR gives no order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to head, BM25 beats TF-IDF on every quality metric: nDCG, precision at 10, MAP, MRR and recall, and it's also faster. Per query, BM25 does better on 105 queries, TF-IDF on 77, and 43 are ties. To be honest about the size of the effect: a paired t-test gives p of about 0.06, so on Cranfield the edge is consistent but modest. That's expected. Cranfield abstracts are all roughly the same length, about 88 words, so BM25's length fix barely matters. On Enron, where emails range from one word to thousands, length is exactly what decides the ranking, as we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has two knobs, so we swept them. The biggest effect is b, length normalisation: going from b = 0, no length normalisation, to 0.75 improves nDCG by almost 8%. The best cell on Cranfield is k1 = 2.0 and b = 0.75, and our standard defaults are within 2% of it. Any reasonable setting lands in a narrow band, so BM25 doesn't need tuning data to work well. That matters for Enron, where we have no labels to tune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top results from the full dataset. For 'stock options', TF-IDF's top hit is a 9-word email titled just 'Options', while BM25 finds 'ENE Options'. ENE was Enron's stock ticker. For 'power outage', TF-IDF returns a 4-word email, and its next results are SAP system outages; BM25 returns actual power outages. The pattern repeats: TF-IDF's top hits are tiny emails of 1 to 10 words, BM25's are informative emails of 100 to 600 words that are actually about the topic. And BM25 is about 8 times faster, 5 milliseconds versus 40, because it only scores emails that contain the query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published research. BEIR is the standard benchmark for 'zero-shot' search: 18 datasets across 9 domains, where models trained on one dataset, MS MARCO, are tested on domains they've never seen. That's exactly our situation with Enron, where we have no labelled training data. The chart shows each model's average score relative to BM25. Most neural retrievers, including DPR, ANCE and TAS-B, do worse than BM25 out of domain. Only document expansion and ColBERT are slightly ahead, and the clear winner is BM25 plus a cross-encoder re-ranker, which still uses BM25 to find candidates and costs about 300 times more CPU time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fair to neural methods: when they are trained and tested on the same kind of data, they win clearly. On MS MARCO, with about half a million labelled training queries, dense retrievers and BERT re-rankers almost double BM25's MRR. But look at the cost. On a million documents, BM25 answers in 20 milliseconds on a CPU with a 0.4 gigabyte index. DPR needs 230 milliseconds on CPU and a 3 gigabyte index; ColBERT needs a GPU and 20 gigabytes; a cross-encoder takes six seconds per query on CPU. And notice that the best systems, hybrid and re-ranking, still keep BM25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putting it all together: why BM25?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decision matrix against what this project needs: ranked results, no training data since Enron has no labels, runs on a laptop, fast on 251 thousand emails, and explainable. BM25 is the only option that ticks every box except synonyms, and no keyword method can do synonyms. Dense embeddings and cross-encoders handle synonyms but need trained models and GPUs. Hybrid search gets the best of both, which is why it's our future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reasons BM25 is the right choice here. It ranks better, both on labelled data and on real emails. It's faster because of the inverted index. It needs no training data, and its defaults are already near the best. Published benchmarks show it's robust on domains it has never seen, beating several neural retrievers. And it's cheap and explainable: 15 lines of code, no GPU, and every score can be traced back to word counts. On the right is when we'd choose something else: for synonyms we'd add embeddings, with labels and a GPU we'd add a re-ranker, and for millions of emails we'd move to Elasticsearch, which runs the same BM25.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takeaways. One: TF-IDF's length normalisation favours tiny emails. Two: BM25 returns informative, on-topic emails. Three: BM25 rewards matching more of the query words over repeating one word. Four: both algorithms match exactly the same emails, so the only difference is the order, and that's what users see. Five: for specific queries like 'arthur andersen audit', both agree. BM25 is more reliable, not magic. Six, the honest limitation: both are keyword-based, so neither understands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verdict: BM25 gives better rankings, measured on labelled data and visible on real emails, it's about 8 times faster in our implementation because it only scores emails containing the query words, and it needs no training data. Published benchmarks show that's why it's still the default in real search engines, and still the backbone of modern hybrid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honest about limitations: both algorithms only match keywords, so synonyms don't work. There's no typo tolerance, phrase search or filters. On Enron we compared quality by eye, which is why we added the Cranfield benchmark. And the whole index has to fit in memory. For future work: hybrid search combining BM25 with embeddings, BM25F to weight the subject line more, labelling around 50 Enron queries so we can compute nDCG on our own data, and Elasticsearch for millions of emails, which uses the same BM25 with an on-disk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I'll now show the live demo. Suggested order: 'stock options' for the clearest difference, then 'power outage', then click a BM25 result to show the full email with highlights. Then 'raptor', one of the secret companies Enron used to hide losses, and 'arthur andersen audit', where both columns agree.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the index takes about 75 seconds, and we don't want to repeat that every time the app starts. Pickle is Python's built-in serialisation: pickle.dump turns Python objects into bytes and writes them to a file, and pickle.load rebuilds the exact same objects, including NumPy arrays, sparse matrices and scikit-learn vectorizers. Loading takes about 1.3 seconds. We didn't use JSON because it can't store these objects. Pickle is safe here because we create the file ourselves; never load a pickle from an untrusted source, because loading can run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algorithms and benchmarks cited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40080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1828800"/>
            <a:ext cx="65836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154680"/>
            <a:ext cx="6309360" cy="118872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ph idx="103" type="body" hasCustomPrompt="1"/>
          </p:nvPr>
        </p:nvSpPr>
        <p:spPr>
          <a:xfrm>
            <a:off x="731520" y="5760720"/>
            <a:ext cx="6400800" cy="365760"/>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8A94A6"/>
                </a:solidFill>
              </a:rPr>
              <a:t>Enron Email Search</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DICT">
    <p:bg>
      <p:bgPr>
        <a:solidFill>
          <a:srgbClr val="E07A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9144000" cy="365760"/>
          </a:xfrm>
          <a:prstGeom prst="rect">
            <a:avLst/>
          </a:prstGeom>
          <a:noFill/>
          <a:ln/>
        </p:spPr>
        <p:txBody>
          <a:bodyPr wrap="square" rtlCol="0"/>
          <a:lstStyle>
            <a:lvl1pPr indent="0" marL="0">
              <a:buNone/>
              <a:defRPr lang="en-US" sz="1300" b="1" spc="200" kern="0" dirty="0">
                <a:solidFill>
                  <a:schemeClr val="tx1"/>
                </a:solidFill>
              </a:defRPr>
            </a:lvl1pPr>
          </a:lstStyle>
          <a:p>
            <a:pPr indent="0" marL="0">
              <a:buNone/>
            </a:pPr>
            <a:endParaRPr lang="en-US" sz="1300" dirty="0"/>
          </a:p>
        </p:txBody>
      </p:sp>
      <p:sp>
        <p:nvSpPr>
          <p:cNvPr id="3" name="Text 0"/>
          <p:cNvSpPr/>
          <p:nvPr>
            <p:ph idx="101" type="title" hasCustomPrompt="1"/>
          </p:nvPr>
        </p:nvSpPr>
        <p:spPr>
          <a:xfrm>
            <a:off x="731520" y="1783080"/>
            <a:ext cx="10515600" cy="173736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4213D"/>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400800" cy="365760"/>
          </a:xfrm>
          <a:prstGeom prst="rect">
            <a:avLst/>
          </a:prstGeom>
          <a:noFill/>
          <a:ln/>
        </p:spPr>
        <p:txBody>
          <a:bodyPr wrap="square" lIns="0" tIns="0" rIns="0" bIns="0" rtlCol="0"/>
          <a:lstStyle/>
          <a:p>
            <a:pPr indent="0" marL="0">
              <a:buNone/>
            </a:pPr>
            <a:r>
              <a:rPr lang="en-US" sz="1300" b="1" spc="200" kern="0" dirty="0">
                <a:solidFill>
                  <a:schemeClr val="accent1"/>
                </a:solidFill>
              </a:rPr>
              <a:t>INFORMATION RETRIEVAL PROJECT</a:t>
            </a:r>
            <a:endParaRPr lang="en-US" sz="1300" dirty="0"/>
          </a:p>
        </p:txBody>
      </p:sp>
      <p:sp>
        <p:nvSpPr>
          <p:cNvPr id="3" name="Text 0"/>
          <p:cNvSpPr/>
          <p:nvPr>
            <p:ph idx="101" type="title" hasCustomPrompt="1"/>
          </p:nvPr>
        </p:nvSpPr>
        <p:spPr>
          <a:xfrm>
            <a:off x="731520" y="1828800"/>
            <a:ext cx="6583680" cy="1280160"/>
          </a:xfrm>
          <a:prstGeom prst="rect">
            <a:avLst/>
          </a:prstGeom>
          <a:noFill/>
          <a:ln/>
        </p:spPr>
        <p:txBody>
          <a:bodyPr wrap="square" lIns="0" tIns="0" rIns="0" bIns="0" rtlCol="0" anchor="t"/>
          <a:lstStyle/>
          <a:p>
            <a:pPr algn="l" indent="0" marL="0">
              <a:buNone/>
            </a:pPr>
            <a:r>
              <a:rPr lang="en-US" sz="5400" b="1" dirty="0">
                <a:solidFill>
                  <a:schemeClr val="bg1"/>
                </a:solidFill>
              </a:rPr>
              <a:t>Enron Email Search</a:t>
            </a:r>
            <a:endParaRPr lang="en-US" sz="5400" dirty="0"/>
          </a:p>
        </p:txBody>
      </p:sp>
      <p:sp>
        <p:nvSpPr>
          <p:cNvPr id="4" name="Text 0"/>
          <p:cNvSpPr/>
          <p:nvPr>
            <p:ph idx="102" type="body" hasCustomPrompt="1"/>
          </p:nvPr>
        </p:nvSpPr>
        <p:spPr>
          <a:xfrm>
            <a:off x="731520" y="3154680"/>
            <a:ext cx="6309360" cy="1188720"/>
          </a:xfrm>
          <a:prstGeom prst="rect">
            <a:avLst/>
          </a:prstGeom>
          <a:noFill/>
          <a:ln/>
        </p:spPr>
        <p:txBody>
          <a:bodyPr wrap="square" lIns="0" tIns="0" rIns="0" bIns="0" rtlCol="0" anchor="t"/>
          <a:lstStyle/>
          <a:p>
            <a:pPr indent="0" marL="0">
              <a:buNone/>
            </a:pPr>
            <a:r>
              <a:rPr lang="en-US" sz="2000" dirty="0">
                <a:solidFill>
                  <a:schemeClr val="accent5"/>
                </a:solidFill>
              </a:rPr>
              <a:t>TF-IDF vs BM25: ranking 251,115 real corporate emails, built from scratch in Python and benchmarked against the field</a:t>
            </a:r>
            <a:endParaRPr lang="en-US" sz="2000" dirty="0"/>
          </a:p>
        </p:txBody>
      </p:sp>
      <p:sp>
        <p:nvSpPr>
          <p:cNvPr id="5" name="Text 0"/>
          <p:cNvSpPr/>
          <p:nvPr>
            <p:ph idx="103" type="body" hasCustomPrompt="1"/>
          </p:nvPr>
        </p:nvSpPr>
        <p:spPr>
          <a:xfrm>
            <a:off x="731520" y="5760720"/>
            <a:ext cx="6400800" cy="365760"/>
          </a:xfrm>
          <a:prstGeom prst="rect">
            <a:avLst/>
          </a:prstGeom>
          <a:noFill/>
          <a:ln/>
        </p:spPr>
        <p:txBody>
          <a:bodyPr wrap="square" lIns="0" tIns="0" rIns="0" bIns="0" rtlCol="0"/>
          <a:lstStyle/>
          <a:p>
            <a:pPr indent="0" marL="0">
              <a:buNone/>
            </a:pPr>
            <a:r>
              <a:rPr lang="en-US" sz="1400" dirty="0">
                <a:solidFill>
                  <a:schemeClr val="accent5"/>
                </a:solidFill>
              </a:rPr>
              <a:t>[Your name] · [Course name] · [Date]</a:t>
            </a:r>
            <a:endParaRPr lang="en-US" sz="1400" dirty="0"/>
          </a:p>
        </p:txBody>
      </p:sp>
      <p:sp>
        <p:nvSpPr>
          <p:cNvPr id="6" name="Mock search UI"/>
          <p:cNvSpPr/>
          <p:nvPr/>
        </p:nvSpPr>
        <p:spPr>
          <a:xfrm>
            <a:off x="7635240" y="1463040"/>
            <a:ext cx="4023360" cy="3566160"/>
          </a:xfrm>
          <a:prstGeom prst="roundRect">
            <a:avLst>
              <a:gd name="adj" fmla="val 2051"/>
            </a:avLst>
          </a:prstGeom>
          <a:solidFill>
            <a:schemeClr val="bg1"/>
          </a:solidFill>
          <a:ln/>
        </p:spPr>
      </p:sp>
      <p:sp>
        <p:nvSpPr>
          <p:cNvPr id="7" name="Search bar"/>
          <p:cNvSpPr/>
          <p:nvPr/>
        </p:nvSpPr>
        <p:spPr>
          <a:xfrm>
            <a:off x="7909560" y="1737360"/>
            <a:ext cx="3474720" cy="457200"/>
          </a:xfrm>
          <a:prstGeom prst="roundRect">
            <a:avLst>
              <a:gd name="adj" fmla="val 50000"/>
            </a:avLst>
          </a:prstGeom>
          <a:solidFill>
            <a:schemeClr val="bg1"/>
          </a:solidFill>
          <a:ln w="12700">
            <a:solidFill>
              <a:srgbClr val="D9DDE4"/>
            </a:solidFill>
            <a:prstDash val="solid"/>
          </a:ln>
        </p:spPr>
      </p:sp>
      <p:sp>
        <p:nvSpPr>
          <p:cNvPr id="8" name="Text 6"/>
          <p:cNvSpPr txBox="1"/>
          <p:nvPr/>
        </p:nvSpPr>
        <p:spPr>
          <a:xfrm>
            <a:off x="8092440" y="1737360"/>
            <a:ext cx="3108960" cy="45720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  stock options</a:t>
            </a:r>
            <a:endParaRPr lang="en-US" sz="1500" dirty="0"/>
          </a:p>
        </p:txBody>
      </p:sp>
      <p:sp>
        <p:nvSpPr>
          <p:cNvPr id="9" name="Text 7"/>
          <p:cNvSpPr txBox="1"/>
          <p:nvPr/>
        </p:nvSpPr>
        <p:spPr>
          <a:xfrm>
            <a:off x="7909560" y="2423160"/>
            <a:ext cx="1600200" cy="274320"/>
          </a:xfrm>
          <a:prstGeom prst="rect">
            <a:avLst/>
          </a:prstGeom>
          <a:noFill/>
          <a:ln/>
        </p:spPr>
        <p:txBody>
          <a:bodyPr wrap="square" lIns="0" tIns="0" rIns="0" bIns="0" rtlCol="0" anchor="t"/>
          <a:lstStyle/>
          <a:p>
            <a:pPr algn="l" indent="0" marL="0">
              <a:buNone/>
            </a:pPr>
            <a:r>
              <a:rPr lang="en-US" sz="1400" b="1" dirty="0">
                <a:solidFill>
                  <a:schemeClr val="accent2"/>
                </a:solidFill>
              </a:rPr>
              <a:t>TF-IDF</a:t>
            </a:r>
            <a:endParaRPr lang="en-US" sz="1400" dirty="0"/>
          </a:p>
        </p:txBody>
      </p:sp>
      <p:sp>
        <p:nvSpPr>
          <p:cNvPr id="10" name="Text 8"/>
          <p:cNvSpPr txBox="1"/>
          <p:nvPr/>
        </p:nvSpPr>
        <p:spPr>
          <a:xfrm>
            <a:off x="7909560" y="2788920"/>
            <a:ext cx="1600200"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Options</a:t>
            </a:r>
            <a:endParaRPr lang="en-US" sz="1300" dirty="0"/>
          </a:p>
          <a:p>
            <a:pPr indent="0" marL="0">
              <a:spcAft>
                <a:spcPts val="400"/>
              </a:spcAft>
              <a:buNone/>
            </a:pPr>
            <a:r>
              <a:rPr lang="en-US" sz="1200" dirty="0">
                <a:solidFill>
                  <a:schemeClr val="tx2"/>
                </a:solidFill>
              </a:rPr>
              <a:t>9 words</a:t>
            </a:r>
            <a:endParaRPr lang="en-US" sz="1300" dirty="0"/>
          </a:p>
          <a:p>
            <a:pPr indent="0" marL="0">
              <a:spcAft>
                <a:spcPts val="400"/>
              </a:spcAft>
              <a:buNone/>
            </a:pPr>
            <a:r>
              <a:rPr lang="en-US" sz="1300" b="1" dirty="0">
                <a:solidFill>
                  <a:schemeClr val="tx1"/>
                </a:solidFill>
              </a:rPr>
              <a:t>2. (no subject)</a:t>
            </a:r>
            <a:endParaRPr lang="en-US" sz="1300" dirty="0"/>
          </a:p>
          <a:p>
            <a:pPr indent="0" marL="0">
              <a:spcAft>
                <a:spcPts val="400"/>
              </a:spcAft>
              <a:buNone/>
            </a:pPr>
            <a:r>
              <a:rPr lang="en-US" sz="1200" dirty="0">
                <a:solidFill>
                  <a:schemeClr val="tx2"/>
                </a:solidFill>
              </a:rPr>
              <a:t>6 words</a:t>
            </a:r>
            <a:endParaRPr lang="en-US" sz="1300" dirty="0"/>
          </a:p>
          <a:p>
            <a:pPr indent="0" marL="0">
              <a:spcAft>
                <a:spcPts val="400"/>
              </a:spcAft>
              <a:buNone/>
            </a:pPr>
            <a:r>
              <a:rPr lang="en-US" sz="1300" b="1" dirty="0">
                <a:solidFill>
                  <a:schemeClr val="tx1"/>
                </a:solidFill>
              </a:rPr>
              <a:t>3. Re: Options</a:t>
            </a:r>
            <a:endParaRPr lang="en-US" sz="1300" dirty="0"/>
          </a:p>
          <a:p>
            <a:pPr indent="0" marL="0">
              <a:spcAft>
                <a:spcPts val="400"/>
              </a:spcAft>
              <a:buNone/>
            </a:pPr>
            <a:r>
              <a:rPr lang="en-US" sz="1200" dirty="0">
                <a:solidFill>
                  <a:schemeClr val="tx2"/>
                </a:solidFill>
              </a:rPr>
              <a:t>11 words</a:t>
            </a:r>
            <a:endParaRPr lang="en-US" sz="1300" dirty="0"/>
          </a:p>
        </p:txBody>
      </p:sp>
      <p:sp>
        <p:nvSpPr>
          <p:cNvPr id="11" name="Text 9"/>
          <p:cNvSpPr txBox="1"/>
          <p:nvPr/>
        </p:nvSpPr>
        <p:spPr>
          <a:xfrm>
            <a:off x="9784080" y="2423160"/>
            <a:ext cx="1600200" cy="274320"/>
          </a:xfrm>
          <a:prstGeom prst="rect">
            <a:avLst/>
          </a:prstGeom>
          <a:noFill/>
          <a:ln/>
        </p:spPr>
        <p:txBody>
          <a:bodyPr wrap="square" lIns="0" tIns="0" rIns="0" bIns="0" rtlCol="0" anchor="t"/>
          <a:lstStyle/>
          <a:p>
            <a:pPr algn="l" indent="0" marL="0">
              <a:buNone/>
            </a:pPr>
            <a:r>
              <a:rPr lang="en-US" sz="1400" b="1" dirty="0">
                <a:solidFill>
                  <a:schemeClr val="accent1"/>
                </a:solidFill>
              </a:rPr>
              <a:t>BM25</a:t>
            </a:r>
            <a:endParaRPr lang="en-US" sz="1400" dirty="0"/>
          </a:p>
        </p:txBody>
      </p:sp>
      <p:sp>
        <p:nvSpPr>
          <p:cNvPr id="12" name="Text 10"/>
          <p:cNvSpPr txBox="1"/>
          <p:nvPr/>
        </p:nvSpPr>
        <p:spPr>
          <a:xfrm>
            <a:off x="9784080" y="2788920"/>
            <a:ext cx="1600200"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ENE Options</a:t>
            </a:r>
            <a:endParaRPr lang="en-US" sz="1300" dirty="0"/>
          </a:p>
          <a:p>
            <a:pPr indent="0" marL="0">
              <a:spcAft>
                <a:spcPts val="400"/>
              </a:spcAft>
              <a:buNone/>
            </a:pPr>
            <a:r>
              <a:rPr lang="en-US" sz="1200" dirty="0">
                <a:solidFill>
                  <a:schemeClr val="tx2"/>
                </a:solidFill>
              </a:rPr>
              <a:t>159 words</a:t>
            </a:r>
            <a:endParaRPr lang="en-US" sz="1300" dirty="0"/>
          </a:p>
          <a:p>
            <a:pPr indent="0" marL="0">
              <a:spcAft>
                <a:spcPts val="400"/>
              </a:spcAft>
              <a:buNone/>
            </a:pPr>
            <a:r>
              <a:rPr lang="en-US" sz="1300" b="1" dirty="0">
                <a:solidFill>
                  <a:schemeClr val="tx1"/>
                </a:solidFill>
              </a:rPr>
              <a:t>2. 2001 Special Stock Option Grant Awards</a:t>
            </a:r>
            <a:endParaRPr lang="en-US" sz="1300" dirty="0"/>
          </a:p>
          <a:p>
            <a:pPr indent="0" marL="0">
              <a:spcAft>
                <a:spcPts val="400"/>
              </a:spcAft>
              <a:buNone/>
            </a:pPr>
            <a:r>
              <a:rPr lang="en-US" sz="1200" dirty="0">
                <a:solidFill>
                  <a:schemeClr val="tx2"/>
                </a:solidFill>
              </a:rPr>
              <a:t>250 words</a:t>
            </a:r>
            <a:endParaRPr lang="en-US" sz="1300" dirty="0"/>
          </a:p>
        </p:txBody>
      </p:sp>
      <p:sp>
        <p:nvSpPr>
          <p:cNvPr id="13" name="Text 11"/>
          <p:cNvSpPr txBox="1"/>
          <p:nvPr/>
        </p:nvSpPr>
        <p:spPr>
          <a:xfrm>
            <a:off x="7635240" y="5166360"/>
            <a:ext cx="4023360" cy="320040"/>
          </a:xfrm>
          <a:prstGeom prst="rect">
            <a:avLst/>
          </a:prstGeom>
          <a:noFill/>
          <a:ln/>
        </p:spPr>
        <p:txBody>
          <a:bodyPr wrap="square" lIns="0" tIns="0" rIns="0" bIns="0" rtlCol="0" anchor="t"/>
          <a:lstStyle/>
          <a:p>
            <a:pPr algn="l" indent="0" marL="0">
              <a:buNone/>
            </a:pPr>
            <a:r>
              <a:rPr lang="en-US" sz="1300" i="1" dirty="0">
                <a:solidFill>
                  <a:schemeClr val="accent5"/>
                </a:solidFill>
              </a:rPr>
              <a:t>Same query, two rankers, side by side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AT A GLANCE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From 517k raw emails to a benchmarked search engine</a:t>
            </a:r>
            <a:endParaRPr lang="en-US" sz="3200" dirty="0"/>
          </a:p>
        </p:txBody>
      </p:sp>
      <p:sp>
        <p:nvSpPr>
          <p:cNvPr id="4" name="Agenda number"/>
          <p:cNvSpPr/>
          <p:nvPr/>
        </p:nvSpPr>
        <p:spPr>
          <a:xfrm>
            <a:off x="548640" y="1645920"/>
            <a:ext cx="731520" cy="731520"/>
          </a:xfrm>
          <a:prstGeom prst="ellipse">
            <a:avLst/>
          </a:prstGeom>
          <a:solidFill>
            <a:schemeClr val="tx1"/>
          </a:solidFill>
          <a:ln/>
        </p:spPr>
      </p:sp>
      <p:sp>
        <p:nvSpPr>
          <p:cNvPr id="5" name="Text 3"/>
          <p:cNvSpPr txBox="1"/>
          <p:nvPr/>
        </p:nvSpPr>
        <p:spPr>
          <a:xfrm>
            <a:off x="548640" y="164592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01</a:t>
            </a:r>
            <a:endParaRPr lang="en-US" sz="1800" dirty="0"/>
          </a:p>
        </p:txBody>
      </p:sp>
      <p:sp>
        <p:nvSpPr>
          <p:cNvPr id="6" name="Text 4"/>
          <p:cNvSpPr txBox="1"/>
          <p:nvPr/>
        </p:nvSpPr>
        <p:spPr>
          <a:xfrm>
            <a:off x="1508760" y="1664208"/>
            <a:ext cx="4206240" cy="365760"/>
          </a:xfrm>
          <a:prstGeom prst="rect">
            <a:avLst/>
          </a:prstGeom>
          <a:noFill/>
          <a:ln/>
        </p:spPr>
        <p:txBody>
          <a:bodyPr wrap="square" lIns="0" tIns="0" rIns="0" bIns="0" rtlCol="0" anchor="t"/>
          <a:lstStyle/>
          <a:p>
            <a:pPr algn="l" indent="0" marL="0">
              <a:buNone/>
            </a:pPr>
            <a:r>
              <a:rPr lang="en-US" sz="2000" b="1" dirty="0">
                <a:solidFill>
                  <a:schemeClr val="tx1"/>
                </a:solidFill>
              </a:rPr>
              <a:t>The project</a:t>
            </a:r>
            <a:endParaRPr lang="en-US" sz="2000" dirty="0"/>
          </a:p>
        </p:txBody>
      </p:sp>
      <p:sp>
        <p:nvSpPr>
          <p:cNvPr id="7" name="Text 5"/>
          <p:cNvSpPr txBox="1"/>
          <p:nvPr/>
        </p:nvSpPr>
        <p:spPr>
          <a:xfrm>
            <a:off x="1508760" y="2029968"/>
            <a:ext cx="4206240" cy="365760"/>
          </a:xfrm>
          <a:prstGeom prst="rect">
            <a:avLst/>
          </a:prstGeom>
          <a:noFill/>
          <a:ln/>
        </p:spPr>
        <p:txBody>
          <a:bodyPr wrap="square" lIns="0" tIns="0" rIns="0" bIns="0" rtlCol="0" anchor="t"/>
          <a:lstStyle/>
          <a:p>
            <a:pPr algn="l" indent="0" marL="0">
              <a:buNone/>
            </a:pPr>
            <a:r>
              <a:rPr lang="en-US" sz="1500" dirty="0">
                <a:solidFill>
                  <a:schemeClr val="tx2"/>
                </a:solidFill>
              </a:rPr>
              <a:t>Dataset, pipeline, sparse index</a:t>
            </a:r>
            <a:endParaRPr lang="en-US" sz="1500" dirty="0"/>
          </a:p>
        </p:txBody>
      </p:sp>
      <p:sp>
        <p:nvSpPr>
          <p:cNvPr id="8" name="Agenda number"/>
          <p:cNvSpPr/>
          <p:nvPr/>
        </p:nvSpPr>
        <p:spPr>
          <a:xfrm>
            <a:off x="548640" y="2724912"/>
            <a:ext cx="731520" cy="731520"/>
          </a:xfrm>
          <a:prstGeom prst="ellipse">
            <a:avLst/>
          </a:prstGeom>
          <a:solidFill>
            <a:schemeClr val="tx1"/>
          </a:solidFill>
          <a:ln/>
        </p:spPr>
      </p:sp>
      <p:sp>
        <p:nvSpPr>
          <p:cNvPr id="9" name="Text 7"/>
          <p:cNvSpPr txBox="1"/>
          <p:nvPr/>
        </p:nvSpPr>
        <p:spPr>
          <a:xfrm>
            <a:off x="548640" y="2724912"/>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02</a:t>
            </a:r>
            <a:endParaRPr lang="en-US" sz="1800" dirty="0"/>
          </a:p>
        </p:txBody>
      </p:sp>
      <p:sp>
        <p:nvSpPr>
          <p:cNvPr id="10" name="Text 8"/>
          <p:cNvSpPr txBox="1"/>
          <p:nvPr/>
        </p:nvSpPr>
        <p:spPr>
          <a:xfrm>
            <a:off x="1508760" y="2743200"/>
            <a:ext cx="4206240" cy="365760"/>
          </a:xfrm>
          <a:prstGeom prst="rect">
            <a:avLst/>
          </a:prstGeom>
          <a:noFill/>
          <a:ln/>
        </p:spPr>
        <p:txBody>
          <a:bodyPr wrap="square" lIns="0" tIns="0" rIns="0" bIns="0" rtlCol="0" anchor="t"/>
          <a:lstStyle/>
          <a:p>
            <a:pPr algn="l" indent="0" marL="0">
              <a:buNone/>
            </a:pPr>
            <a:r>
              <a:rPr lang="en-US" sz="2000" b="1" dirty="0">
                <a:solidFill>
                  <a:schemeClr val="tx1"/>
                </a:solidFill>
              </a:rPr>
              <a:t>The algorithms</a:t>
            </a:r>
            <a:endParaRPr lang="en-US" sz="2000" dirty="0"/>
          </a:p>
        </p:txBody>
      </p:sp>
      <p:sp>
        <p:nvSpPr>
          <p:cNvPr id="11" name="Text 9"/>
          <p:cNvSpPr txBox="1"/>
          <p:nvPr/>
        </p:nvSpPr>
        <p:spPr>
          <a:xfrm>
            <a:off x="1508760" y="3108960"/>
            <a:ext cx="4206240" cy="365760"/>
          </a:xfrm>
          <a:prstGeom prst="rect">
            <a:avLst/>
          </a:prstGeom>
          <a:noFill/>
          <a:ln/>
        </p:spPr>
        <p:txBody>
          <a:bodyPr wrap="square" lIns="0" tIns="0" rIns="0" bIns="0" rtlCol="0" anchor="t"/>
          <a:lstStyle/>
          <a:p>
            <a:pPr algn="l" indent="0" marL="0">
              <a:buNone/>
            </a:pPr>
            <a:r>
              <a:rPr lang="en-US" sz="1500" dirty="0">
                <a:solidFill>
                  <a:schemeClr val="tx2"/>
                </a:solidFill>
              </a:rPr>
              <a:t>TF-IDF, BM25 and the wider landscape</a:t>
            </a:r>
            <a:endParaRPr lang="en-US" sz="1500" dirty="0"/>
          </a:p>
        </p:txBody>
      </p:sp>
      <p:sp>
        <p:nvSpPr>
          <p:cNvPr id="12" name="Agenda number"/>
          <p:cNvSpPr/>
          <p:nvPr/>
        </p:nvSpPr>
        <p:spPr>
          <a:xfrm>
            <a:off x="548640" y="3803904"/>
            <a:ext cx="731520" cy="731520"/>
          </a:xfrm>
          <a:prstGeom prst="ellipse">
            <a:avLst/>
          </a:prstGeom>
          <a:solidFill>
            <a:schemeClr val="accent1"/>
          </a:solidFill>
          <a:ln/>
        </p:spPr>
      </p:sp>
      <p:sp>
        <p:nvSpPr>
          <p:cNvPr id="13" name="Text 11"/>
          <p:cNvSpPr txBox="1"/>
          <p:nvPr/>
        </p:nvSpPr>
        <p:spPr>
          <a:xfrm>
            <a:off x="548640" y="3803904"/>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03</a:t>
            </a:r>
            <a:endParaRPr lang="en-US" sz="1800" dirty="0"/>
          </a:p>
        </p:txBody>
      </p:sp>
      <p:sp>
        <p:nvSpPr>
          <p:cNvPr id="14" name="Text 12"/>
          <p:cNvSpPr txBox="1"/>
          <p:nvPr/>
        </p:nvSpPr>
        <p:spPr>
          <a:xfrm>
            <a:off x="1508760" y="3822192"/>
            <a:ext cx="4206240" cy="365760"/>
          </a:xfrm>
          <a:prstGeom prst="rect">
            <a:avLst/>
          </a:prstGeom>
          <a:noFill/>
          <a:ln/>
        </p:spPr>
        <p:txBody>
          <a:bodyPr wrap="square" lIns="0" tIns="0" rIns="0" bIns="0" rtlCol="0" anchor="t"/>
          <a:lstStyle/>
          <a:p>
            <a:pPr algn="l" indent="0" marL="0">
              <a:buNone/>
            </a:pPr>
            <a:r>
              <a:rPr lang="en-US" sz="2000" b="1" dirty="0">
                <a:solidFill>
                  <a:schemeClr val="tx1"/>
                </a:solidFill>
              </a:rPr>
              <a:t>Benchmarks</a:t>
            </a:r>
            <a:endParaRPr lang="en-US" sz="2000" dirty="0"/>
          </a:p>
        </p:txBody>
      </p:sp>
      <p:sp>
        <p:nvSpPr>
          <p:cNvPr id="15" name="Text 13"/>
          <p:cNvSpPr txBox="1"/>
          <p:nvPr/>
        </p:nvSpPr>
        <p:spPr>
          <a:xfrm>
            <a:off x="1508760" y="4187952"/>
            <a:ext cx="4206240" cy="365760"/>
          </a:xfrm>
          <a:prstGeom prst="rect">
            <a:avLst/>
          </a:prstGeom>
          <a:noFill/>
          <a:ln/>
        </p:spPr>
        <p:txBody>
          <a:bodyPr wrap="square" lIns="0" tIns="0" rIns="0" bIns="0" rtlCol="0" anchor="t"/>
          <a:lstStyle/>
          <a:p>
            <a:pPr algn="l" indent="0" marL="0">
              <a:buNone/>
            </a:pPr>
            <a:r>
              <a:rPr lang="en-US" sz="1500" dirty="0">
                <a:solidFill>
                  <a:schemeClr val="tx2"/>
                </a:solidFill>
              </a:rPr>
              <a:t>Our labelled test + published BEIR and MS MARCO results</a:t>
            </a:r>
            <a:endParaRPr lang="en-US" sz="1500" dirty="0"/>
          </a:p>
        </p:txBody>
      </p:sp>
      <p:sp>
        <p:nvSpPr>
          <p:cNvPr id="16" name="Agenda number"/>
          <p:cNvSpPr/>
          <p:nvPr/>
        </p:nvSpPr>
        <p:spPr>
          <a:xfrm>
            <a:off x="548640" y="4882896"/>
            <a:ext cx="731520" cy="731520"/>
          </a:xfrm>
          <a:prstGeom prst="ellipse">
            <a:avLst/>
          </a:prstGeom>
          <a:solidFill>
            <a:schemeClr val="tx1"/>
          </a:solidFill>
          <a:ln/>
        </p:spPr>
      </p:sp>
      <p:sp>
        <p:nvSpPr>
          <p:cNvPr id="17" name="Text 15"/>
          <p:cNvSpPr txBox="1"/>
          <p:nvPr/>
        </p:nvSpPr>
        <p:spPr>
          <a:xfrm>
            <a:off x="548640" y="4882896"/>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04</a:t>
            </a:r>
            <a:endParaRPr lang="en-US" sz="1800" dirty="0"/>
          </a:p>
        </p:txBody>
      </p:sp>
      <p:sp>
        <p:nvSpPr>
          <p:cNvPr id="18" name="Text 16"/>
          <p:cNvSpPr txBox="1"/>
          <p:nvPr/>
        </p:nvSpPr>
        <p:spPr>
          <a:xfrm>
            <a:off x="1508760" y="4901184"/>
            <a:ext cx="4206240" cy="365760"/>
          </a:xfrm>
          <a:prstGeom prst="rect">
            <a:avLst/>
          </a:prstGeom>
          <a:noFill/>
          <a:ln/>
        </p:spPr>
        <p:txBody>
          <a:bodyPr wrap="square" lIns="0" tIns="0" rIns="0" bIns="0" rtlCol="0" anchor="t"/>
          <a:lstStyle/>
          <a:p>
            <a:pPr algn="l" indent="0" marL="0">
              <a:buNone/>
            </a:pPr>
            <a:r>
              <a:rPr lang="en-US" sz="2000" b="1" dirty="0">
                <a:solidFill>
                  <a:schemeClr val="tx1"/>
                </a:solidFill>
              </a:rPr>
              <a:t>Why BM25</a:t>
            </a:r>
            <a:endParaRPr lang="en-US" sz="2000" dirty="0"/>
          </a:p>
        </p:txBody>
      </p:sp>
      <p:sp>
        <p:nvSpPr>
          <p:cNvPr id="19" name="Text 17"/>
          <p:cNvSpPr txBox="1"/>
          <p:nvPr/>
        </p:nvSpPr>
        <p:spPr>
          <a:xfrm>
            <a:off x="1508760" y="5266944"/>
            <a:ext cx="4206240" cy="365760"/>
          </a:xfrm>
          <a:prstGeom prst="rect">
            <a:avLst/>
          </a:prstGeom>
          <a:noFill/>
          <a:ln/>
        </p:spPr>
        <p:txBody>
          <a:bodyPr wrap="square" lIns="0" tIns="0" rIns="0" bIns="0" rtlCol="0" anchor="t"/>
          <a:lstStyle/>
          <a:p>
            <a:pPr algn="l" indent="0" marL="0">
              <a:buNone/>
            </a:pPr>
            <a:r>
              <a:rPr lang="en-US" sz="1500" dirty="0">
                <a:solidFill>
                  <a:schemeClr val="tx2"/>
                </a:solidFill>
              </a:rPr>
              <a:t>Trade-offs, decision matrix, verdict</a:t>
            </a:r>
            <a:endParaRPr lang="en-US" sz="1500" dirty="0"/>
          </a:p>
        </p:txBody>
      </p:sp>
      <p:sp>
        <p:nvSpPr>
          <p:cNvPr id="20" name="Stat tile"/>
          <p:cNvSpPr/>
          <p:nvPr/>
        </p:nvSpPr>
        <p:spPr>
          <a:xfrm>
            <a:off x="6172200" y="1645920"/>
            <a:ext cx="2660904" cy="2011680"/>
          </a:xfrm>
          <a:prstGeom prst="roundRect">
            <a:avLst>
              <a:gd name="adj" fmla="val 3636"/>
            </a:avLst>
          </a:prstGeom>
          <a:solidFill>
            <a:schemeClr val="bg2"/>
          </a:solidFill>
          <a:ln/>
        </p:spPr>
      </p:sp>
      <p:sp>
        <p:nvSpPr>
          <p:cNvPr id="21" name="Text 19"/>
          <p:cNvSpPr txBox="1"/>
          <p:nvPr/>
        </p:nvSpPr>
        <p:spPr>
          <a:xfrm>
            <a:off x="6446520" y="1920240"/>
            <a:ext cx="2194560" cy="822960"/>
          </a:xfrm>
          <a:prstGeom prst="rect">
            <a:avLst/>
          </a:prstGeom>
          <a:noFill/>
          <a:ln/>
        </p:spPr>
        <p:txBody>
          <a:bodyPr wrap="square" lIns="0" tIns="0" rIns="0" bIns="0" rtlCol="0" anchor="t"/>
          <a:lstStyle/>
          <a:p>
            <a:pPr algn="l" indent="0" marL="0">
              <a:buNone/>
            </a:pPr>
            <a:r>
              <a:rPr lang="en-US" sz="4000" b="1" dirty="0">
                <a:solidFill>
                  <a:schemeClr val="tx1"/>
                </a:solidFill>
              </a:rPr>
              <a:t>251,115</a:t>
            </a:r>
            <a:endParaRPr lang="en-US" sz="4000" dirty="0"/>
          </a:p>
        </p:txBody>
      </p:sp>
      <p:sp>
        <p:nvSpPr>
          <p:cNvPr id="22" name="Text 20"/>
          <p:cNvSpPr txBox="1"/>
          <p:nvPr/>
        </p:nvSpPr>
        <p:spPr>
          <a:xfrm>
            <a:off x="6446520" y="2743200"/>
            <a:ext cx="2194560" cy="822960"/>
          </a:xfrm>
          <a:prstGeom prst="rect">
            <a:avLst/>
          </a:prstGeom>
          <a:noFill/>
          <a:ln/>
        </p:spPr>
        <p:txBody>
          <a:bodyPr wrap="square" lIns="0" tIns="0" rIns="0" bIns="0" rtlCol="0" anchor="t"/>
          <a:lstStyle/>
          <a:p>
            <a:pPr algn="l" indent="0" marL="0">
              <a:buNone/>
            </a:pPr>
            <a:r>
              <a:rPr lang="en-US" sz="1400" dirty="0">
                <a:solidFill>
                  <a:schemeClr val="tx2"/>
                </a:solidFill>
              </a:rPr>
              <a:t>unique emails indexed (from 517,401 raw)</a:t>
            </a:r>
            <a:endParaRPr lang="en-US" sz="1400" dirty="0"/>
          </a:p>
        </p:txBody>
      </p:sp>
      <p:sp>
        <p:nvSpPr>
          <p:cNvPr id="23" name="Stat tile"/>
          <p:cNvSpPr/>
          <p:nvPr/>
        </p:nvSpPr>
        <p:spPr>
          <a:xfrm>
            <a:off x="8979408" y="1645920"/>
            <a:ext cx="2660904" cy="2011680"/>
          </a:xfrm>
          <a:prstGeom prst="roundRect">
            <a:avLst>
              <a:gd name="adj" fmla="val 3636"/>
            </a:avLst>
          </a:prstGeom>
          <a:solidFill>
            <a:schemeClr val="bg2"/>
          </a:solidFill>
          <a:ln/>
        </p:spPr>
      </p:sp>
      <p:sp>
        <p:nvSpPr>
          <p:cNvPr id="24" name="Text 22"/>
          <p:cNvSpPr txBox="1"/>
          <p:nvPr/>
        </p:nvSpPr>
        <p:spPr>
          <a:xfrm>
            <a:off x="9253728" y="1920240"/>
            <a:ext cx="2194560" cy="822960"/>
          </a:xfrm>
          <a:prstGeom prst="rect">
            <a:avLst/>
          </a:prstGeom>
          <a:noFill/>
          <a:ln/>
        </p:spPr>
        <p:txBody>
          <a:bodyPr wrap="square" lIns="0" tIns="0" rIns="0" bIns="0" rtlCol="0" anchor="t"/>
          <a:lstStyle/>
          <a:p>
            <a:pPr algn="l" indent="0" marL="0">
              <a:buNone/>
            </a:pPr>
            <a:r>
              <a:rPr lang="en-US" sz="4000" b="1" dirty="0">
                <a:solidFill>
                  <a:schemeClr val="tx1"/>
                </a:solidFill>
              </a:rPr>
              <a:t>5 ms</a:t>
            </a:r>
            <a:endParaRPr lang="en-US" sz="4000" dirty="0"/>
          </a:p>
        </p:txBody>
      </p:sp>
      <p:sp>
        <p:nvSpPr>
          <p:cNvPr id="25" name="Text 23"/>
          <p:cNvSpPr txBox="1"/>
          <p:nvPr/>
        </p:nvSpPr>
        <p:spPr>
          <a:xfrm>
            <a:off x="9253728" y="2743200"/>
            <a:ext cx="2194560" cy="822960"/>
          </a:xfrm>
          <a:prstGeom prst="rect">
            <a:avLst/>
          </a:prstGeom>
          <a:noFill/>
          <a:ln/>
        </p:spPr>
        <p:txBody>
          <a:bodyPr wrap="square" lIns="0" tIns="0" rIns="0" bIns="0" rtlCol="0" anchor="t"/>
          <a:lstStyle/>
          <a:p>
            <a:pPr algn="l" indent="0" marL="0">
              <a:buNone/>
            </a:pPr>
            <a:r>
              <a:rPr lang="en-US" sz="1400" dirty="0">
                <a:solidFill>
                  <a:schemeClr val="tx2"/>
                </a:solidFill>
              </a:rPr>
              <a:t>per BM25 query, about 8× faster than TF-IDF</a:t>
            </a:r>
            <a:endParaRPr lang="en-US" sz="1400" dirty="0"/>
          </a:p>
        </p:txBody>
      </p:sp>
      <p:sp>
        <p:nvSpPr>
          <p:cNvPr id="26" name="Stat tile"/>
          <p:cNvSpPr/>
          <p:nvPr/>
        </p:nvSpPr>
        <p:spPr>
          <a:xfrm>
            <a:off x="6172200" y="3840480"/>
            <a:ext cx="2660904" cy="2011680"/>
          </a:xfrm>
          <a:prstGeom prst="roundRect">
            <a:avLst>
              <a:gd name="adj" fmla="val 3636"/>
            </a:avLst>
          </a:prstGeom>
          <a:solidFill>
            <a:schemeClr val="tx1"/>
          </a:solidFill>
          <a:ln/>
        </p:spPr>
      </p:sp>
      <p:sp>
        <p:nvSpPr>
          <p:cNvPr id="27" name="Text 25"/>
          <p:cNvSpPr txBox="1"/>
          <p:nvPr/>
        </p:nvSpPr>
        <p:spPr>
          <a:xfrm>
            <a:off x="6446520" y="4114800"/>
            <a:ext cx="2194560" cy="822960"/>
          </a:xfrm>
          <a:prstGeom prst="rect">
            <a:avLst/>
          </a:prstGeom>
          <a:noFill/>
          <a:ln/>
        </p:spPr>
        <p:txBody>
          <a:bodyPr wrap="square" lIns="0" tIns="0" rIns="0" bIns="0" rtlCol="0" anchor="t"/>
          <a:lstStyle/>
          <a:p>
            <a:pPr algn="l" indent="0" marL="0">
              <a:buNone/>
            </a:pPr>
            <a:r>
              <a:rPr lang="en-US" sz="4000" b="1" dirty="0">
                <a:solidFill>
                  <a:schemeClr val="accent1"/>
                </a:solidFill>
              </a:rPr>
              <a:t>+4.1%</a:t>
            </a:r>
            <a:endParaRPr lang="en-US" sz="4000" dirty="0"/>
          </a:p>
        </p:txBody>
      </p:sp>
      <p:sp>
        <p:nvSpPr>
          <p:cNvPr id="28" name="Text 26"/>
          <p:cNvSpPr txBox="1"/>
          <p:nvPr/>
        </p:nvSpPr>
        <p:spPr>
          <a:xfrm>
            <a:off x="6446520" y="4937760"/>
            <a:ext cx="2194560" cy="822960"/>
          </a:xfrm>
          <a:prstGeom prst="rect">
            <a:avLst/>
          </a:prstGeom>
          <a:noFill/>
          <a:ln/>
        </p:spPr>
        <p:txBody>
          <a:bodyPr wrap="square" lIns="0" tIns="0" rIns="0" bIns="0" rtlCol="0" anchor="t"/>
          <a:lstStyle/>
          <a:p>
            <a:pPr algn="l" indent="0" marL="0">
              <a:buNone/>
            </a:pPr>
            <a:r>
              <a:rPr lang="en-US" sz="1400" dirty="0">
                <a:solidFill>
                  <a:schemeClr val="bg1"/>
                </a:solidFill>
              </a:rPr>
              <a:t>nDCG@10 for BM25 over TF-IDF on human-labelled queries</a:t>
            </a:r>
            <a:endParaRPr lang="en-US" sz="1400" dirty="0"/>
          </a:p>
        </p:txBody>
      </p:sp>
      <p:sp>
        <p:nvSpPr>
          <p:cNvPr id="29" name="Stat tile"/>
          <p:cNvSpPr/>
          <p:nvPr/>
        </p:nvSpPr>
        <p:spPr>
          <a:xfrm>
            <a:off x="8979408" y="3840480"/>
            <a:ext cx="2660904" cy="2011680"/>
          </a:xfrm>
          <a:prstGeom prst="roundRect">
            <a:avLst>
              <a:gd name="adj" fmla="val 3636"/>
            </a:avLst>
          </a:prstGeom>
          <a:solidFill>
            <a:schemeClr val="bg2"/>
          </a:solidFill>
          <a:ln/>
        </p:spPr>
      </p:sp>
      <p:sp>
        <p:nvSpPr>
          <p:cNvPr id="30" name="Text 28"/>
          <p:cNvSpPr txBox="1"/>
          <p:nvPr/>
        </p:nvSpPr>
        <p:spPr>
          <a:xfrm>
            <a:off x="9253728" y="4114800"/>
            <a:ext cx="2194560" cy="822960"/>
          </a:xfrm>
          <a:prstGeom prst="rect">
            <a:avLst/>
          </a:prstGeom>
          <a:noFill/>
          <a:ln/>
        </p:spPr>
        <p:txBody>
          <a:bodyPr wrap="square" lIns="0" tIns="0" rIns="0" bIns="0" rtlCol="0" anchor="t"/>
          <a:lstStyle/>
          <a:p>
            <a:pPr algn="l" indent="0" marL="0">
              <a:buNone/>
            </a:pPr>
            <a:r>
              <a:rPr lang="en-US" sz="4000" b="1" dirty="0">
                <a:solidFill>
                  <a:schemeClr val="tx1"/>
                </a:solidFill>
              </a:rPr>
              <a:t>0</a:t>
            </a:r>
            <a:endParaRPr lang="en-US" sz="4000" dirty="0"/>
          </a:p>
        </p:txBody>
      </p:sp>
      <p:sp>
        <p:nvSpPr>
          <p:cNvPr id="31" name="Text 29"/>
          <p:cNvSpPr txBox="1"/>
          <p:nvPr/>
        </p:nvSpPr>
        <p:spPr>
          <a:xfrm>
            <a:off x="9253728" y="4937760"/>
            <a:ext cx="2194560" cy="822960"/>
          </a:xfrm>
          <a:prstGeom prst="rect">
            <a:avLst/>
          </a:prstGeom>
          <a:noFill/>
          <a:ln/>
        </p:spPr>
        <p:txBody>
          <a:bodyPr wrap="square" lIns="0" tIns="0" rIns="0" bIns="0" rtlCol="0" anchor="t"/>
          <a:lstStyle/>
          <a:p>
            <a:pPr algn="l" indent="0" marL="0">
              <a:buNone/>
            </a:pPr>
            <a:r>
              <a:rPr lang="en-US" sz="1400" dirty="0">
                <a:solidFill>
                  <a:schemeClr val="tx2"/>
                </a:solidFill>
              </a:rPr>
              <a:t>training labels or GPUs needed</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lIns="0" tIns="0" rIns="0" bIns="0" rtlCol="0"/>
          <a:lstStyle/>
          <a:p>
            <a:pPr indent="0" marL="0">
              <a:buNone/>
            </a:pPr>
            <a:r>
              <a:rPr lang="en-US" sz="6000" b="1" dirty="0">
                <a:solidFill>
                  <a:schemeClr val="accent1"/>
                </a:solidFill>
              </a:rPr>
              <a:t>01</a:t>
            </a: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lIns="0" tIns="0" rIns="0" bIns="0" rtlCol="0"/>
          <a:lstStyle/>
          <a:p>
            <a:pPr algn="l" indent="0" marL="0">
              <a:buNone/>
            </a:pPr>
            <a:r>
              <a:rPr lang="en-US" sz="4400" b="1" dirty="0">
                <a:solidFill>
                  <a:schemeClr val="bg1"/>
                </a:solidFill>
              </a:rPr>
              <a:t>The project</a:t>
            </a: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lIns="0" tIns="0" rIns="0" bIns="0" rtlCol="0" anchor="t"/>
          <a:lstStyle/>
          <a:p>
            <a:pPr indent="0" marL="0">
              <a:buNone/>
            </a:pPr>
            <a:r>
              <a:rPr lang="en-US" sz="2000" dirty="0">
                <a:solidFill>
                  <a:schemeClr val="accent5"/>
                </a:solidFill>
              </a:rPr>
              <a:t>What we built, on what data, and how it runs</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PROJECT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 search engine for real corporate email</a:t>
            </a:r>
            <a:endParaRPr lang="en-US" sz="3200" dirty="0"/>
          </a:p>
        </p:txBody>
      </p:sp>
      <p:sp>
        <p:nvSpPr>
          <p:cNvPr id="4" name="Text 2"/>
          <p:cNvSpPr txBox="1"/>
          <p:nvPr/>
        </p:nvSpPr>
        <p:spPr>
          <a:xfrm>
            <a:off x="548640" y="1600200"/>
            <a:ext cx="6035040" cy="822960"/>
          </a:xfrm>
          <a:prstGeom prst="rect">
            <a:avLst/>
          </a:prstGeom>
          <a:noFill/>
          <a:ln/>
        </p:spPr>
        <p:txBody>
          <a:bodyPr wrap="square" lIns="0" tIns="0" rIns="0" bIns="0" rtlCol="0" anchor="t"/>
          <a:lstStyle/>
          <a:p>
            <a:pPr algn="l" indent="0" marL="0">
              <a:buNone/>
            </a:pPr>
            <a:r>
              <a:rPr lang="en-US" sz="2000" dirty="0">
                <a:solidFill>
                  <a:schemeClr val="tx1"/>
                </a:solidFill>
              </a:rPr>
              <a:t>Type a query → get the most relevant Enron emails, ranked by TF-IDF and BM25 side by side.</a:t>
            </a:r>
            <a:endParaRPr lang="en-US" sz="2000" dirty="0"/>
          </a:p>
        </p:txBody>
      </p:sp>
      <p:sp>
        <p:nvSpPr>
          <p:cNvPr id="5" name="Icon circle"/>
          <p:cNvSpPr/>
          <p:nvPr/>
        </p:nvSpPr>
        <p:spPr>
          <a:xfrm>
            <a:off x="548640" y="2743200"/>
            <a:ext cx="685800" cy="685800"/>
          </a:xfrm>
          <a:prstGeom prst="ellipse">
            <a:avLst/>
          </a:prstGeom>
          <a:solidFill>
            <a:schemeClr val="tx1"/>
          </a:solidFill>
          <a:ln/>
        </p:spPr>
      </p:sp>
      <p:pic>
        <p:nvPicPr>
          <p:cNvPr id="6" name="Image 0" descr="icon">    </p:cNvPr>
          <p:cNvPicPr>
            <a:picLocks noChangeAspect="1"/>
          </p:cNvPicPr>
          <p:nvPr/>
        </p:nvPicPr>
        <p:blipFill>
          <a:blip r:embed="rId1"/>
          <a:stretch>
            <a:fillRect/>
          </a:stretch>
        </p:blipFill>
        <p:spPr>
          <a:xfrm>
            <a:off x="720090" y="2914650"/>
            <a:ext cx="342900" cy="342900"/>
          </a:xfrm>
          <a:prstGeom prst="rect">
            <a:avLst/>
          </a:prstGeom>
        </p:spPr>
      </p:pic>
      <p:sp>
        <p:nvSpPr>
          <p:cNvPr id="7" name="Text 4"/>
          <p:cNvSpPr txBox="1"/>
          <p:nvPr/>
        </p:nvSpPr>
        <p:spPr>
          <a:xfrm>
            <a:off x="1463040" y="2743200"/>
            <a:ext cx="5120640" cy="347472"/>
          </a:xfrm>
          <a:prstGeom prst="rect">
            <a:avLst/>
          </a:prstGeom>
          <a:noFill/>
          <a:ln/>
        </p:spPr>
        <p:txBody>
          <a:bodyPr wrap="square" lIns="0" tIns="0" rIns="0" bIns="0" rtlCol="0" anchor="t"/>
          <a:lstStyle/>
          <a:p>
            <a:pPr algn="l" indent="0" marL="0">
              <a:buNone/>
            </a:pPr>
            <a:r>
              <a:rPr lang="en-US" sz="1800" b="1" dirty="0">
                <a:solidFill>
                  <a:schemeClr val="tx1"/>
                </a:solidFill>
              </a:rPr>
              <a:t>Understand</a:t>
            </a:r>
            <a:endParaRPr lang="en-US" sz="1800" dirty="0"/>
          </a:p>
        </p:txBody>
      </p:sp>
      <p:sp>
        <p:nvSpPr>
          <p:cNvPr id="8" name="Text 5"/>
          <p:cNvSpPr txBox="1"/>
          <p:nvPr/>
        </p:nvSpPr>
        <p:spPr>
          <a:xfrm>
            <a:off x="1463040" y="3090672"/>
            <a:ext cx="5120640" cy="365760"/>
          </a:xfrm>
          <a:prstGeom prst="rect">
            <a:avLst/>
          </a:prstGeom>
          <a:noFill/>
          <a:ln/>
        </p:spPr>
        <p:txBody>
          <a:bodyPr wrap="square" lIns="0" tIns="0" rIns="0" bIns="0" rtlCol="0" anchor="t"/>
          <a:lstStyle/>
          <a:p>
            <a:pPr algn="l" indent="0" marL="0">
              <a:buNone/>
            </a:pPr>
            <a:r>
              <a:rPr lang="en-US" sz="1500" dirty="0">
                <a:solidFill>
                  <a:schemeClr val="tx2"/>
                </a:solidFill>
              </a:rPr>
              <a:t>how search engines decide which document comes first</a:t>
            </a:r>
            <a:endParaRPr lang="en-US" sz="1500" dirty="0"/>
          </a:p>
        </p:txBody>
      </p:sp>
      <p:sp>
        <p:nvSpPr>
          <p:cNvPr id="9" name="Icon circle"/>
          <p:cNvSpPr/>
          <p:nvPr/>
        </p:nvSpPr>
        <p:spPr>
          <a:xfrm>
            <a:off x="548640" y="3794760"/>
            <a:ext cx="685800" cy="685800"/>
          </a:xfrm>
          <a:prstGeom prst="ellipse">
            <a:avLst/>
          </a:prstGeom>
          <a:solidFill>
            <a:schemeClr val="tx1"/>
          </a:solidFill>
          <a:ln/>
        </p:spPr>
      </p:sp>
      <p:pic>
        <p:nvPicPr>
          <p:cNvPr id="10" name="Image 1" descr="icon">    </p:cNvPr>
          <p:cNvPicPr>
            <a:picLocks noChangeAspect="1"/>
          </p:cNvPicPr>
          <p:nvPr/>
        </p:nvPicPr>
        <p:blipFill>
          <a:blip r:embed="rId2"/>
          <a:stretch>
            <a:fillRect/>
          </a:stretch>
        </p:blipFill>
        <p:spPr>
          <a:xfrm>
            <a:off x="720090" y="3966210"/>
            <a:ext cx="342900" cy="342900"/>
          </a:xfrm>
          <a:prstGeom prst="rect">
            <a:avLst/>
          </a:prstGeom>
        </p:spPr>
      </p:pic>
      <p:sp>
        <p:nvSpPr>
          <p:cNvPr id="11" name="Text 7"/>
          <p:cNvSpPr txBox="1"/>
          <p:nvPr/>
        </p:nvSpPr>
        <p:spPr>
          <a:xfrm>
            <a:off x="1463040" y="3794760"/>
            <a:ext cx="5120640" cy="347472"/>
          </a:xfrm>
          <a:prstGeom prst="rect">
            <a:avLst/>
          </a:prstGeom>
          <a:noFill/>
          <a:ln/>
        </p:spPr>
        <p:txBody>
          <a:bodyPr wrap="square" lIns="0" tIns="0" rIns="0" bIns="0" rtlCol="0" anchor="t"/>
          <a:lstStyle/>
          <a:p>
            <a:pPr algn="l" indent="0" marL="0">
              <a:buNone/>
            </a:pPr>
            <a:r>
              <a:rPr lang="en-US" sz="1800" b="1" dirty="0">
                <a:solidFill>
                  <a:schemeClr val="tx1"/>
                </a:solidFill>
              </a:rPr>
              <a:t>Implement</a:t>
            </a:r>
            <a:endParaRPr lang="en-US" sz="1800" dirty="0"/>
          </a:p>
        </p:txBody>
      </p:sp>
      <p:sp>
        <p:nvSpPr>
          <p:cNvPr id="12" name="Text 8"/>
          <p:cNvSpPr txBox="1"/>
          <p:nvPr/>
        </p:nvSpPr>
        <p:spPr>
          <a:xfrm>
            <a:off x="1463040" y="4142232"/>
            <a:ext cx="5120640" cy="365760"/>
          </a:xfrm>
          <a:prstGeom prst="rect">
            <a:avLst/>
          </a:prstGeom>
          <a:noFill/>
          <a:ln/>
        </p:spPr>
        <p:txBody>
          <a:bodyPr wrap="square" lIns="0" tIns="0" rIns="0" bIns="0" rtlCol="0" anchor="t"/>
          <a:lstStyle/>
          <a:p>
            <a:pPr algn="l" indent="0" marL="0">
              <a:buNone/>
            </a:pPr>
            <a:r>
              <a:rPr lang="en-US" sz="1500" dirty="0">
                <a:solidFill>
                  <a:schemeClr val="tx2"/>
                </a:solidFill>
              </a:rPr>
              <a:t>two classic ranking algorithms ourselves, in plain Python</a:t>
            </a:r>
            <a:endParaRPr lang="en-US" sz="1500" dirty="0"/>
          </a:p>
        </p:txBody>
      </p:sp>
      <p:sp>
        <p:nvSpPr>
          <p:cNvPr id="13" name="Icon circle"/>
          <p:cNvSpPr/>
          <p:nvPr/>
        </p:nvSpPr>
        <p:spPr>
          <a:xfrm>
            <a:off x="548640" y="4846320"/>
            <a:ext cx="685800" cy="685800"/>
          </a:xfrm>
          <a:prstGeom prst="ellipse">
            <a:avLst/>
          </a:prstGeom>
          <a:solidFill>
            <a:schemeClr val="accent1"/>
          </a:solidFill>
          <a:ln/>
        </p:spPr>
      </p:sp>
      <p:pic>
        <p:nvPicPr>
          <p:cNvPr id="14" name="Image 2" descr="icon">    </p:cNvPr>
          <p:cNvPicPr>
            <a:picLocks noChangeAspect="1"/>
          </p:cNvPicPr>
          <p:nvPr/>
        </p:nvPicPr>
        <p:blipFill>
          <a:blip r:embed="rId3"/>
          <a:stretch>
            <a:fillRect/>
          </a:stretch>
        </p:blipFill>
        <p:spPr>
          <a:xfrm>
            <a:off x="720090" y="5017770"/>
            <a:ext cx="342900" cy="342900"/>
          </a:xfrm>
          <a:prstGeom prst="rect">
            <a:avLst/>
          </a:prstGeom>
        </p:spPr>
      </p:pic>
      <p:sp>
        <p:nvSpPr>
          <p:cNvPr id="15" name="Text 10"/>
          <p:cNvSpPr txBox="1"/>
          <p:nvPr/>
        </p:nvSpPr>
        <p:spPr>
          <a:xfrm>
            <a:off x="1463040" y="4846320"/>
            <a:ext cx="5120640" cy="347472"/>
          </a:xfrm>
          <a:prstGeom prst="rect">
            <a:avLst/>
          </a:prstGeom>
          <a:noFill/>
          <a:ln/>
        </p:spPr>
        <p:txBody>
          <a:bodyPr wrap="square" lIns="0" tIns="0" rIns="0" bIns="0" rtlCol="0" anchor="t"/>
          <a:lstStyle/>
          <a:p>
            <a:pPr algn="l" indent="0" marL="0">
              <a:buNone/>
            </a:pPr>
            <a:r>
              <a:rPr lang="en-US" sz="1800" b="1" dirty="0">
                <a:solidFill>
                  <a:schemeClr val="tx1"/>
                </a:solidFill>
              </a:rPr>
              <a:t>Benchmark</a:t>
            </a:r>
            <a:endParaRPr lang="en-US" sz="1800" dirty="0"/>
          </a:p>
        </p:txBody>
      </p:sp>
      <p:sp>
        <p:nvSpPr>
          <p:cNvPr id="16" name="Text 11"/>
          <p:cNvSpPr txBox="1"/>
          <p:nvPr/>
        </p:nvSpPr>
        <p:spPr>
          <a:xfrm>
            <a:off x="1463040" y="5193792"/>
            <a:ext cx="5120640" cy="365760"/>
          </a:xfrm>
          <a:prstGeom prst="rect">
            <a:avLst/>
          </a:prstGeom>
          <a:noFill/>
          <a:ln/>
        </p:spPr>
        <p:txBody>
          <a:bodyPr wrap="square" lIns="0" tIns="0" rIns="0" bIns="0" rtlCol="0" anchor="t"/>
          <a:lstStyle/>
          <a:p>
            <a:pPr algn="l" indent="0" marL="0">
              <a:buNone/>
            </a:pPr>
            <a:r>
              <a:rPr lang="en-US" sz="1500" dirty="0">
                <a:solidFill>
                  <a:schemeClr val="tx2"/>
                </a:solidFill>
              </a:rPr>
              <a:t>them against each other and against the wider field</a:t>
            </a:r>
            <a:endParaRPr lang="en-US" sz="1500" dirty="0"/>
          </a:p>
        </p:txBody>
      </p:sp>
      <p:sp>
        <p:nvSpPr>
          <p:cNvPr id="17" name="Mock search UI"/>
          <p:cNvSpPr/>
          <p:nvPr/>
        </p:nvSpPr>
        <p:spPr>
          <a:xfrm>
            <a:off x="7223760" y="1600200"/>
            <a:ext cx="4416552" cy="3566160"/>
          </a:xfrm>
          <a:prstGeom prst="roundRect">
            <a:avLst>
              <a:gd name="adj" fmla="val 2051"/>
            </a:avLst>
          </a:prstGeom>
          <a:solidFill>
            <a:schemeClr val="bg1"/>
          </a:solidFill>
          <a:ln w="12700">
            <a:solidFill>
              <a:srgbClr val="D9DDE4"/>
            </a:solidFill>
            <a:prstDash val="solid"/>
          </a:ln>
        </p:spPr>
      </p:sp>
      <p:sp>
        <p:nvSpPr>
          <p:cNvPr id="18" name="Search bar"/>
          <p:cNvSpPr/>
          <p:nvPr/>
        </p:nvSpPr>
        <p:spPr>
          <a:xfrm>
            <a:off x="7498080" y="1874520"/>
            <a:ext cx="3867912" cy="457200"/>
          </a:xfrm>
          <a:prstGeom prst="roundRect">
            <a:avLst>
              <a:gd name="adj" fmla="val 50000"/>
            </a:avLst>
          </a:prstGeom>
          <a:solidFill>
            <a:schemeClr val="bg1"/>
          </a:solidFill>
          <a:ln w="12700">
            <a:solidFill>
              <a:srgbClr val="D9DDE4"/>
            </a:solidFill>
            <a:prstDash val="solid"/>
          </a:ln>
        </p:spPr>
      </p:sp>
      <p:sp>
        <p:nvSpPr>
          <p:cNvPr id="19" name="Text 14"/>
          <p:cNvSpPr txBox="1"/>
          <p:nvPr/>
        </p:nvSpPr>
        <p:spPr>
          <a:xfrm>
            <a:off x="7680960" y="1874520"/>
            <a:ext cx="3502152" cy="45720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  stock options</a:t>
            </a:r>
            <a:endParaRPr lang="en-US" sz="1500" dirty="0"/>
          </a:p>
        </p:txBody>
      </p:sp>
      <p:sp>
        <p:nvSpPr>
          <p:cNvPr id="20" name="Text 15"/>
          <p:cNvSpPr txBox="1"/>
          <p:nvPr/>
        </p:nvSpPr>
        <p:spPr>
          <a:xfrm>
            <a:off x="7498080" y="2560320"/>
            <a:ext cx="1796796" cy="274320"/>
          </a:xfrm>
          <a:prstGeom prst="rect">
            <a:avLst/>
          </a:prstGeom>
          <a:noFill/>
          <a:ln/>
        </p:spPr>
        <p:txBody>
          <a:bodyPr wrap="square" lIns="0" tIns="0" rIns="0" bIns="0" rtlCol="0" anchor="t"/>
          <a:lstStyle/>
          <a:p>
            <a:pPr algn="l" indent="0" marL="0">
              <a:buNone/>
            </a:pPr>
            <a:r>
              <a:rPr lang="en-US" sz="1400" b="1" dirty="0">
                <a:solidFill>
                  <a:schemeClr val="accent2"/>
                </a:solidFill>
              </a:rPr>
              <a:t>TF-IDF</a:t>
            </a:r>
            <a:endParaRPr lang="en-US" sz="1400" dirty="0"/>
          </a:p>
        </p:txBody>
      </p:sp>
      <p:sp>
        <p:nvSpPr>
          <p:cNvPr id="21" name="Text 16"/>
          <p:cNvSpPr txBox="1"/>
          <p:nvPr/>
        </p:nvSpPr>
        <p:spPr>
          <a:xfrm>
            <a:off x="7498080" y="2926080"/>
            <a:ext cx="1796796"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Options</a:t>
            </a:r>
            <a:endParaRPr lang="en-US" sz="1300" dirty="0"/>
          </a:p>
          <a:p>
            <a:pPr indent="0" marL="0">
              <a:spcAft>
                <a:spcPts val="400"/>
              </a:spcAft>
              <a:buNone/>
            </a:pPr>
            <a:r>
              <a:rPr lang="en-US" sz="1200" dirty="0">
                <a:solidFill>
                  <a:schemeClr val="tx2"/>
                </a:solidFill>
              </a:rPr>
              <a:t>9 words</a:t>
            </a:r>
            <a:endParaRPr lang="en-US" sz="1300" dirty="0"/>
          </a:p>
          <a:p>
            <a:pPr indent="0" marL="0">
              <a:spcAft>
                <a:spcPts val="400"/>
              </a:spcAft>
              <a:buNone/>
            </a:pPr>
            <a:r>
              <a:rPr lang="en-US" sz="1300" b="1" dirty="0">
                <a:solidFill>
                  <a:schemeClr val="tx1"/>
                </a:solidFill>
              </a:rPr>
              <a:t>2. (no subject)</a:t>
            </a:r>
            <a:endParaRPr lang="en-US" sz="1300" dirty="0"/>
          </a:p>
          <a:p>
            <a:pPr indent="0" marL="0">
              <a:spcAft>
                <a:spcPts val="400"/>
              </a:spcAft>
              <a:buNone/>
            </a:pPr>
            <a:r>
              <a:rPr lang="en-US" sz="1200" dirty="0">
                <a:solidFill>
                  <a:schemeClr val="tx2"/>
                </a:solidFill>
              </a:rPr>
              <a:t>6 words</a:t>
            </a:r>
            <a:endParaRPr lang="en-US" sz="1300" dirty="0"/>
          </a:p>
          <a:p>
            <a:pPr indent="0" marL="0">
              <a:spcAft>
                <a:spcPts val="400"/>
              </a:spcAft>
              <a:buNone/>
            </a:pPr>
            <a:r>
              <a:rPr lang="en-US" sz="1300" b="1" dirty="0">
                <a:solidFill>
                  <a:schemeClr val="tx1"/>
                </a:solidFill>
              </a:rPr>
              <a:t>3. Re: Options</a:t>
            </a:r>
            <a:endParaRPr lang="en-US" sz="1300" dirty="0"/>
          </a:p>
          <a:p>
            <a:pPr indent="0" marL="0">
              <a:spcAft>
                <a:spcPts val="400"/>
              </a:spcAft>
              <a:buNone/>
            </a:pPr>
            <a:r>
              <a:rPr lang="en-US" sz="1200" dirty="0">
                <a:solidFill>
                  <a:schemeClr val="tx2"/>
                </a:solidFill>
              </a:rPr>
              <a:t>11 words</a:t>
            </a:r>
            <a:endParaRPr lang="en-US" sz="1300" dirty="0"/>
          </a:p>
        </p:txBody>
      </p:sp>
      <p:sp>
        <p:nvSpPr>
          <p:cNvPr id="22" name="Text 17"/>
          <p:cNvSpPr txBox="1"/>
          <p:nvPr/>
        </p:nvSpPr>
        <p:spPr>
          <a:xfrm>
            <a:off x="9569196" y="2560320"/>
            <a:ext cx="1796796" cy="274320"/>
          </a:xfrm>
          <a:prstGeom prst="rect">
            <a:avLst/>
          </a:prstGeom>
          <a:noFill/>
          <a:ln/>
        </p:spPr>
        <p:txBody>
          <a:bodyPr wrap="square" lIns="0" tIns="0" rIns="0" bIns="0" rtlCol="0" anchor="t"/>
          <a:lstStyle/>
          <a:p>
            <a:pPr algn="l" indent="0" marL="0">
              <a:buNone/>
            </a:pPr>
            <a:r>
              <a:rPr lang="en-US" sz="1400" b="1" dirty="0">
                <a:solidFill>
                  <a:schemeClr val="accent1"/>
                </a:solidFill>
              </a:rPr>
              <a:t>BM25</a:t>
            </a:r>
            <a:endParaRPr lang="en-US" sz="1400" dirty="0"/>
          </a:p>
        </p:txBody>
      </p:sp>
      <p:sp>
        <p:nvSpPr>
          <p:cNvPr id="23" name="Text 18"/>
          <p:cNvSpPr txBox="1"/>
          <p:nvPr/>
        </p:nvSpPr>
        <p:spPr>
          <a:xfrm>
            <a:off x="9569196" y="2926080"/>
            <a:ext cx="1796796"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ENE Options</a:t>
            </a:r>
            <a:endParaRPr lang="en-US" sz="1300" dirty="0"/>
          </a:p>
          <a:p>
            <a:pPr indent="0" marL="0">
              <a:spcAft>
                <a:spcPts val="400"/>
              </a:spcAft>
              <a:buNone/>
            </a:pPr>
            <a:r>
              <a:rPr lang="en-US" sz="1200" dirty="0">
                <a:solidFill>
                  <a:schemeClr val="tx2"/>
                </a:solidFill>
              </a:rPr>
              <a:t>159 words</a:t>
            </a:r>
            <a:endParaRPr lang="en-US" sz="1300" dirty="0"/>
          </a:p>
          <a:p>
            <a:pPr indent="0" marL="0">
              <a:spcAft>
                <a:spcPts val="400"/>
              </a:spcAft>
              <a:buNone/>
            </a:pPr>
            <a:r>
              <a:rPr lang="en-US" sz="1300" b="1" dirty="0">
                <a:solidFill>
                  <a:schemeClr val="tx1"/>
                </a:solidFill>
              </a:rPr>
              <a:t>2. 2001 Special Stock Option Grant Awards</a:t>
            </a:r>
            <a:endParaRPr lang="en-US" sz="1300" dirty="0"/>
          </a:p>
          <a:p>
            <a:pPr indent="0" marL="0">
              <a:spcAft>
                <a:spcPts val="400"/>
              </a:spcAft>
              <a:buNone/>
            </a:pPr>
            <a:r>
              <a:rPr lang="en-US" sz="1200" dirty="0">
                <a:solidFill>
                  <a:schemeClr val="tx2"/>
                </a:solidFill>
              </a:rPr>
              <a:t>250 words</a:t>
            </a:r>
            <a:endParaRPr lang="en-US" sz="1300" dirty="0"/>
          </a:p>
        </p:txBody>
      </p:sp>
      <p:sp>
        <p:nvSpPr>
          <p:cNvPr id="24" name="Text 19"/>
          <p:cNvSpPr txBox="1"/>
          <p:nvPr/>
        </p:nvSpPr>
        <p:spPr>
          <a:xfrm>
            <a:off x="7223760" y="5303520"/>
            <a:ext cx="4416552" cy="640080"/>
          </a:xfrm>
          <a:prstGeom prst="rect">
            <a:avLst/>
          </a:prstGeom>
          <a:noFill/>
          <a:ln/>
        </p:spPr>
        <p:txBody>
          <a:bodyPr wrap="square" lIns="0" tIns="0" rIns="0" bIns="0" rtlCol="0" anchor="t"/>
          <a:lstStyle/>
          <a:p>
            <a:pPr algn="l" indent="0" marL="0">
              <a:buNone/>
            </a:pPr>
            <a:r>
              <a:rPr lang="en-US" sz="1300" i="1" dirty="0">
                <a:solidFill>
                  <a:schemeClr val="tx2"/>
                </a:solidFill>
              </a:rPr>
              <a:t>Real result for “stock options”: TF-IDF surfaces 6–11 word emails; BM25 finds the actual option announcements.</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DATA</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The Enron dataset: 517k emails, half of them copies</a:t>
            </a:r>
            <a:endParaRPr lang="en-US" sz="3200" dirty="0"/>
          </a:p>
        </p:txBody>
      </p:sp>
      <p:sp>
        <p:nvSpPr>
          <p:cNvPr id="4" name="Text 2"/>
          <p:cNvSpPr txBox="1"/>
          <p:nvPr/>
        </p:nvSpPr>
        <p:spPr>
          <a:xfrm>
            <a:off x="548640" y="1645920"/>
            <a:ext cx="4937760" cy="2743200"/>
          </a:xfrm>
          <a:prstGeom prst="rect">
            <a:avLst/>
          </a:prstGeom>
          <a:noFill/>
          <a:ln/>
        </p:spPr>
        <p:txBody>
          <a:bodyPr wrap="square" lIns="0" tIns="0" rIns="0" bIns="0" rtlCol="0" anchor="t"/>
          <a:lstStyle/>
          <a:p>
            <a:pPr algn="l" indent="0" marL="0">
              <a:spcAft>
                <a:spcPts val="1400"/>
              </a:spcAft>
              <a:buNone/>
            </a:pPr>
            <a:r>
              <a:rPr lang="en-US" sz="1700" dirty="0">
                <a:solidFill>
                  <a:schemeClr val="tx1"/>
                </a:solidFill>
              </a:rPr>
              <a:t>In 2001 Enron, a giant US energy company, collapsed after a massive accounting fraud.</a:t>
            </a:r>
            <a:endParaRPr lang="en-US" sz="1700" dirty="0"/>
          </a:p>
          <a:p>
            <a:pPr algn="l" indent="0" marL="0">
              <a:spcAft>
                <a:spcPts val="1400"/>
              </a:spcAft>
              <a:buNone/>
            </a:pPr>
            <a:r>
              <a:rPr lang="en-US" sz="1700" dirty="0">
                <a:solidFill>
                  <a:schemeClr val="tx1"/>
                </a:solidFill>
              </a:rPr>
              <a:t>During the investigation the US regulator (FERC) made its employees’ emails public.</a:t>
            </a:r>
            <a:endParaRPr lang="en-US" sz="1700" dirty="0"/>
          </a:p>
          <a:p>
            <a:pPr algn="l" indent="0" marL="0">
              <a:spcAft>
                <a:spcPts val="1400"/>
              </a:spcAft>
              <a:buNone/>
            </a:pPr>
            <a:r>
              <a:rPr lang="en-US" sz="1700" b="1" dirty="0">
                <a:solidFill>
                  <a:schemeClr val="tx1"/>
                </a:solidFill>
              </a:rPr>
              <a:t>It is the largest public collection of real corporate email, a standard dataset for search and NLP research.</a:t>
            </a:r>
            <a:endParaRPr lang="en-US" sz="1700" dirty="0"/>
          </a:p>
        </p:txBody>
      </p:sp>
      <p:sp>
        <p:nvSpPr>
          <p:cNvPr id="5" name="Dedupe note"/>
          <p:cNvSpPr/>
          <p:nvPr/>
        </p:nvSpPr>
        <p:spPr>
          <a:xfrm>
            <a:off x="548640" y="4343400"/>
            <a:ext cx="4937760" cy="1325880"/>
          </a:xfrm>
          <a:prstGeom prst="roundRect">
            <a:avLst>
              <a:gd name="adj" fmla="val 5517"/>
            </a:avLst>
          </a:prstGeom>
          <a:solidFill>
            <a:schemeClr val="bg2"/>
          </a:solidFill>
          <a:ln/>
        </p:spPr>
      </p:sp>
      <p:sp>
        <p:nvSpPr>
          <p:cNvPr id="6" name="Text 4"/>
          <p:cNvSpPr txBox="1"/>
          <p:nvPr/>
        </p:nvSpPr>
        <p:spPr>
          <a:xfrm>
            <a:off x="822960" y="4526280"/>
            <a:ext cx="4389120" cy="1005840"/>
          </a:xfrm>
          <a:prstGeom prst="rect">
            <a:avLst/>
          </a:prstGeom>
          <a:noFill/>
          <a:ln/>
        </p:spPr>
        <p:txBody>
          <a:bodyPr wrap="square" lIns="0" tIns="0" rIns="0" bIns="0" rtlCol="0" anchor="t"/>
          <a:lstStyle/>
          <a:p>
            <a:pPr algn="l" indent="0" marL="0">
              <a:buNone/>
            </a:pPr>
            <a:r>
              <a:rPr lang="en-US" sz="1400" b="1" dirty="0">
                <a:solidFill>
                  <a:schemeClr val="tx1"/>
                </a:solidFill>
              </a:rPr>
              <a:t>Why so many copies? </a:t>
            </a:r>
            <a:pPr algn="l" indent="0" marL="0">
              <a:buNone/>
            </a:pPr>
            <a:r>
              <a:rPr lang="en-US" sz="1400" dirty="0">
                <a:solidFill>
                  <a:schemeClr val="tx1"/>
                </a:solidFill>
              </a:rPr>
              <a:t>Enron’s mail system stored the same email in sent, _sent_mail and all_documents. We skip any email whose sender + subject + body we have already seen.</a:t>
            </a:r>
            <a:endParaRPr lang="en-US" sz="1400" dirty="0"/>
          </a:p>
        </p:txBody>
      </p:sp>
      <p:sp>
        <p:nvSpPr>
          <p:cNvPr id="7" name="Stat tile"/>
          <p:cNvSpPr/>
          <p:nvPr/>
        </p:nvSpPr>
        <p:spPr>
          <a:xfrm>
            <a:off x="5989320" y="1645920"/>
            <a:ext cx="2734056" cy="1874520"/>
          </a:xfrm>
          <a:prstGeom prst="roundRect">
            <a:avLst>
              <a:gd name="adj" fmla="val 3902"/>
            </a:avLst>
          </a:prstGeom>
          <a:solidFill>
            <a:schemeClr val="bg2"/>
          </a:solidFill>
          <a:ln/>
        </p:spPr>
      </p:sp>
      <p:sp>
        <p:nvSpPr>
          <p:cNvPr id="8" name="Text 6"/>
          <p:cNvSpPr txBox="1"/>
          <p:nvPr/>
        </p:nvSpPr>
        <p:spPr>
          <a:xfrm>
            <a:off x="6263640" y="1920240"/>
            <a:ext cx="2286000" cy="731520"/>
          </a:xfrm>
          <a:prstGeom prst="rect">
            <a:avLst/>
          </a:prstGeom>
          <a:noFill/>
          <a:ln/>
        </p:spPr>
        <p:txBody>
          <a:bodyPr wrap="square" lIns="0" tIns="0" rIns="0" bIns="0" rtlCol="0" anchor="t"/>
          <a:lstStyle/>
          <a:p>
            <a:pPr algn="l" indent="0" marL="0">
              <a:buNone/>
            </a:pPr>
            <a:r>
              <a:rPr lang="en-US" sz="3600" b="1" dirty="0">
                <a:solidFill>
                  <a:schemeClr val="tx1"/>
                </a:solidFill>
              </a:rPr>
              <a:t>517,401</a:t>
            </a:r>
            <a:endParaRPr lang="en-US" sz="3600" dirty="0"/>
          </a:p>
        </p:txBody>
      </p:sp>
      <p:sp>
        <p:nvSpPr>
          <p:cNvPr id="9" name="Text 7"/>
          <p:cNvSpPr txBox="1"/>
          <p:nvPr/>
        </p:nvSpPr>
        <p:spPr>
          <a:xfrm>
            <a:off x="6263640" y="2651760"/>
            <a:ext cx="2286000" cy="731520"/>
          </a:xfrm>
          <a:prstGeom prst="rect">
            <a:avLst/>
          </a:prstGeom>
          <a:noFill/>
          <a:ln/>
        </p:spPr>
        <p:txBody>
          <a:bodyPr wrap="square" lIns="0" tIns="0" rIns="0" bIns="0" rtlCol="0" anchor="t"/>
          <a:lstStyle/>
          <a:p>
            <a:pPr algn="l" indent="0" marL="0">
              <a:buNone/>
            </a:pPr>
            <a:r>
              <a:rPr lang="en-US" sz="1400" dirty="0">
                <a:solidFill>
                  <a:schemeClr val="tx2"/>
                </a:solidFill>
              </a:rPr>
              <a:t>emails in emails.csv (1.4 GB)</a:t>
            </a:r>
            <a:endParaRPr lang="en-US" sz="1400" dirty="0"/>
          </a:p>
        </p:txBody>
      </p:sp>
      <p:sp>
        <p:nvSpPr>
          <p:cNvPr id="10" name="Stat tile"/>
          <p:cNvSpPr/>
          <p:nvPr/>
        </p:nvSpPr>
        <p:spPr>
          <a:xfrm>
            <a:off x="8860536" y="1645920"/>
            <a:ext cx="2734056" cy="1874520"/>
          </a:xfrm>
          <a:prstGeom prst="roundRect">
            <a:avLst>
              <a:gd name="adj" fmla="val 3902"/>
            </a:avLst>
          </a:prstGeom>
          <a:solidFill>
            <a:schemeClr val="bg2"/>
          </a:solidFill>
          <a:ln/>
        </p:spPr>
      </p:sp>
      <p:sp>
        <p:nvSpPr>
          <p:cNvPr id="11" name="Text 9"/>
          <p:cNvSpPr txBox="1"/>
          <p:nvPr/>
        </p:nvSpPr>
        <p:spPr>
          <a:xfrm>
            <a:off x="9134856" y="1920240"/>
            <a:ext cx="2286000" cy="731520"/>
          </a:xfrm>
          <a:prstGeom prst="rect">
            <a:avLst/>
          </a:prstGeom>
          <a:noFill/>
          <a:ln/>
        </p:spPr>
        <p:txBody>
          <a:bodyPr wrap="square" lIns="0" tIns="0" rIns="0" bIns="0" rtlCol="0" anchor="t"/>
          <a:lstStyle/>
          <a:p>
            <a:pPr algn="l" indent="0" marL="0">
              <a:buNone/>
            </a:pPr>
            <a:r>
              <a:rPr lang="en-US" sz="3600" b="1" dirty="0">
                <a:solidFill>
                  <a:schemeClr val="tx1"/>
                </a:solidFill>
              </a:rPr>
              <a:t>150</a:t>
            </a:r>
            <a:endParaRPr lang="en-US" sz="3600" dirty="0"/>
          </a:p>
        </p:txBody>
      </p:sp>
      <p:sp>
        <p:nvSpPr>
          <p:cNvPr id="12" name="Text 10"/>
          <p:cNvSpPr txBox="1"/>
          <p:nvPr/>
        </p:nvSpPr>
        <p:spPr>
          <a:xfrm>
            <a:off x="9134856" y="2651760"/>
            <a:ext cx="2286000" cy="731520"/>
          </a:xfrm>
          <a:prstGeom prst="rect">
            <a:avLst/>
          </a:prstGeom>
          <a:noFill/>
          <a:ln/>
        </p:spPr>
        <p:txBody>
          <a:bodyPr wrap="square" lIns="0" tIns="0" rIns="0" bIns="0" rtlCol="0" anchor="t"/>
          <a:lstStyle/>
          <a:p>
            <a:pPr algn="l" indent="0" marL="0">
              <a:buNone/>
            </a:pPr>
            <a:r>
              <a:rPr lang="en-US" sz="1400" dirty="0">
                <a:solidFill>
                  <a:schemeClr val="tx2"/>
                </a:solidFill>
              </a:rPr>
              <a:t>employee mailboxes</a:t>
            </a:r>
            <a:endParaRPr lang="en-US" sz="1400" dirty="0"/>
          </a:p>
        </p:txBody>
      </p:sp>
      <p:sp>
        <p:nvSpPr>
          <p:cNvPr id="13" name="Stat tile"/>
          <p:cNvSpPr/>
          <p:nvPr/>
        </p:nvSpPr>
        <p:spPr>
          <a:xfrm>
            <a:off x="5989320" y="3703320"/>
            <a:ext cx="2734056" cy="1874520"/>
          </a:xfrm>
          <a:prstGeom prst="roundRect">
            <a:avLst>
              <a:gd name="adj" fmla="val 3902"/>
            </a:avLst>
          </a:prstGeom>
          <a:solidFill>
            <a:schemeClr val="tx1"/>
          </a:solidFill>
          <a:ln/>
        </p:spPr>
      </p:sp>
      <p:sp>
        <p:nvSpPr>
          <p:cNvPr id="14" name="Text 12"/>
          <p:cNvSpPr txBox="1"/>
          <p:nvPr/>
        </p:nvSpPr>
        <p:spPr>
          <a:xfrm>
            <a:off x="6263640" y="3977640"/>
            <a:ext cx="2286000" cy="731520"/>
          </a:xfrm>
          <a:prstGeom prst="rect">
            <a:avLst/>
          </a:prstGeom>
          <a:noFill/>
          <a:ln/>
        </p:spPr>
        <p:txBody>
          <a:bodyPr wrap="square" lIns="0" tIns="0" rIns="0" bIns="0" rtlCol="0" anchor="t"/>
          <a:lstStyle/>
          <a:p>
            <a:pPr algn="l" indent="0" marL="0">
              <a:buNone/>
            </a:pPr>
            <a:r>
              <a:rPr lang="en-US" sz="3600" b="1" dirty="0">
                <a:solidFill>
                  <a:schemeClr val="accent1"/>
                </a:solidFill>
              </a:rPr>
              <a:t>251,115</a:t>
            </a:r>
            <a:endParaRPr lang="en-US" sz="3600" dirty="0"/>
          </a:p>
        </p:txBody>
      </p:sp>
      <p:sp>
        <p:nvSpPr>
          <p:cNvPr id="15" name="Text 13"/>
          <p:cNvSpPr txBox="1"/>
          <p:nvPr/>
        </p:nvSpPr>
        <p:spPr>
          <a:xfrm>
            <a:off x="6263640" y="4709160"/>
            <a:ext cx="2286000" cy="731520"/>
          </a:xfrm>
          <a:prstGeom prst="rect">
            <a:avLst/>
          </a:prstGeom>
          <a:noFill/>
          <a:ln/>
        </p:spPr>
        <p:txBody>
          <a:bodyPr wrap="square" lIns="0" tIns="0" rIns="0" bIns="0" rtlCol="0" anchor="t"/>
          <a:lstStyle/>
          <a:p>
            <a:pPr algn="l" indent="0" marL="0">
              <a:buNone/>
            </a:pPr>
            <a:r>
              <a:rPr lang="en-US" sz="1400" dirty="0">
                <a:solidFill>
                  <a:schemeClr val="bg1"/>
                </a:solidFill>
              </a:rPr>
              <a:t>unique emails after removing duplicates</a:t>
            </a:r>
            <a:endParaRPr lang="en-US" sz="1400" dirty="0"/>
          </a:p>
        </p:txBody>
      </p:sp>
      <p:sp>
        <p:nvSpPr>
          <p:cNvPr id="16" name="Stat tile"/>
          <p:cNvSpPr/>
          <p:nvPr/>
        </p:nvSpPr>
        <p:spPr>
          <a:xfrm>
            <a:off x="8860536" y="3703320"/>
            <a:ext cx="2734056" cy="1874520"/>
          </a:xfrm>
          <a:prstGeom prst="roundRect">
            <a:avLst>
              <a:gd name="adj" fmla="val 3902"/>
            </a:avLst>
          </a:prstGeom>
          <a:solidFill>
            <a:schemeClr val="tx1"/>
          </a:solidFill>
          <a:ln/>
        </p:spPr>
      </p:sp>
      <p:sp>
        <p:nvSpPr>
          <p:cNvPr id="17" name="Text 15"/>
          <p:cNvSpPr txBox="1"/>
          <p:nvPr/>
        </p:nvSpPr>
        <p:spPr>
          <a:xfrm>
            <a:off x="9134856" y="3977640"/>
            <a:ext cx="2286000" cy="731520"/>
          </a:xfrm>
          <a:prstGeom prst="rect">
            <a:avLst/>
          </a:prstGeom>
          <a:noFill/>
          <a:ln/>
        </p:spPr>
        <p:txBody>
          <a:bodyPr wrap="square" lIns="0" tIns="0" rIns="0" bIns="0" rtlCol="0" anchor="t"/>
          <a:lstStyle/>
          <a:p>
            <a:pPr algn="l" indent="0" marL="0">
              <a:buNone/>
            </a:pPr>
            <a:r>
              <a:rPr lang="en-US" sz="3600" b="1" dirty="0">
                <a:solidFill>
                  <a:schemeClr val="accent1"/>
                </a:solidFill>
              </a:rPr>
              <a:t>631,253</a:t>
            </a:r>
            <a:endParaRPr lang="en-US" sz="3600" dirty="0"/>
          </a:p>
        </p:txBody>
      </p:sp>
      <p:sp>
        <p:nvSpPr>
          <p:cNvPr id="18" name="Text 16"/>
          <p:cNvSpPr txBox="1"/>
          <p:nvPr/>
        </p:nvSpPr>
        <p:spPr>
          <a:xfrm>
            <a:off x="9134856" y="4709160"/>
            <a:ext cx="2286000" cy="731520"/>
          </a:xfrm>
          <a:prstGeom prst="rect">
            <a:avLst/>
          </a:prstGeom>
          <a:noFill/>
          <a:ln/>
        </p:spPr>
        <p:txBody>
          <a:bodyPr wrap="square" lIns="0" tIns="0" rIns="0" bIns="0" rtlCol="0" anchor="t"/>
          <a:lstStyle/>
          <a:p>
            <a:pPr algn="l" indent="0" marL="0">
              <a:buNone/>
            </a:pPr>
            <a:r>
              <a:rPr lang="en-US" sz="1400" dirty="0">
                <a:solidFill>
                  <a:schemeClr val="bg1"/>
                </a:solidFill>
              </a:rPr>
              <a:t>unique words (vocabulary)</a:t>
            </a:r>
            <a:endParaRPr lang="en-US" sz="1400" dirty="0"/>
          </a:p>
        </p:txBody>
      </p:sp>
      <p:sp>
        <p:nvSpPr>
          <p:cNvPr id="19" name="Text 17"/>
          <p:cNvSpPr txBox="1"/>
          <p:nvPr/>
        </p:nvSpPr>
        <p:spPr>
          <a:xfrm>
            <a:off x="548640" y="589788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Source: Kaggle “Enron Email Dataset” (CMU / FERC release). Counts produced by load_data.py.</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Two phases: index once, search in milliseconds</a:t>
            </a:r>
            <a:endParaRPr lang="en-US" sz="3200" dirty="0"/>
          </a:p>
        </p:txBody>
      </p:sp>
      <p:sp>
        <p:nvSpPr>
          <p:cNvPr id="4" name="Text 2"/>
          <p:cNvSpPr txBox="1"/>
          <p:nvPr/>
        </p:nvSpPr>
        <p:spPr>
          <a:xfrm>
            <a:off x="548640" y="1508760"/>
            <a:ext cx="11094415"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PHASE A · INDEXING · load_data.py · RUN ONCE, ~75 s</a:t>
            </a:r>
            <a:endParaRPr lang="en-US" sz="1100" dirty="0"/>
          </a:p>
        </p:txBody>
      </p:sp>
      <p:sp>
        <p:nvSpPr>
          <p:cNvPr id="5" name="Step"/>
          <p:cNvSpPr/>
          <p:nvPr/>
        </p:nvSpPr>
        <p:spPr>
          <a:xfrm>
            <a:off x="548640" y="1828800"/>
            <a:ext cx="1645920" cy="1417320"/>
          </a:xfrm>
          <a:prstGeom prst="roundRect">
            <a:avLst>
              <a:gd name="adj" fmla="val 5161"/>
            </a:avLst>
          </a:prstGeom>
          <a:solidFill>
            <a:schemeClr val="bg2"/>
          </a:solidFill>
          <a:ln/>
        </p:spPr>
      </p:sp>
      <p:sp>
        <p:nvSpPr>
          <p:cNvPr id="6" name="Text 4"/>
          <p:cNvSpPr txBox="1"/>
          <p:nvPr/>
        </p:nvSpPr>
        <p:spPr>
          <a:xfrm>
            <a:off x="713232"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01</a:t>
            </a:r>
            <a:endParaRPr lang="en-US" sz="1100" dirty="0"/>
          </a:p>
        </p:txBody>
      </p:sp>
      <p:sp>
        <p:nvSpPr>
          <p:cNvPr id="7" name="Text 5"/>
          <p:cNvSpPr txBox="1"/>
          <p:nvPr/>
        </p:nvSpPr>
        <p:spPr>
          <a:xfrm>
            <a:off x="713232"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Read CSV</a:t>
            </a:r>
            <a:endParaRPr lang="en-US" sz="1600" dirty="0"/>
          </a:p>
        </p:txBody>
      </p:sp>
      <p:sp>
        <p:nvSpPr>
          <p:cNvPr id="8" name="Text 6"/>
          <p:cNvSpPr txBox="1"/>
          <p:nvPr/>
        </p:nvSpPr>
        <p:spPr>
          <a:xfrm>
            <a:off x="713232"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517,401 rows, 1.4 GB</a:t>
            </a:r>
            <a:endParaRPr lang="en-US" sz="1200" dirty="0"/>
          </a:p>
        </p:txBody>
      </p:sp>
      <p:sp>
        <p:nvSpPr>
          <p:cNvPr id="9" name="Arrow"/>
          <p:cNvSpPr/>
          <p:nvPr/>
        </p:nvSpPr>
        <p:spPr>
          <a:xfrm>
            <a:off x="2231136" y="2537460"/>
            <a:ext cx="170627" cy="0"/>
          </a:xfrm>
          <a:prstGeom prst="line">
            <a:avLst/>
          </a:prstGeom>
          <a:noFill/>
          <a:ln w="19050">
            <a:solidFill>
              <a:srgbClr val="8A94A6"/>
            </a:solidFill>
            <a:prstDash val="solid"/>
            <a:tailEnd type="triangle"/>
          </a:ln>
        </p:spPr>
      </p:sp>
      <p:sp>
        <p:nvSpPr>
          <p:cNvPr id="10" name="Step"/>
          <p:cNvSpPr/>
          <p:nvPr/>
        </p:nvSpPr>
        <p:spPr>
          <a:xfrm>
            <a:off x="2438339" y="1828800"/>
            <a:ext cx="1645920" cy="1417320"/>
          </a:xfrm>
          <a:prstGeom prst="roundRect">
            <a:avLst>
              <a:gd name="adj" fmla="val 5161"/>
            </a:avLst>
          </a:prstGeom>
          <a:solidFill>
            <a:schemeClr val="bg2"/>
          </a:solidFill>
          <a:ln/>
        </p:spPr>
      </p:sp>
      <p:sp>
        <p:nvSpPr>
          <p:cNvPr id="11" name="Text 9"/>
          <p:cNvSpPr txBox="1"/>
          <p:nvPr/>
        </p:nvSpPr>
        <p:spPr>
          <a:xfrm>
            <a:off x="2602931"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02</a:t>
            </a:r>
            <a:endParaRPr lang="en-US" sz="1100" dirty="0"/>
          </a:p>
        </p:txBody>
      </p:sp>
      <p:sp>
        <p:nvSpPr>
          <p:cNvPr id="12" name="Text 10"/>
          <p:cNvSpPr txBox="1"/>
          <p:nvPr/>
        </p:nvSpPr>
        <p:spPr>
          <a:xfrm>
            <a:off x="2602931"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Parse</a:t>
            </a:r>
            <a:endParaRPr lang="en-US" sz="1600" dirty="0"/>
          </a:p>
        </p:txBody>
      </p:sp>
      <p:sp>
        <p:nvSpPr>
          <p:cNvPr id="13" name="Text 11"/>
          <p:cNvSpPr txBox="1"/>
          <p:nvPr/>
        </p:nvSpPr>
        <p:spPr>
          <a:xfrm>
            <a:off x="2602931"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email module → from, to, date, subject, body</a:t>
            </a:r>
            <a:endParaRPr lang="en-US" sz="1200" dirty="0"/>
          </a:p>
        </p:txBody>
      </p:sp>
      <p:sp>
        <p:nvSpPr>
          <p:cNvPr id="14" name="Arrow"/>
          <p:cNvSpPr/>
          <p:nvPr/>
        </p:nvSpPr>
        <p:spPr>
          <a:xfrm>
            <a:off x="4120835" y="2537460"/>
            <a:ext cx="170627" cy="0"/>
          </a:xfrm>
          <a:prstGeom prst="line">
            <a:avLst/>
          </a:prstGeom>
          <a:noFill/>
          <a:ln w="19050">
            <a:solidFill>
              <a:srgbClr val="8A94A6"/>
            </a:solidFill>
            <a:prstDash val="solid"/>
            <a:tailEnd type="triangle"/>
          </a:ln>
        </p:spPr>
      </p:sp>
      <p:sp>
        <p:nvSpPr>
          <p:cNvPr id="15" name="Step"/>
          <p:cNvSpPr/>
          <p:nvPr/>
        </p:nvSpPr>
        <p:spPr>
          <a:xfrm>
            <a:off x="4328038" y="1828800"/>
            <a:ext cx="1645920" cy="1417320"/>
          </a:xfrm>
          <a:prstGeom prst="roundRect">
            <a:avLst>
              <a:gd name="adj" fmla="val 5161"/>
            </a:avLst>
          </a:prstGeom>
          <a:solidFill>
            <a:schemeClr val="bg2"/>
          </a:solidFill>
          <a:ln/>
        </p:spPr>
      </p:sp>
      <p:sp>
        <p:nvSpPr>
          <p:cNvPr id="16" name="Text 14"/>
          <p:cNvSpPr txBox="1"/>
          <p:nvPr/>
        </p:nvSpPr>
        <p:spPr>
          <a:xfrm>
            <a:off x="4492630"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03</a:t>
            </a:r>
            <a:endParaRPr lang="en-US" sz="1100" dirty="0"/>
          </a:p>
        </p:txBody>
      </p:sp>
      <p:sp>
        <p:nvSpPr>
          <p:cNvPr id="17" name="Text 15"/>
          <p:cNvSpPr txBox="1"/>
          <p:nvPr/>
        </p:nvSpPr>
        <p:spPr>
          <a:xfrm>
            <a:off x="4492630"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Dedupe</a:t>
            </a:r>
            <a:endParaRPr lang="en-US" sz="1600" dirty="0"/>
          </a:p>
        </p:txBody>
      </p:sp>
      <p:sp>
        <p:nvSpPr>
          <p:cNvPr id="18" name="Text 16"/>
          <p:cNvSpPr txBox="1"/>
          <p:nvPr/>
        </p:nvSpPr>
        <p:spPr>
          <a:xfrm>
            <a:off x="4492630"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same sender + subject + body → skip</a:t>
            </a:r>
            <a:endParaRPr lang="en-US" sz="1200" dirty="0"/>
          </a:p>
        </p:txBody>
      </p:sp>
      <p:sp>
        <p:nvSpPr>
          <p:cNvPr id="19" name="Arrow"/>
          <p:cNvSpPr/>
          <p:nvPr/>
        </p:nvSpPr>
        <p:spPr>
          <a:xfrm>
            <a:off x="6010534" y="2537460"/>
            <a:ext cx="170627" cy="0"/>
          </a:xfrm>
          <a:prstGeom prst="line">
            <a:avLst/>
          </a:prstGeom>
          <a:noFill/>
          <a:ln w="19050">
            <a:solidFill>
              <a:srgbClr val="8A94A6"/>
            </a:solidFill>
            <a:prstDash val="solid"/>
            <a:tailEnd type="triangle"/>
          </a:ln>
        </p:spPr>
      </p:sp>
      <p:sp>
        <p:nvSpPr>
          <p:cNvPr id="20" name="Step"/>
          <p:cNvSpPr/>
          <p:nvPr/>
        </p:nvSpPr>
        <p:spPr>
          <a:xfrm>
            <a:off x="6217737" y="1828800"/>
            <a:ext cx="1645920" cy="1417320"/>
          </a:xfrm>
          <a:prstGeom prst="roundRect">
            <a:avLst>
              <a:gd name="adj" fmla="val 5161"/>
            </a:avLst>
          </a:prstGeom>
          <a:solidFill>
            <a:schemeClr val="bg2"/>
          </a:solidFill>
          <a:ln/>
        </p:spPr>
      </p:sp>
      <p:sp>
        <p:nvSpPr>
          <p:cNvPr id="21" name="Text 19"/>
          <p:cNvSpPr txBox="1"/>
          <p:nvPr/>
        </p:nvSpPr>
        <p:spPr>
          <a:xfrm>
            <a:off x="6382329"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04</a:t>
            </a:r>
            <a:endParaRPr lang="en-US" sz="1100" dirty="0"/>
          </a:p>
        </p:txBody>
      </p:sp>
      <p:sp>
        <p:nvSpPr>
          <p:cNvPr id="22" name="Text 20"/>
          <p:cNvSpPr txBox="1"/>
          <p:nvPr/>
        </p:nvSpPr>
        <p:spPr>
          <a:xfrm>
            <a:off x="6382329"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Tokenise</a:t>
            </a:r>
            <a:endParaRPr lang="en-US" sz="1600" dirty="0"/>
          </a:p>
        </p:txBody>
      </p:sp>
      <p:sp>
        <p:nvSpPr>
          <p:cNvPr id="23" name="Text 21"/>
          <p:cNvSpPr txBox="1"/>
          <p:nvPr/>
        </p:nvSpPr>
        <p:spPr>
          <a:xfrm>
            <a:off x="6382329"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lowercase, split, drop stop words</a:t>
            </a:r>
            <a:endParaRPr lang="en-US" sz="1200" dirty="0"/>
          </a:p>
        </p:txBody>
      </p:sp>
      <p:sp>
        <p:nvSpPr>
          <p:cNvPr id="24" name="Arrow"/>
          <p:cNvSpPr/>
          <p:nvPr/>
        </p:nvSpPr>
        <p:spPr>
          <a:xfrm>
            <a:off x="7900233" y="2537460"/>
            <a:ext cx="170627" cy="0"/>
          </a:xfrm>
          <a:prstGeom prst="line">
            <a:avLst/>
          </a:prstGeom>
          <a:noFill/>
          <a:ln w="19050">
            <a:solidFill>
              <a:srgbClr val="8A94A6"/>
            </a:solidFill>
            <a:prstDash val="solid"/>
            <a:tailEnd type="triangle"/>
          </a:ln>
        </p:spPr>
      </p:sp>
      <p:sp>
        <p:nvSpPr>
          <p:cNvPr id="25" name="Step"/>
          <p:cNvSpPr/>
          <p:nvPr/>
        </p:nvSpPr>
        <p:spPr>
          <a:xfrm>
            <a:off x="8107436" y="1828800"/>
            <a:ext cx="1645920" cy="1417320"/>
          </a:xfrm>
          <a:prstGeom prst="roundRect">
            <a:avLst>
              <a:gd name="adj" fmla="val 5161"/>
            </a:avLst>
          </a:prstGeom>
          <a:solidFill>
            <a:schemeClr val="bg2"/>
          </a:solidFill>
          <a:ln/>
        </p:spPr>
      </p:sp>
      <p:sp>
        <p:nvSpPr>
          <p:cNvPr id="26" name="Text 24"/>
          <p:cNvSpPr txBox="1"/>
          <p:nvPr/>
        </p:nvSpPr>
        <p:spPr>
          <a:xfrm>
            <a:off x="8272028"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05</a:t>
            </a:r>
            <a:endParaRPr lang="en-US" sz="1100" dirty="0"/>
          </a:p>
        </p:txBody>
      </p:sp>
      <p:sp>
        <p:nvSpPr>
          <p:cNvPr id="27" name="Text 25"/>
          <p:cNvSpPr txBox="1"/>
          <p:nvPr/>
        </p:nvSpPr>
        <p:spPr>
          <a:xfrm>
            <a:off x="8272028"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Vectorise</a:t>
            </a:r>
            <a:endParaRPr lang="en-US" sz="1600" dirty="0"/>
          </a:p>
        </p:txBody>
      </p:sp>
      <p:sp>
        <p:nvSpPr>
          <p:cNvPr id="28" name="Text 26"/>
          <p:cNvSpPr txBox="1"/>
          <p:nvPr/>
        </p:nvSpPr>
        <p:spPr>
          <a:xfrm>
            <a:off x="8272028"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TF-IDF vectors + BM25 word counts</a:t>
            </a:r>
            <a:endParaRPr lang="en-US" sz="1200" dirty="0"/>
          </a:p>
        </p:txBody>
      </p:sp>
      <p:sp>
        <p:nvSpPr>
          <p:cNvPr id="29" name="Arrow"/>
          <p:cNvSpPr/>
          <p:nvPr/>
        </p:nvSpPr>
        <p:spPr>
          <a:xfrm>
            <a:off x="9789932" y="2537460"/>
            <a:ext cx="170627" cy="0"/>
          </a:xfrm>
          <a:prstGeom prst="line">
            <a:avLst/>
          </a:prstGeom>
          <a:noFill/>
          <a:ln w="19050">
            <a:solidFill>
              <a:srgbClr val="8A94A6"/>
            </a:solidFill>
            <a:prstDash val="solid"/>
            <a:tailEnd type="triangle"/>
          </a:ln>
        </p:spPr>
      </p:sp>
      <p:sp>
        <p:nvSpPr>
          <p:cNvPr id="30" name="Step"/>
          <p:cNvSpPr/>
          <p:nvPr/>
        </p:nvSpPr>
        <p:spPr>
          <a:xfrm>
            <a:off x="9997135" y="1828800"/>
            <a:ext cx="1645920" cy="1417320"/>
          </a:xfrm>
          <a:prstGeom prst="roundRect">
            <a:avLst>
              <a:gd name="adj" fmla="val 5161"/>
            </a:avLst>
          </a:prstGeom>
          <a:solidFill>
            <a:schemeClr val="tx1"/>
          </a:solidFill>
          <a:ln/>
        </p:spPr>
      </p:sp>
      <p:sp>
        <p:nvSpPr>
          <p:cNvPr id="31" name="Text 29"/>
          <p:cNvSpPr txBox="1"/>
          <p:nvPr/>
        </p:nvSpPr>
        <p:spPr>
          <a:xfrm>
            <a:off x="10161727"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06</a:t>
            </a:r>
            <a:endParaRPr lang="en-US" sz="1100" dirty="0"/>
          </a:p>
        </p:txBody>
      </p:sp>
      <p:sp>
        <p:nvSpPr>
          <p:cNvPr id="32" name="Text 30"/>
          <p:cNvSpPr txBox="1"/>
          <p:nvPr/>
        </p:nvSpPr>
        <p:spPr>
          <a:xfrm>
            <a:off x="10161727" y="2176272"/>
            <a:ext cx="1371600" cy="320040"/>
          </a:xfrm>
          <a:prstGeom prst="rect">
            <a:avLst/>
          </a:prstGeom>
          <a:noFill/>
          <a:ln/>
        </p:spPr>
        <p:txBody>
          <a:bodyPr wrap="square" lIns="0" tIns="0" rIns="0" bIns="0" rtlCol="0" anchor="t"/>
          <a:lstStyle/>
          <a:p>
            <a:pPr algn="l" indent="0" marL="0">
              <a:buNone/>
            </a:pPr>
            <a:r>
              <a:rPr lang="en-US" sz="1600" b="1" dirty="0">
                <a:solidFill>
                  <a:schemeClr val="bg1"/>
                </a:solidFill>
              </a:rPr>
              <a:t>Save</a:t>
            </a:r>
            <a:endParaRPr lang="en-US" sz="1600" dirty="0"/>
          </a:p>
        </p:txBody>
      </p:sp>
      <p:sp>
        <p:nvSpPr>
          <p:cNvPr id="33" name="Text 31"/>
          <p:cNvSpPr txBox="1"/>
          <p:nvPr/>
        </p:nvSpPr>
        <p:spPr>
          <a:xfrm>
            <a:off x="10161727" y="2514600"/>
            <a:ext cx="1371600" cy="685800"/>
          </a:xfrm>
          <a:prstGeom prst="rect">
            <a:avLst/>
          </a:prstGeom>
          <a:noFill/>
          <a:ln/>
        </p:spPr>
        <p:txBody>
          <a:bodyPr wrap="square" lIns="0" tIns="0" rIns="0" bIns="0" rtlCol="0" anchor="t"/>
          <a:lstStyle/>
          <a:p>
            <a:pPr algn="l" indent="0" marL="0">
              <a:buNone/>
            </a:pPr>
            <a:r>
              <a:rPr lang="en-US" sz="1200" dirty="0">
                <a:solidFill>
                  <a:schemeClr val="accent5"/>
                </a:solidFill>
              </a:rPr>
              <a:t>pickle → index.pkl (1.1 GB)</a:t>
            </a:r>
            <a:endParaRPr lang="en-US" sz="1200" dirty="0"/>
          </a:p>
        </p:txBody>
      </p:sp>
      <p:sp>
        <p:nvSpPr>
          <p:cNvPr id="34" name="Text 32"/>
          <p:cNvSpPr txBox="1"/>
          <p:nvPr/>
        </p:nvSpPr>
        <p:spPr>
          <a:xfrm>
            <a:off x="548640" y="3566160"/>
            <a:ext cx="11094415"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PHASE B · SEARCHING · app.py · EVERY QUERY</a:t>
            </a:r>
            <a:endParaRPr lang="en-US" sz="1100" dirty="0"/>
          </a:p>
        </p:txBody>
      </p:sp>
      <p:sp>
        <p:nvSpPr>
          <p:cNvPr id="35" name="Step"/>
          <p:cNvSpPr/>
          <p:nvPr/>
        </p:nvSpPr>
        <p:spPr>
          <a:xfrm>
            <a:off x="548640" y="3886200"/>
            <a:ext cx="1920240" cy="1463040"/>
          </a:xfrm>
          <a:prstGeom prst="roundRect">
            <a:avLst>
              <a:gd name="adj" fmla="val 5000"/>
            </a:avLst>
          </a:prstGeom>
          <a:solidFill>
            <a:schemeClr val="bg2"/>
          </a:solidFill>
          <a:ln/>
        </p:spPr>
      </p:sp>
      <p:sp>
        <p:nvSpPr>
          <p:cNvPr id="36" name="Text 34"/>
          <p:cNvSpPr txBox="1"/>
          <p:nvPr/>
        </p:nvSpPr>
        <p:spPr>
          <a:xfrm>
            <a:off x="713232"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Browser</a:t>
            </a:r>
            <a:endParaRPr lang="en-US" sz="1600" dirty="0"/>
          </a:p>
        </p:txBody>
      </p:sp>
      <p:sp>
        <p:nvSpPr>
          <p:cNvPr id="37" name="Text 35"/>
          <p:cNvSpPr txBox="1"/>
          <p:nvPr/>
        </p:nvSpPr>
        <p:spPr>
          <a:xfrm>
            <a:off x="713232"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user types “gas pipeline” → ?q=gas+pipeline</a:t>
            </a:r>
            <a:endParaRPr lang="en-US" sz="1200" dirty="0"/>
          </a:p>
        </p:txBody>
      </p:sp>
      <p:sp>
        <p:nvSpPr>
          <p:cNvPr id="38" name="Arrow"/>
          <p:cNvSpPr/>
          <p:nvPr/>
        </p:nvSpPr>
        <p:spPr>
          <a:xfrm>
            <a:off x="2505456" y="4617720"/>
            <a:ext cx="300152" cy="0"/>
          </a:xfrm>
          <a:prstGeom prst="line">
            <a:avLst/>
          </a:prstGeom>
          <a:noFill/>
          <a:ln w="19050">
            <a:solidFill>
              <a:srgbClr val="8A94A6"/>
            </a:solidFill>
            <a:prstDash val="solid"/>
            <a:tailEnd type="triangle"/>
          </a:ln>
        </p:spPr>
      </p:sp>
      <p:sp>
        <p:nvSpPr>
          <p:cNvPr id="39" name="Step"/>
          <p:cNvSpPr/>
          <p:nvPr/>
        </p:nvSpPr>
        <p:spPr>
          <a:xfrm>
            <a:off x="2842184" y="3886200"/>
            <a:ext cx="1920240" cy="1463040"/>
          </a:xfrm>
          <a:prstGeom prst="roundRect">
            <a:avLst>
              <a:gd name="adj" fmla="val 5000"/>
            </a:avLst>
          </a:prstGeom>
          <a:solidFill>
            <a:schemeClr val="bg2"/>
          </a:solidFill>
          <a:ln/>
        </p:spPr>
      </p:sp>
      <p:sp>
        <p:nvSpPr>
          <p:cNvPr id="40" name="Text 38"/>
          <p:cNvSpPr txBox="1"/>
          <p:nvPr/>
        </p:nvSpPr>
        <p:spPr>
          <a:xfrm>
            <a:off x="3006776"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Flask route</a:t>
            </a:r>
            <a:endParaRPr lang="en-US" sz="1600" dirty="0"/>
          </a:p>
        </p:txBody>
      </p:sp>
      <p:sp>
        <p:nvSpPr>
          <p:cNvPr id="41" name="Text 39"/>
          <p:cNvSpPr txBox="1"/>
          <p:nvPr/>
        </p:nvSpPr>
        <p:spPr>
          <a:xfrm>
            <a:off x="3006776"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home() reads the query</a:t>
            </a:r>
            <a:endParaRPr lang="en-US" sz="1200" dirty="0"/>
          </a:p>
        </p:txBody>
      </p:sp>
      <p:sp>
        <p:nvSpPr>
          <p:cNvPr id="42" name="Arrow"/>
          <p:cNvSpPr/>
          <p:nvPr/>
        </p:nvSpPr>
        <p:spPr>
          <a:xfrm>
            <a:off x="4799000" y="4617720"/>
            <a:ext cx="300152" cy="0"/>
          </a:xfrm>
          <a:prstGeom prst="line">
            <a:avLst/>
          </a:prstGeom>
          <a:noFill/>
          <a:ln w="19050">
            <a:solidFill>
              <a:srgbClr val="8A94A6"/>
            </a:solidFill>
            <a:prstDash val="solid"/>
            <a:tailEnd type="triangle"/>
          </a:ln>
        </p:spPr>
      </p:sp>
      <p:sp>
        <p:nvSpPr>
          <p:cNvPr id="43" name="Step"/>
          <p:cNvSpPr/>
          <p:nvPr/>
        </p:nvSpPr>
        <p:spPr>
          <a:xfrm>
            <a:off x="5135728" y="3886200"/>
            <a:ext cx="1920240" cy="1463040"/>
          </a:xfrm>
          <a:prstGeom prst="roundRect">
            <a:avLst>
              <a:gd name="adj" fmla="val 5000"/>
            </a:avLst>
          </a:prstGeom>
          <a:solidFill>
            <a:schemeClr val="bg2"/>
          </a:solidFill>
          <a:ln/>
        </p:spPr>
      </p:sp>
      <p:sp>
        <p:nvSpPr>
          <p:cNvPr id="44" name="Text 42"/>
          <p:cNvSpPr txBox="1"/>
          <p:nvPr/>
        </p:nvSpPr>
        <p:spPr>
          <a:xfrm>
            <a:off x="5300320"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Score</a:t>
            </a:r>
            <a:endParaRPr lang="en-US" sz="1600" dirty="0"/>
          </a:p>
        </p:txBody>
      </p:sp>
      <p:sp>
        <p:nvSpPr>
          <p:cNvPr id="45" name="Text 43"/>
          <p:cNvSpPr txBox="1"/>
          <p:nvPr/>
        </p:nvSpPr>
        <p:spPr>
          <a:xfrm>
            <a:off x="5300320"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search_tfidf(): cosine with all emails</a:t>
            </a:r>
            <a:endParaRPr lang="en-US" sz="1200" dirty="0"/>
          </a:p>
          <a:p>
            <a:pPr algn="l" indent="0" marL="0">
              <a:buNone/>
            </a:pPr>
            <a:r>
              <a:rPr lang="en-US" sz="1200" dirty="0">
                <a:solidFill>
                  <a:schemeClr val="tx2"/>
                </a:solidFill>
              </a:rPr>
              <a:t>search_bm25(): only emails with the words</a:t>
            </a:r>
            <a:endParaRPr lang="en-US" sz="1200" dirty="0"/>
          </a:p>
        </p:txBody>
      </p:sp>
      <p:sp>
        <p:nvSpPr>
          <p:cNvPr id="46" name="Arrow"/>
          <p:cNvSpPr/>
          <p:nvPr/>
        </p:nvSpPr>
        <p:spPr>
          <a:xfrm>
            <a:off x="7092544" y="4617720"/>
            <a:ext cx="300152" cy="0"/>
          </a:xfrm>
          <a:prstGeom prst="line">
            <a:avLst/>
          </a:prstGeom>
          <a:noFill/>
          <a:ln w="19050">
            <a:solidFill>
              <a:srgbClr val="8A94A6"/>
            </a:solidFill>
            <a:prstDash val="solid"/>
            <a:tailEnd type="triangle"/>
          </a:ln>
        </p:spPr>
      </p:sp>
      <p:sp>
        <p:nvSpPr>
          <p:cNvPr id="47" name="Step"/>
          <p:cNvSpPr/>
          <p:nvPr/>
        </p:nvSpPr>
        <p:spPr>
          <a:xfrm>
            <a:off x="7429271" y="3886200"/>
            <a:ext cx="1920240" cy="1463040"/>
          </a:xfrm>
          <a:prstGeom prst="roundRect">
            <a:avLst>
              <a:gd name="adj" fmla="val 5000"/>
            </a:avLst>
          </a:prstGeom>
          <a:solidFill>
            <a:schemeClr val="bg2"/>
          </a:solidFill>
          <a:ln/>
        </p:spPr>
      </p:sp>
      <p:sp>
        <p:nvSpPr>
          <p:cNvPr id="48" name="Text 46"/>
          <p:cNvSpPr txBox="1"/>
          <p:nvPr/>
        </p:nvSpPr>
        <p:spPr>
          <a:xfrm>
            <a:off x="7593863"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rank()</a:t>
            </a:r>
            <a:endParaRPr lang="en-US" sz="1600" dirty="0"/>
          </a:p>
        </p:txBody>
      </p:sp>
      <p:sp>
        <p:nvSpPr>
          <p:cNvPr id="49" name="Text 47"/>
          <p:cNvSpPr txBox="1"/>
          <p:nvPr/>
        </p:nvSpPr>
        <p:spPr>
          <a:xfrm>
            <a:off x="7593863"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keep score &gt; 0, sort high → low, top 10</a:t>
            </a:r>
            <a:endParaRPr lang="en-US" sz="1200" dirty="0"/>
          </a:p>
        </p:txBody>
      </p:sp>
      <p:sp>
        <p:nvSpPr>
          <p:cNvPr id="50" name="Arrow"/>
          <p:cNvSpPr/>
          <p:nvPr/>
        </p:nvSpPr>
        <p:spPr>
          <a:xfrm>
            <a:off x="9386087" y="4617720"/>
            <a:ext cx="300152" cy="0"/>
          </a:xfrm>
          <a:prstGeom prst="line">
            <a:avLst/>
          </a:prstGeom>
          <a:noFill/>
          <a:ln w="19050">
            <a:solidFill>
              <a:srgbClr val="8A94A6"/>
            </a:solidFill>
            <a:prstDash val="solid"/>
            <a:tailEnd type="triangle"/>
          </a:ln>
        </p:spPr>
      </p:sp>
      <p:sp>
        <p:nvSpPr>
          <p:cNvPr id="51" name="Step"/>
          <p:cNvSpPr/>
          <p:nvPr/>
        </p:nvSpPr>
        <p:spPr>
          <a:xfrm>
            <a:off x="9722815" y="3886200"/>
            <a:ext cx="1920240" cy="1463040"/>
          </a:xfrm>
          <a:prstGeom prst="roundRect">
            <a:avLst>
              <a:gd name="adj" fmla="val 5000"/>
            </a:avLst>
          </a:prstGeom>
          <a:solidFill>
            <a:schemeClr val="tx1"/>
          </a:solidFill>
          <a:ln/>
        </p:spPr>
      </p:sp>
      <p:sp>
        <p:nvSpPr>
          <p:cNvPr id="52" name="Text 50"/>
          <p:cNvSpPr txBox="1"/>
          <p:nvPr/>
        </p:nvSpPr>
        <p:spPr>
          <a:xfrm>
            <a:off x="9887407" y="4023360"/>
            <a:ext cx="1645920" cy="320040"/>
          </a:xfrm>
          <a:prstGeom prst="rect">
            <a:avLst/>
          </a:prstGeom>
          <a:noFill/>
          <a:ln/>
        </p:spPr>
        <p:txBody>
          <a:bodyPr wrap="square" lIns="0" tIns="0" rIns="0" bIns="0" rtlCol="0" anchor="t"/>
          <a:lstStyle/>
          <a:p>
            <a:pPr algn="l" indent="0" marL="0">
              <a:buNone/>
            </a:pPr>
            <a:r>
              <a:rPr lang="en-US" sz="1600" b="1" dirty="0">
                <a:solidFill>
                  <a:schemeClr val="bg1"/>
                </a:solidFill>
              </a:rPr>
              <a:t>Results page</a:t>
            </a:r>
            <a:endParaRPr lang="en-US" sz="1600" dirty="0"/>
          </a:p>
        </p:txBody>
      </p:sp>
      <p:sp>
        <p:nvSpPr>
          <p:cNvPr id="53" name="Text 51"/>
          <p:cNvSpPr txBox="1"/>
          <p:nvPr/>
        </p:nvSpPr>
        <p:spPr>
          <a:xfrm>
            <a:off x="9887407" y="4370832"/>
            <a:ext cx="1645920" cy="914400"/>
          </a:xfrm>
          <a:prstGeom prst="rect">
            <a:avLst/>
          </a:prstGeom>
          <a:noFill/>
          <a:ln/>
        </p:spPr>
        <p:txBody>
          <a:bodyPr wrap="square" lIns="0" tIns="0" rIns="0" bIns="0" rtlCol="0" anchor="t"/>
          <a:lstStyle/>
          <a:p>
            <a:pPr algn="l" indent="0" marL="0">
              <a:buNone/>
            </a:pPr>
            <a:r>
              <a:rPr lang="en-US" sz="1200" dirty="0">
                <a:solidFill>
                  <a:schemeClr val="accent5"/>
                </a:solidFill>
              </a:rPr>
              <a:t>TF-IDF | BM25 columns, query words highlighted</a:t>
            </a:r>
            <a:endParaRPr lang="en-US" sz="1200" dirty="0"/>
          </a:p>
        </p:txBody>
      </p:sp>
      <p:sp>
        <p:nvSpPr>
          <p:cNvPr id="54" name="Note"/>
          <p:cNvSpPr/>
          <p:nvPr/>
        </p:nvSpPr>
        <p:spPr>
          <a:xfrm>
            <a:off x="548640" y="5577840"/>
            <a:ext cx="5440680" cy="548640"/>
          </a:xfrm>
          <a:prstGeom prst="roundRect">
            <a:avLst>
              <a:gd name="adj" fmla="val 13333"/>
            </a:avLst>
          </a:prstGeom>
          <a:solidFill>
            <a:srgbClr val="E3ECF6"/>
          </a:solidFill>
          <a:ln/>
        </p:spPr>
      </p:sp>
      <p:sp>
        <p:nvSpPr>
          <p:cNvPr id="55" name="Text 53"/>
          <p:cNvSpPr txBox="1"/>
          <p:nvPr/>
        </p:nvSpPr>
        <p:spPr>
          <a:xfrm>
            <a:off x="777240" y="5577840"/>
            <a:ext cx="5029200" cy="548640"/>
          </a:xfrm>
          <a:prstGeom prst="rect">
            <a:avLst/>
          </a:prstGeom>
          <a:noFill/>
          <a:ln/>
        </p:spPr>
        <p:txBody>
          <a:bodyPr wrap="square" lIns="0" tIns="0" rIns="0" bIns="0" rtlCol="0" anchor="ctr"/>
          <a:lstStyle/>
          <a:p>
            <a:pPr algn="l" indent="0" marL="0">
              <a:buNone/>
            </a:pPr>
            <a:r>
              <a:rPr lang="en-US" sz="1400" b="1" dirty="0">
                <a:solidFill>
                  <a:schemeClr val="tx1"/>
                </a:solidFill>
              </a:rPr>
              <a:t>App start: </a:t>
            </a:r>
            <a:pPr algn="l" indent="0" marL="0">
              <a:buNone/>
            </a:pPr>
            <a:r>
              <a:rPr lang="en-US" sz="1400" dirty="0">
                <a:solidFill>
                  <a:schemeClr val="tx1"/>
                </a:solidFill>
              </a:rPr>
              <a:t>pickle.load(index.pkl) → everything in RAM in 1.3 s</a:t>
            </a:r>
            <a:endParaRPr lang="en-US" sz="1400" dirty="0"/>
          </a:p>
        </p:txBody>
      </p:sp>
      <p:sp>
        <p:nvSpPr>
          <p:cNvPr id="56" name="Note"/>
          <p:cNvSpPr/>
          <p:nvPr/>
        </p:nvSpPr>
        <p:spPr>
          <a:xfrm>
            <a:off x="6199632" y="5577840"/>
            <a:ext cx="5440680" cy="548640"/>
          </a:xfrm>
          <a:prstGeom prst="roundRect">
            <a:avLst>
              <a:gd name="adj" fmla="val 13333"/>
            </a:avLst>
          </a:prstGeom>
          <a:solidFill>
            <a:srgbClr val="FBE9DC"/>
          </a:solidFill>
          <a:ln/>
        </p:spPr>
      </p:sp>
      <p:sp>
        <p:nvSpPr>
          <p:cNvPr id="57" name="Text 55"/>
          <p:cNvSpPr txBox="1"/>
          <p:nvPr/>
        </p:nvSpPr>
        <p:spPr>
          <a:xfrm>
            <a:off x="6428232" y="5577840"/>
            <a:ext cx="5029200" cy="548640"/>
          </a:xfrm>
          <a:prstGeom prst="rect">
            <a:avLst/>
          </a:prstGeom>
          <a:noFill/>
          <a:ln/>
        </p:spPr>
        <p:txBody>
          <a:bodyPr wrap="square" lIns="0" tIns="0" rIns="0" bIns="0" rtlCol="0" anchor="ctr"/>
          <a:lstStyle/>
          <a:p>
            <a:pPr algn="l" indent="0" marL="0">
              <a:buNone/>
            </a:pPr>
            <a:r>
              <a:rPr lang="en-US" sz="1400" b="1" dirty="0">
                <a:solidFill>
                  <a:schemeClr val="tx1"/>
                </a:solidFill>
              </a:rPr>
              <a:t>Per query: </a:t>
            </a:r>
            <a:pPr algn="l" indent="0" marL="0">
              <a:buNone/>
            </a:pPr>
            <a:r>
              <a:rPr lang="en-US" sz="1400" dirty="0">
                <a:solidFill>
                  <a:schemeClr val="tx1"/>
                </a:solidFill>
              </a:rPr>
              <a:t>BM25 ≈ 0.005 s · TF-IDF ≈ 0.04 s</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TECH STACK</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Small, boring, readable tools</a:t>
            </a:r>
            <a:endParaRPr lang="en-US" sz="3200" dirty="0"/>
          </a:p>
        </p:txBody>
      </p:sp>
      <p:sp>
        <p:nvSpPr>
          <p:cNvPr id="4" name="Stack card"/>
          <p:cNvSpPr/>
          <p:nvPr/>
        </p:nvSpPr>
        <p:spPr>
          <a:xfrm>
            <a:off x="548640" y="1600200"/>
            <a:ext cx="2567864" cy="2011680"/>
          </a:xfrm>
          <a:prstGeom prst="roundRect">
            <a:avLst>
              <a:gd name="adj" fmla="val 3636"/>
            </a:avLst>
          </a:prstGeom>
          <a:solidFill>
            <a:schemeClr val="bg2"/>
          </a:solidFill>
          <a:ln/>
        </p:spPr>
      </p:sp>
      <p:sp>
        <p:nvSpPr>
          <p:cNvPr id="5" name="Icon circle"/>
          <p:cNvSpPr/>
          <p:nvPr/>
        </p:nvSpPr>
        <p:spPr>
          <a:xfrm>
            <a:off x="822960" y="1874520"/>
            <a:ext cx="548640" cy="548640"/>
          </a:xfrm>
          <a:prstGeom prst="ellipse">
            <a:avLst/>
          </a:prstGeom>
          <a:solidFill>
            <a:schemeClr val="tx1"/>
          </a:solidFill>
          <a:ln/>
        </p:spPr>
      </p:sp>
      <p:pic>
        <p:nvPicPr>
          <p:cNvPr id="6" name="Image 0" descr="icon">    </p:cNvPr>
          <p:cNvPicPr>
            <a:picLocks noChangeAspect="1"/>
          </p:cNvPicPr>
          <p:nvPr/>
        </p:nvPicPr>
        <p:blipFill>
          <a:blip r:embed="rId1"/>
          <a:stretch>
            <a:fillRect/>
          </a:stretch>
        </p:blipFill>
        <p:spPr>
          <a:xfrm>
            <a:off x="960120" y="2011680"/>
            <a:ext cx="274320" cy="274320"/>
          </a:xfrm>
          <a:prstGeom prst="rect">
            <a:avLst/>
          </a:prstGeom>
        </p:spPr>
      </p:pic>
      <p:sp>
        <p:nvSpPr>
          <p:cNvPr id="7" name="Text 4"/>
          <p:cNvSpPr txBox="1"/>
          <p:nvPr/>
        </p:nvSpPr>
        <p:spPr>
          <a:xfrm>
            <a:off x="1508760" y="201168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LANGUAGE</a:t>
            </a:r>
            <a:endParaRPr lang="en-US" sz="1100" dirty="0"/>
          </a:p>
        </p:txBody>
      </p:sp>
      <p:sp>
        <p:nvSpPr>
          <p:cNvPr id="8" name="Text 5"/>
          <p:cNvSpPr txBox="1"/>
          <p:nvPr/>
        </p:nvSpPr>
        <p:spPr>
          <a:xfrm>
            <a:off x="822960" y="251460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Python 3</a:t>
            </a:r>
            <a:endParaRPr lang="en-US" sz="1500" dirty="0"/>
          </a:p>
        </p:txBody>
      </p:sp>
      <p:sp>
        <p:nvSpPr>
          <p:cNvPr id="9" name="Text 6"/>
          <p:cNvSpPr txBox="1"/>
          <p:nvPr/>
        </p:nvSpPr>
        <p:spPr>
          <a:xfrm>
            <a:off x="822960" y="308152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Readable; best text and ML ecosystem</a:t>
            </a:r>
            <a:endParaRPr lang="en-US" sz="1300" dirty="0"/>
          </a:p>
        </p:txBody>
      </p:sp>
      <p:sp>
        <p:nvSpPr>
          <p:cNvPr id="10" name="Stack card"/>
          <p:cNvSpPr/>
          <p:nvPr/>
        </p:nvSpPr>
        <p:spPr>
          <a:xfrm>
            <a:off x="3390824" y="1600200"/>
            <a:ext cx="2567864" cy="2011680"/>
          </a:xfrm>
          <a:prstGeom prst="roundRect">
            <a:avLst>
              <a:gd name="adj" fmla="val 3636"/>
            </a:avLst>
          </a:prstGeom>
          <a:solidFill>
            <a:schemeClr val="bg2"/>
          </a:solidFill>
          <a:ln/>
        </p:spPr>
      </p:sp>
      <p:sp>
        <p:nvSpPr>
          <p:cNvPr id="11" name="Icon circle"/>
          <p:cNvSpPr/>
          <p:nvPr/>
        </p:nvSpPr>
        <p:spPr>
          <a:xfrm>
            <a:off x="3665144" y="1874520"/>
            <a:ext cx="548640" cy="548640"/>
          </a:xfrm>
          <a:prstGeom prst="ellipse">
            <a:avLst/>
          </a:prstGeom>
          <a:solidFill>
            <a:schemeClr val="tx1"/>
          </a:solidFill>
          <a:ln/>
        </p:spPr>
      </p:sp>
      <p:pic>
        <p:nvPicPr>
          <p:cNvPr id="12" name="Image 1" descr="icon">    </p:cNvPr>
          <p:cNvPicPr>
            <a:picLocks noChangeAspect="1"/>
          </p:cNvPicPr>
          <p:nvPr/>
        </p:nvPicPr>
        <p:blipFill>
          <a:blip r:embed="rId2"/>
          <a:stretch>
            <a:fillRect/>
          </a:stretch>
        </p:blipFill>
        <p:spPr>
          <a:xfrm>
            <a:off x="3802304" y="2011680"/>
            <a:ext cx="274320" cy="274320"/>
          </a:xfrm>
          <a:prstGeom prst="rect">
            <a:avLst/>
          </a:prstGeom>
        </p:spPr>
      </p:pic>
      <p:sp>
        <p:nvSpPr>
          <p:cNvPr id="13" name="Text 9"/>
          <p:cNvSpPr txBox="1"/>
          <p:nvPr/>
        </p:nvSpPr>
        <p:spPr>
          <a:xfrm>
            <a:off x="4350944" y="201168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PARSING</a:t>
            </a:r>
            <a:endParaRPr lang="en-US" sz="1100" dirty="0"/>
          </a:p>
        </p:txBody>
      </p:sp>
      <p:sp>
        <p:nvSpPr>
          <p:cNvPr id="14" name="Text 10"/>
          <p:cNvSpPr txBox="1"/>
          <p:nvPr/>
        </p:nvSpPr>
        <p:spPr>
          <a:xfrm>
            <a:off x="3665144" y="251460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email + csv (built-in)</a:t>
            </a:r>
            <a:endParaRPr lang="en-US" sz="1500" dirty="0"/>
          </a:p>
        </p:txBody>
      </p:sp>
      <p:sp>
        <p:nvSpPr>
          <p:cNvPr id="15" name="Text 11"/>
          <p:cNvSpPr txBox="1"/>
          <p:nvPr/>
        </p:nvSpPr>
        <p:spPr>
          <a:xfrm>
            <a:off x="3665144" y="308152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Nothing extra to install</a:t>
            </a:r>
            <a:endParaRPr lang="en-US" sz="1300" dirty="0"/>
          </a:p>
        </p:txBody>
      </p:sp>
      <p:sp>
        <p:nvSpPr>
          <p:cNvPr id="16" name="Stack card"/>
          <p:cNvSpPr/>
          <p:nvPr/>
        </p:nvSpPr>
        <p:spPr>
          <a:xfrm>
            <a:off x="6233008" y="1600200"/>
            <a:ext cx="2567864" cy="2011680"/>
          </a:xfrm>
          <a:prstGeom prst="roundRect">
            <a:avLst>
              <a:gd name="adj" fmla="val 3636"/>
            </a:avLst>
          </a:prstGeom>
          <a:solidFill>
            <a:schemeClr val="bg2"/>
          </a:solidFill>
          <a:ln/>
        </p:spPr>
      </p:sp>
      <p:sp>
        <p:nvSpPr>
          <p:cNvPr id="17" name="Icon circle"/>
          <p:cNvSpPr/>
          <p:nvPr/>
        </p:nvSpPr>
        <p:spPr>
          <a:xfrm>
            <a:off x="6507328" y="1874520"/>
            <a:ext cx="548640" cy="548640"/>
          </a:xfrm>
          <a:prstGeom prst="ellipse">
            <a:avLst/>
          </a:prstGeom>
          <a:solidFill>
            <a:schemeClr val="tx1"/>
          </a:solidFill>
          <a:ln/>
        </p:spPr>
      </p:sp>
      <p:pic>
        <p:nvPicPr>
          <p:cNvPr id="18" name="Image 2" descr="icon">    </p:cNvPr>
          <p:cNvPicPr>
            <a:picLocks noChangeAspect="1"/>
          </p:cNvPicPr>
          <p:nvPr/>
        </p:nvPicPr>
        <p:blipFill>
          <a:blip r:embed="rId3"/>
          <a:stretch>
            <a:fillRect/>
          </a:stretch>
        </p:blipFill>
        <p:spPr>
          <a:xfrm>
            <a:off x="6644488" y="2011680"/>
            <a:ext cx="274320" cy="274320"/>
          </a:xfrm>
          <a:prstGeom prst="rect">
            <a:avLst/>
          </a:prstGeom>
        </p:spPr>
      </p:pic>
      <p:sp>
        <p:nvSpPr>
          <p:cNvPr id="19" name="Text 14"/>
          <p:cNvSpPr txBox="1"/>
          <p:nvPr/>
        </p:nvSpPr>
        <p:spPr>
          <a:xfrm>
            <a:off x="7193128" y="201168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TF-IDF</a:t>
            </a:r>
            <a:endParaRPr lang="en-US" sz="1100" dirty="0"/>
          </a:p>
        </p:txBody>
      </p:sp>
      <p:sp>
        <p:nvSpPr>
          <p:cNvPr id="20" name="Text 15"/>
          <p:cNvSpPr txBox="1"/>
          <p:nvPr/>
        </p:nvSpPr>
        <p:spPr>
          <a:xfrm>
            <a:off x="6507328" y="251460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scikit-learn</a:t>
            </a:r>
            <a:endParaRPr lang="en-US" sz="1500" dirty="0"/>
          </a:p>
        </p:txBody>
      </p:sp>
      <p:sp>
        <p:nvSpPr>
          <p:cNvPr id="21" name="Text 16"/>
          <p:cNvSpPr txBox="1"/>
          <p:nvPr/>
        </p:nvSpPr>
        <p:spPr>
          <a:xfrm>
            <a:off x="6507328" y="308152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TfidfVectorizer: standard, well-tested</a:t>
            </a:r>
            <a:endParaRPr lang="en-US" sz="1300" dirty="0"/>
          </a:p>
        </p:txBody>
      </p:sp>
      <p:sp>
        <p:nvSpPr>
          <p:cNvPr id="22" name="Stack card"/>
          <p:cNvSpPr/>
          <p:nvPr/>
        </p:nvSpPr>
        <p:spPr>
          <a:xfrm>
            <a:off x="9075191" y="1600200"/>
            <a:ext cx="2567864" cy="2011680"/>
          </a:xfrm>
          <a:prstGeom prst="roundRect">
            <a:avLst>
              <a:gd name="adj" fmla="val 3636"/>
            </a:avLst>
          </a:prstGeom>
          <a:solidFill>
            <a:schemeClr val="tx1"/>
          </a:solidFill>
          <a:ln/>
        </p:spPr>
      </p:sp>
      <p:sp>
        <p:nvSpPr>
          <p:cNvPr id="23" name="Icon circle"/>
          <p:cNvSpPr/>
          <p:nvPr/>
        </p:nvSpPr>
        <p:spPr>
          <a:xfrm>
            <a:off x="9349511" y="1874520"/>
            <a:ext cx="548640" cy="548640"/>
          </a:xfrm>
          <a:prstGeom prst="ellipse">
            <a:avLst/>
          </a:prstGeom>
          <a:solidFill>
            <a:schemeClr val="accent1"/>
          </a:solidFill>
          <a:ln/>
        </p:spPr>
      </p:sp>
      <p:pic>
        <p:nvPicPr>
          <p:cNvPr id="24" name="Image 3" descr="icon">    </p:cNvPr>
          <p:cNvPicPr>
            <a:picLocks noChangeAspect="1"/>
          </p:cNvPicPr>
          <p:nvPr/>
        </p:nvPicPr>
        <p:blipFill>
          <a:blip r:embed="rId4"/>
          <a:stretch>
            <a:fillRect/>
          </a:stretch>
        </p:blipFill>
        <p:spPr>
          <a:xfrm>
            <a:off x="9486671" y="2011680"/>
            <a:ext cx="274320" cy="274320"/>
          </a:xfrm>
          <a:prstGeom prst="rect">
            <a:avLst/>
          </a:prstGeom>
        </p:spPr>
      </p:pic>
      <p:sp>
        <p:nvSpPr>
          <p:cNvPr id="25" name="Text 19"/>
          <p:cNvSpPr txBox="1"/>
          <p:nvPr/>
        </p:nvSpPr>
        <p:spPr>
          <a:xfrm>
            <a:off x="10035311" y="2011680"/>
            <a:ext cx="1470584"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BM25</a:t>
            </a:r>
            <a:endParaRPr lang="en-US" sz="1100" dirty="0"/>
          </a:p>
        </p:txBody>
      </p:sp>
      <p:sp>
        <p:nvSpPr>
          <p:cNvPr id="26" name="Text 20"/>
          <p:cNvSpPr txBox="1"/>
          <p:nvPr/>
        </p:nvSpPr>
        <p:spPr>
          <a:xfrm>
            <a:off x="9349511" y="2514600"/>
            <a:ext cx="2110664" cy="548640"/>
          </a:xfrm>
          <a:prstGeom prst="rect">
            <a:avLst/>
          </a:prstGeom>
          <a:noFill/>
          <a:ln/>
        </p:spPr>
        <p:txBody>
          <a:bodyPr wrap="square" lIns="0" tIns="0" rIns="0" bIns="0" rtlCol="0" anchor="t"/>
          <a:lstStyle/>
          <a:p>
            <a:pPr algn="l" indent="0" marL="0">
              <a:buNone/>
            </a:pPr>
            <a:r>
              <a:rPr lang="en-US" sz="1500" b="1" dirty="0">
                <a:solidFill>
                  <a:schemeClr val="bg1"/>
                </a:solidFill>
              </a:rPr>
              <a:t>Hand-written, NumPy</a:t>
            </a:r>
            <a:endParaRPr lang="en-US" sz="1500" dirty="0"/>
          </a:p>
        </p:txBody>
      </p:sp>
      <p:sp>
        <p:nvSpPr>
          <p:cNvPr id="27" name="Text 21"/>
          <p:cNvSpPr txBox="1"/>
          <p:nvPr/>
        </p:nvSpPr>
        <p:spPr>
          <a:xfrm>
            <a:off x="9349511" y="3081528"/>
            <a:ext cx="2110664" cy="502920"/>
          </a:xfrm>
          <a:prstGeom prst="rect">
            <a:avLst/>
          </a:prstGeom>
          <a:noFill/>
          <a:ln/>
        </p:spPr>
        <p:txBody>
          <a:bodyPr wrap="square" lIns="0" tIns="0" rIns="0" bIns="0" rtlCol="0" anchor="t"/>
          <a:lstStyle/>
          <a:p>
            <a:pPr algn="l" indent="0" marL="0">
              <a:buNone/>
            </a:pPr>
            <a:r>
              <a:rPr lang="en-US" sz="1300" dirty="0">
                <a:solidFill>
                  <a:schemeClr val="accent5"/>
                </a:solidFill>
              </a:rPr>
              <a:t>~15 lines: proves we understand it</a:t>
            </a:r>
            <a:endParaRPr lang="en-US" sz="1300" dirty="0"/>
          </a:p>
        </p:txBody>
      </p:sp>
      <p:sp>
        <p:nvSpPr>
          <p:cNvPr id="28" name="Stack card"/>
          <p:cNvSpPr/>
          <p:nvPr/>
        </p:nvSpPr>
        <p:spPr>
          <a:xfrm>
            <a:off x="548640" y="3840480"/>
            <a:ext cx="2567864" cy="2011680"/>
          </a:xfrm>
          <a:prstGeom prst="roundRect">
            <a:avLst>
              <a:gd name="adj" fmla="val 3636"/>
            </a:avLst>
          </a:prstGeom>
          <a:solidFill>
            <a:schemeClr val="bg2"/>
          </a:solidFill>
          <a:ln/>
        </p:spPr>
      </p:sp>
      <p:sp>
        <p:nvSpPr>
          <p:cNvPr id="29" name="Icon circle"/>
          <p:cNvSpPr/>
          <p:nvPr/>
        </p:nvSpPr>
        <p:spPr>
          <a:xfrm>
            <a:off x="822960" y="4114800"/>
            <a:ext cx="548640" cy="548640"/>
          </a:xfrm>
          <a:prstGeom prst="ellipse">
            <a:avLst/>
          </a:prstGeom>
          <a:solidFill>
            <a:schemeClr val="tx1"/>
          </a:solidFill>
          <a:ln/>
        </p:spPr>
      </p:sp>
      <p:pic>
        <p:nvPicPr>
          <p:cNvPr id="30" name="Image 4" descr="icon">    </p:cNvPr>
          <p:cNvPicPr>
            <a:picLocks noChangeAspect="1"/>
          </p:cNvPicPr>
          <p:nvPr/>
        </p:nvPicPr>
        <p:blipFill>
          <a:blip r:embed="rId5"/>
          <a:stretch>
            <a:fillRect/>
          </a:stretch>
        </p:blipFill>
        <p:spPr>
          <a:xfrm>
            <a:off x="960120" y="4251960"/>
            <a:ext cx="274320" cy="274320"/>
          </a:xfrm>
          <a:prstGeom prst="rect">
            <a:avLst/>
          </a:prstGeom>
        </p:spPr>
      </p:pic>
      <p:sp>
        <p:nvSpPr>
          <p:cNvPr id="31" name="Text 24"/>
          <p:cNvSpPr txBox="1"/>
          <p:nvPr/>
        </p:nvSpPr>
        <p:spPr>
          <a:xfrm>
            <a:off x="1508760" y="425196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VECTORS</a:t>
            </a:r>
            <a:endParaRPr lang="en-US" sz="1100" dirty="0"/>
          </a:p>
        </p:txBody>
      </p:sp>
      <p:sp>
        <p:nvSpPr>
          <p:cNvPr id="32" name="Text 25"/>
          <p:cNvSpPr txBox="1"/>
          <p:nvPr/>
        </p:nvSpPr>
        <p:spPr>
          <a:xfrm>
            <a:off x="822960" y="475488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SciPy sparse (CSR / CSC)</a:t>
            </a:r>
            <a:endParaRPr lang="en-US" sz="1500" dirty="0"/>
          </a:p>
        </p:txBody>
      </p:sp>
      <p:sp>
        <p:nvSpPr>
          <p:cNvPr id="33" name="Text 26"/>
          <p:cNvSpPr txBox="1"/>
          <p:nvPr/>
        </p:nvSpPr>
        <p:spPr>
          <a:xfrm>
            <a:off x="822960" y="532180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1.27 TB dense → ~300 MB</a:t>
            </a:r>
            <a:endParaRPr lang="en-US" sz="1300" dirty="0"/>
          </a:p>
        </p:txBody>
      </p:sp>
      <p:sp>
        <p:nvSpPr>
          <p:cNvPr id="34" name="Stack card"/>
          <p:cNvSpPr/>
          <p:nvPr/>
        </p:nvSpPr>
        <p:spPr>
          <a:xfrm>
            <a:off x="3390824" y="3840480"/>
            <a:ext cx="2567864" cy="2011680"/>
          </a:xfrm>
          <a:prstGeom prst="roundRect">
            <a:avLst>
              <a:gd name="adj" fmla="val 3636"/>
            </a:avLst>
          </a:prstGeom>
          <a:solidFill>
            <a:schemeClr val="bg2"/>
          </a:solidFill>
          <a:ln/>
        </p:spPr>
      </p:sp>
      <p:sp>
        <p:nvSpPr>
          <p:cNvPr id="35" name="Icon circle"/>
          <p:cNvSpPr/>
          <p:nvPr/>
        </p:nvSpPr>
        <p:spPr>
          <a:xfrm>
            <a:off x="3665144" y="4114800"/>
            <a:ext cx="548640" cy="548640"/>
          </a:xfrm>
          <a:prstGeom prst="ellipse">
            <a:avLst/>
          </a:prstGeom>
          <a:solidFill>
            <a:schemeClr val="tx1"/>
          </a:solidFill>
          <a:ln/>
        </p:spPr>
      </p:sp>
      <p:pic>
        <p:nvPicPr>
          <p:cNvPr id="36" name="Image 5" descr="icon">    </p:cNvPr>
          <p:cNvPicPr>
            <a:picLocks noChangeAspect="1"/>
          </p:cNvPicPr>
          <p:nvPr/>
        </p:nvPicPr>
        <p:blipFill>
          <a:blip r:embed="rId6"/>
          <a:stretch>
            <a:fillRect/>
          </a:stretch>
        </p:blipFill>
        <p:spPr>
          <a:xfrm>
            <a:off x="3802304" y="4251960"/>
            <a:ext cx="274320" cy="274320"/>
          </a:xfrm>
          <a:prstGeom prst="rect">
            <a:avLst/>
          </a:prstGeom>
        </p:spPr>
      </p:pic>
      <p:sp>
        <p:nvSpPr>
          <p:cNvPr id="37" name="Text 29"/>
          <p:cNvSpPr txBox="1"/>
          <p:nvPr/>
        </p:nvSpPr>
        <p:spPr>
          <a:xfrm>
            <a:off x="4350944" y="425196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STORAGE</a:t>
            </a:r>
            <a:endParaRPr lang="en-US" sz="1100" dirty="0"/>
          </a:p>
        </p:txBody>
      </p:sp>
      <p:sp>
        <p:nvSpPr>
          <p:cNvPr id="38" name="Text 30"/>
          <p:cNvSpPr txBox="1"/>
          <p:nvPr/>
        </p:nvSpPr>
        <p:spPr>
          <a:xfrm>
            <a:off x="3665144" y="475488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pickle → index.pkl</a:t>
            </a:r>
            <a:endParaRPr lang="en-US" sz="1500" dirty="0"/>
          </a:p>
        </p:txBody>
      </p:sp>
      <p:sp>
        <p:nvSpPr>
          <p:cNvPr id="39" name="Text 31"/>
          <p:cNvSpPr txBox="1"/>
          <p:nvPr/>
        </p:nvSpPr>
        <p:spPr>
          <a:xfrm>
            <a:off x="3665144" y="532180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Build once, load in 1.3 s</a:t>
            </a:r>
            <a:endParaRPr lang="en-US" sz="1300" dirty="0"/>
          </a:p>
        </p:txBody>
      </p:sp>
      <p:sp>
        <p:nvSpPr>
          <p:cNvPr id="40" name="Stack card"/>
          <p:cNvSpPr/>
          <p:nvPr/>
        </p:nvSpPr>
        <p:spPr>
          <a:xfrm>
            <a:off x="6233008" y="3840480"/>
            <a:ext cx="2567864" cy="2011680"/>
          </a:xfrm>
          <a:prstGeom prst="roundRect">
            <a:avLst>
              <a:gd name="adj" fmla="val 3636"/>
            </a:avLst>
          </a:prstGeom>
          <a:solidFill>
            <a:schemeClr val="bg2"/>
          </a:solidFill>
          <a:ln/>
        </p:spPr>
      </p:sp>
      <p:sp>
        <p:nvSpPr>
          <p:cNvPr id="41" name="Icon circle"/>
          <p:cNvSpPr/>
          <p:nvPr/>
        </p:nvSpPr>
        <p:spPr>
          <a:xfrm>
            <a:off x="6507328" y="4114800"/>
            <a:ext cx="548640" cy="548640"/>
          </a:xfrm>
          <a:prstGeom prst="ellipse">
            <a:avLst/>
          </a:prstGeom>
          <a:solidFill>
            <a:schemeClr val="tx1"/>
          </a:solidFill>
          <a:ln/>
        </p:spPr>
      </p:sp>
      <p:pic>
        <p:nvPicPr>
          <p:cNvPr id="42" name="Image 6" descr="icon">    </p:cNvPr>
          <p:cNvPicPr>
            <a:picLocks noChangeAspect="1"/>
          </p:cNvPicPr>
          <p:nvPr/>
        </p:nvPicPr>
        <p:blipFill>
          <a:blip r:embed="rId7"/>
          <a:stretch>
            <a:fillRect/>
          </a:stretch>
        </p:blipFill>
        <p:spPr>
          <a:xfrm>
            <a:off x="6644488" y="4251960"/>
            <a:ext cx="274320" cy="274320"/>
          </a:xfrm>
          <a:prstGeom prst="rect">
            <a:avLst/>
          </a:prstGeom>
        </p:spPr>
      </p:pic>
      <p:sp>
        <p:nvSpPr>
          <p:cNvPr id="43" name="Text 34"/>
          <p:cNvSpPr txBox="1"/>
          <p:nvPr/>
        </p:nvSpPr>
        <p:spPr>
          <a:xfrm>
            <a:off x="7193128" y="425196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WEB APP</a:t>
            </a:r>
            <a:endParaRPr lang="en-US" sz="1100" dirty="0"/>
          </a:p>
        </p:txBody>
      </p:sp>
      <p:sp>
        <p:nvSpPr>
          <p:cNvPr id="44" name="Text 35"/>
          <p:cNvSpPr txBox="1"/>
          <p:nvPr/>
        </p:nvSpPr>
        <p:spPr>
          <a:xfrm>
            <a:off x="6507328" y="475488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Flask + Jinja2</a:t>
            </a:r>
            <a:endParaRPr lang="en-US" sz="1500" dirty="0"/>
          </a:p>
        </p:txBody>
      </p:sp>
      <p:sp>
        <p:nvSpPr>
          <p:cNvPr id="45" name="Text 36"/>
          <p:cNvSpPr txBox="1"/>
          <p:nvPr/>
        </p:nvSpPr>
        <p:spPr>
          <a:xfrm>
            <a:off x="6507328" y="532180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Two pages, ~50 lines, no build step</a:t>
            </a:r>
            <a:endParaRPr lang="en-US" sz="1300" dirty="0"/>
          </a:p>
        </p:txBody>
      </p:sp>
      <p:sp>
        <p:nvSpPr>
          <p:cNvPr id="46" name="Stack card"/>
          <p:cNvSpPr/>
          <p:nvPr/>
        </p:nvSpPr>
        <p:spPr>
          <a:xfrm>
            <a:off x="9075191" y="3840480"/>
            <a:ext cx="2567864" cy="2011680"/>
          </a:xfrm>
          <a:prstGeom prst="roundRect">
            <a:avLst>
              <a:gd name="adj" fmla="val 3636"/>
            </a:avLst>
          </a:prstGeom>
          <a:solidFill>
            <a:schemeClr val="bg2"/>
          </a:solidFill>
          <a:ln/>
        </p:spPr>
      </p:sp>
      <p:sp>
        <p:nvSpPr>
          <p:cNvPr id="47" name="Icon circle"/>
          <p:cNvSpPr/>
          <p:nvPr/>
        </p:nvSpPr>
        <p:spPr>
          <a:xfrm>
            <a:off x="9349511" y="4114800"/>
            <a:ext cx="548640" cy="548640"/>
          </a:xfrm>
          <a:prstGeom prst="ellipse">
            <a:avLst/>
          </a:prstGeom>
          <a:solidFill>
            <a:schemeClr val="tx1"/>
          </a:solidFill>
          <a:ln/>
        </p:spPr>
      </p:sp>
      <p:pic>
        <p:nvPicPr>
          <p:cNvPr id="48" name="Image 7" descr="icon">    </p:cNvPr>
          <p:cNvPicPr>
            <a:picLocks noChangeAspect="1"/>
          </p:cNvPicPr>
          <p:nvPr/>
        </p:nvPicPr>
        <p:blipFill>
          <a:blip r:embed="rId8"/>
          <a:stretch>
            <a:fillRect/>
          </a:stretch>
        </p:blipFill>
        <p:spPr>
          <a:xfrm>
            <a:off x="9486671" y="4251960"/>
            <a:ext cx="274320" cy="274320"/>
          </a:xfrm>
          <a:prstGeom prst="rect">
            <a:avLst/>
          </a:prstGeom>
        </p:spPr>
      </p:pic>
      <p:sp>
        <p:nvSpPr>
          <p:cNvPr id="49" name="Text 39"/>
          <p:cNvSpPr txBox="1"/>
          <p:nvPr/>
        </p:nvSpPr>
        <p:spPr>
          <a:xfrm>
            <a:off x="10035311" y="4251960"/>
            <a:ext cx="147058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TESTS</a:t>
            </a:r>
            <a:endParaRPr lang="en-US" sz="1100" dirty="0"/>
          </a:p>
        </p:txBody>
      </p:sp>
      <p:sp>
        <p:nvSpPr>
          <p:cNvPr id="50" name="Text 40"/>
          <p:cNvSpPr txBox="1"/>
          <p:nvPr/>
        </p:nvSpPr>
        <p:spPr>
          <a:xfrm>
            <a:off x="9349511" y="4754880"/>
            <a:ext cx="2110664" cy="548640"/>
          </a:xfrm>
          <a:prstGeom prst="rect">
            <a:avLst/>
          </a:prstGeom>
          <a:noFill/>
          <a:ln/>
        </p:spPr>
        <p:txBody>
          <a:bodyPr wrap="square" lIns="0" tIns="0" rIns="0" bIns="0" rtlCol="0" anchor="t"/>
          <a:lstStyle/>
          <a:p>
            <a:pPr algn="l" indent="0" marL="0">
              <a:buNone/>
            </a:pPr>
            <a:r>
              <a:rPr lang="en-US" sz="1500" b="1" dirty="0">
                <a:solidFill>
                  <a:schemeClr val="tx1"/>
                </a:solidFill>
              </a:rPr>
              <a:t>test_search.py</a:t>
            </a:r>
            <a:endParaRPr lang="en-US" sz="1500" dirty="0"/>
          </a:p>
        </p:txBody>
      </p:sp>
      <p:sp>
        <p:nvSpPr>
          <p:cNvPr id="51" name="Text 41"/>
          <p:cNvSpPr txBox="1"/>
          <p:nvPr/>
        </p:nvSpPr>
        <p:spPr>
          <a:xfrm>
            <a:off x="9349511" y="5321808"/>
            <a:ext cx="2110664" cy="502920"/>
          </a:xfrm>
          <a:prstGeom prst="rect">
            <a:avLst/>
          </a:prstGeom>
          <a:noFill/>
          <a:ln/>
        </p:spPr>
        <p:txBody>
          <a:bodyPr wrap="square" lIns="0" tIns="0" rIns="0" bIns="0" rtlCol="0" anchor="t"/>
          <a:lstStyle/>
          <a:p>
            <a:pPr algn="l" indent="0" marL="0">
              <a:buNone/>
            </a:pPr>
            <a:r>
              <a:rPr lang="en-US" sz="1300" dirty="0">
                <a:solidFill>
                  <a:schemeClr val="tx2"/>
                </a:solidFill>
              </a:rPr>
              <a:t>+ compare.py: both rankers behave</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WHY SPARSE MATRICES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158 billion cells, and 99.98% of them are zero</a:t>
            </a:r>
            <a:endParaRPr lang="en-US" sz="3200" dirty="0"/>
          </a:p>
        </p:txBody>
      </p:sp>
      <p:sp>
        <p:nvSpPr>
          <p:cNvPr id="4" name="Dense stat"/>
          <p:cNvSpPr/>
          <p:nvPr/>
        </p:nvSpPr>
        <p:spPr>
          <a:xfrm>
            <a:off x="548640" y="1691640"/>
            <a:ext cx="3383280" cy="2103120"/>
          </a:xfrm>
          <a:prstGeom prst="roundRect">
            <a:avLst>
              <a:gd name="adj" fmla="val 3478"/>
            </a:avLst>
          </a:prstGeom>
          <a:solidFill>
            <a:schemeClr val="bg2"/>
          </a:solidFill>
          <a:ln/>
        </p:spPr>
      </p:sp>
      <p:sp>
        <p:nvSpPr>
          <p:cNvPr id="5" name="Text 3"/>
          <p:cNvSpPr txBox="1"/>
          <p:nvPr/>
        </p:nvSpPr>
        <p:spPr>
          <a:xfrm>
            <a:off x="822960" y="1874520"/>
            <a:ext cx="2926080" cy="822960"/>
          </a:xfrm>
          <a:prstGeom prst="rect">
            <a:avLst/>
          </a:prstGeom>
          <a:noFill/>
          <a:ln/>
        </p:spPr>
        <p:txBody>
          <a:bodyPr wrap="square" lIns="0" tIns="0" rIns="0" bIns="0" rtlCol="0" anchor="t"/>
          <a:lstStyle/>
          <a:p>
            <a:pPr algn="l" indent="0" marL="0">
              <a:buNone/>
            </a:pPr>
            <a:r>
              <a:rPr lang="en-US" sz="4400" b="1" dirty="0">
                <a:solidFill>
                  <a:schemeClr val="tx1"/>
                </a:solidFill>
              </a:rPr>
              <a:t>1.27 TB</a:t>
            </a:r>
            <a:endParaRPr lang="en-US" sz="4400" dirty="0"/>
          </a:p>
        </p:txBody>
      </p:sp>
      <p:sp>
        <p:nvSpPr>
          <p:cNvPr id="6" name="Text 4"/>
          <p:cNvSpPr txBox="1"/>
          <p:nvPr/>
        </p:nvSpPr>
        <p:spPr>
          <a:xfrm>
            <a:off x="822960" y="2697480"/>
            <a:ext cx="2926080" cy="1005840"/>
          </a:xfrm>
          <a:prstGeom prst="rect">
            <a:avLst/>
          </a:prstGeom>
          <a:noFill/>
          <a:ln/>
        </p:spPr>
        <p:txBody>
          <a:bodyPr wrap="square" lIns="0" tIns="0" rIns="0" bIns="0" rtlCol="0" anchor="t"/>
          <a:lstStyle/>
          <a:p>
            <a:pPr algn="l" indent="0" marL="0">
              <a:buNone/>
            </a:pPr>
            <a:r>
              <a:rPr lang="en-US" sz="1400" dirty="0">
                <a:solidFill>
                  <a:schemeClr val="tx2"/>
                </a:solidFill>
              </a:rPr>
              <a:t>as a normal (dense) matrix: 251,115 × 631,253 numbers. Impossible on a laptop.</a:t>
            </a:r>
            <a:endParaRPr lang="en-US" sz="1400" dirty="0"/>
          </a:p>
        </p:txBody>
      </p:sp>
      <p:sp>
        <p:nvSpPr>
          <p:cNvPr id="7" name="Arrow"/>
          <p:cNvSpPr/>
          <p:nvPr/>
        </p:nvSpPr>
        <p:spPr>
          <a:xfrm>
            <a:off x="4023360" y="2743200"/>
            <a:ext cx="640080" cy="0"/>
          </a:xfrm>
          <a:prstGeom prst="line">
            <a:avLst/>
          </a:prstGeom>
          <a:noFill/>
          <a:ln w="19050">
            <a:solidFill>
              <a:srgbClr val="E07A2E"/>
            </a:solidFill>
            <a:prstDash val="solid"/>
            <a:tailEnd type="triangle"/>
          </a:ln>
        </p:spPr>
      </p:sp>
      <p:sp>
        <p:nvSpPr>
          <p:cNvPr id="8" name="Sparse stat"/>
          <p:cNvSpPr/>
          <p:nvPr/>
        </p:nvSpPr>
        <p:spPr>
          <a:xfrm>
            <a:off x="4754880" y="1691640"/>
            <a:ext cx="3383280" cy="2103120"/>
          </a:xfrm>
          <a:prstGeom prst="roundRect">
            <a:avLst>
              <a:gd name="adj" fmla="val 3478"/>
            </a:avLst>
          </a:prstGeom>
          <a:solidFill>
            <a:schemeClr val="tx1"/>
          </a:solidFill>
          <a:ln/>
        </p:spPr>
      </p:sp>
      <p:sp>
        <p:nvSpPr>
          <p:cNvPr id="9" name="Text 7"/>
          <p:cNvSpPr txBox="1"/>
          <p:nvPr/>
        </p:nvSpPr>
        <p:spPr>
          <a:xfrm>
            <a:off x="5029200" y="1874520"/>
            <a:ext cx="2926080" cy="822960"/>
          </a:xfrm>
          <a:prstGeom prst="rect">
            <a:avLst/>
          </a:prstGeom>
          <a:noFill/>
          <a:ln/>
        </p:spPr>
        <p:txBody>
          <a:bodyPr wrap="square" lIns="0" tIns="0" rIns="0" bIns="0" rtlCol="0" anchor="t"/>
          <a:lstStyle/>
          <a:p>
            <a:pPr algn="l" indent="0" marL="0">
              <a:buNone/>
            </a:pPr>
            <a:r>
              <a:rPr lang="en-US" sz="4400" b="1" dirty="0">
                <a:solidFill>
                  <a:schemeClr val="accent1"/>
                </a:solidFill>
              </a:rPr>
              <a:t>~300 MB</a:t>
            </a:r>
            <a:endParaRPr lang="en-US" sz="4400" dirty="0"/>
          </a:p>
        </p:txBody>
      </p:sp>
      <p:sp>
        <p:nvSpPr>
          <p:cNvPr id="10" name="Text 8"/>
          <p:cNvSpPr txBox="1"/>
          <p:nvPr/>
        </p:nvSpPr>
        <p:spPr>
          <a:xfrm>
            <a:off x="5029200" y="2697480"/>
            <a:ext cx="2926080" cy="1005840"/>
          </a:xfrm>
          <a:prstGeom prst="rect">
            <a:avLst/>
          </a:prstGeom>
          <a:noFill/>
          <a:ln/>
        </p:spPr>
        <p:txBody>
          <a:bodyPr wrap="square" lIns="0" tIns="0" rIns="0" bIns="0" rtlCol="0" anchor="t"/>
          <a:lstStyle/>
          <a:p>
            <a:pPr algn="l" indent="0" marL="0">
              <a:buNone/>
            </a:pPr>
            <a:r>
              <a:rPr lang="en-US" sz="1400" dirty="0">
                <a:solidFill>
                  <a:schemeClr val="bg1"/>
                </a:solidFill>
              </a:rPr>
              <a:t>as a sparse matrix: only the 24.5 million non-zero values are stored.</a:t>
            </a:r>
            <a:endParaRPr lang="en-US" sz="1400" dirty="0"/>
          </a:p>
        </p:txBody>
      </p:sp>
      <p:sp>
        <p:nvSpPr>
          <p:cNvPr id="11" name="Text 9"/>
          <p:cNvSpPr txBox="1"/>
          <p:nvPr/>
        </p:nvSpPr>
        <p:spPr>
          <a:xfrm>
            <a:off x="548640" y="4069080"/>
            <a:ext cx="7589520" cy="1097280"/>
          </a:xfrm>
          <a:prstGeom prst="rect">
            <a:avLst/>
          </a:prstGeom>
          <a:noFill/>
          <a:ln/>
        </p:spPr>
        <p:txBody>
          <a:bodyPr wrap="square" lIns="0" tIns="0" rIns="0" bIns="0" rtlCol="0" anchor="t"/>
          <a:lstStyle/>
          <a:p>
            <a:pPr algn="l" indent="0" marL="0">
              <a:buNone/>
            </a:pPr>
            <a:r>
              <a:rPr lang="en-US" sz="1600" dirty="0">
                <a:solidFill>
                  <a:schemeClr val="tx1"/>
                </a:solidFill>
              </a:rPr>
              <a:t>An average email uses only </a:t>
            </a:r>
            <a:pPr algn="l" indent="0" marL="0">
              <a:buNone/>
            </a:pPr>
            <a:r>
              <a:rPr lang="en-US" sz="1600" b="1" dirty="0">
                <a:solidFill>
                  <a:schemeClr val="accent1"/>
                </a:solidFill>
              </a:rPr>
              <a:t>97</a:t>
            </a:r>
            <a:pPr algn="l" indent="0" marL="0">
              <a:buNone/>
            </a:pPr>
            <a:r>
              <a:rPr lang="en-US" sz="1600" dirty="0">
                <a:solidFill>
                  <a:schemeClr val="tx1"/>
                </a:solidFill>
              </a:rPr>
              <a:t> of the 631,253 words, so almost every cell is zero. Storing only non-zeros is also why we don’t need a vector database: the whole index fits in RAM.</a:t>
            </a:r>
            <a:endParaRPr lang="en-US" sz="1600" dirty="0"/>
          </a:p>
        </p:txBody>
      </p:sp>
      <p:sp>
        <p:nvSpPr>
          <p:cNvPr id="12" name="CSR card"/>
          <p:cNvSpPr/>
          <p:nvPr/>
        </p:nvSpPr>
        <p:spPr>
          <a:xfrm>
            <a:off x="8458200" y="1691640"/>
            <a:ext cx="3182112" cy="4023360"/>
          </a:xfrm>
          <a:prstGeom prst="roundRect">
            <a:avLst>
              <a:gd name="adj" fmla="val 2299"/>
            </a:avLst>
          </a:prstGeom>
          <a:solidFill>
            <a:schemeClr val="bg2"/>
          </a:solidFill>
          <a:ln/>
        </p:spPr>
      </p:sp>
      <p:sp>
        <p:nvSpPr>
          <p:cNvPr id="13" name="Text 11"/>
          <p:cNvSpPr txBox="1"/>
          <p:nvPr/>
        </p:nvSpPr>
        <p:spPr>
          <a:xfrm>
            <a:off x="8686800" y="1874520"/>
            <a:ext cx="274320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HOW CSR STORES EMAIL 1</a:t>
            </a:r>
            <a:endParaRPr lang="en-US" sz="1100" dirty="0"/>
          </a:p>
        </p:txBody>
      </p:sp>
      <p:sp>
        <p:nvSpPr>
          <p:cNvPr id="14" name="Text 12"/>
          <p:cNvSpPr txBox="1"/>
          <p:nvPr/>
        </p:nvSpPr>
        <p:spPr>
          <a:xfrm>
            <a:off x="8686800" y="2240280"/>
            <a:ext cx="2834640" cy="1097280"/>
          </a:xfrm>
          <a:prstGeom prst="rect">
            <a:avLst/>
          </a:prstGeom>
          <a:noFill/>
          <a:ln/>
        </p:spPr>
        <p:txBody>
          <a:bodyPr wrap="square" lIns="0" tIns="0" rIns="0" bIns="0" rtlCol="0" anchor="t"/>
          <a:lstStyle/>
          <a:p>
            <a:pPr algn="l" indent="0" marL="0">
              <a:lnSpc>
                <a:spcPct val="130000"/>
              </a:lnSpc>
              <a:buNone/>
            </a:pPr>
            <a:r>
              <a:rPr lang="en-US" sz="1200" dirty="0">
                <a:solidFill>
                  <a:schemeClr val="tx1"/>
                </a:solidFill>
                <a:latin typeface="Courier New" pitchFamily="34" charset="0"/>
                <a:ea typeface="Courier New" pitchFamily="34" charset="-122"/>
                <a:cs typeface="Courier New" pitchFamily="34" charset="-120"/>
              </a:rPr>
              <a:t>data    = [… 0.32 0.85 0.42 …]</a:t>
            </a:r>
            <a:endParaRPr lang="en-US" sz="1200" dirty="0"/>
          </a:p>
          <a:p>
            <a:pPr algn="l" indent="0" marL="0">
              <a:lnSpc>
                <a:spcPct val="130000"/>
              </a:lnSpc>
              <a:buNone/>
            </a:pPr>
            <a:r>
              <a:rPr lang="en-US" sz="1200" dirty="0">
                <a:solidFill>
                  <a:schemeClr val="tx1"/>
                </a:solidFill>
                <a:latin typeface="Courier New" pitchFamily="34" charset="0"/>
                <a:ea typeface="Courier New" pitchFamily="34" charset="-122"/>
                <a:cs typeface="Courier New" pitchFamily="34" charset="-120"/>
              </a:rPr>
              <a:t>indices = […  2    4    8  …]</a:t>
            </a:r>
            <a:endParaRPr lang="en-US" sz="1200" dirty="0"/>
          </a:p>
          <a:p>
            <a:pPr algn="l" indent="0" marL="0">
              <a:lnSpc>
                <a:spcPct val="130000"/>
              </a:lnSpc>
              <a:buNone/>
            </a:pPr>
            <a:r>
              <a:rPr lang="en-US" sz="1200" dirty="0">
                <a:solidFill>
                  <a:schemeClr val="tx1"/>
                </a:solidFill>
                <a:latin typeface="Courier New" pitchFamily="34" charset="0"/>
                <a:ea typeface="Courier New" pitchFamily="34" charset="-122"/>
                <a:cs typeface="Courier New" pitchFamily="34" charset="-120"/>
              </a:rPr>
              <a:t>indptr  = [0, 4, 7, 10]</a:t>
            </a:r>
            <a:endParaRPr lang="en-US" sz="1200" dirty="0"/>
          </a:p>
        </p:txBody>
      </p:sp>
      <p:sp>
        <p:nvSpPr>
          <p:cNvPr id="15" name="Text 13"/>
          <p:cNvSpPr txBox="1"/>
          <p:nvPr/>
        </p:nvSpPr>
        <p:spPr>
          <a:xfrm>
            <a:off x="8686800" y="3383280"/>
            <a:ext cx="2743200" cy="822960"/>
          </a:xfrm>
          <a:prstGeom prst="rect">
            <a:avLst/>
          </a:prstGeom>
          <a:noFill/>
          <a:ln/>
        </p:spPr>
        <p:txBody>
          <a:bodyPr wrap="square" lIns="0" tIns="0" rIns="0" bIns="0" rtlCol="0" anchor="t"/>
          <a:lstStyle/>
          <a:p>
            <a:pPr algn="l" indent="0" marL="0">
              <a:buNone/>
            </a:pPr>
            <a:r>
              <a:rPr lang="en-US" sz="1300" dirty="0">
                <a:solidFill>
                  <a:schemeClr val="tx2"/>
                </a:solidFill>
              </a:rPr>
              <a:t>Columns 2, 4, 8 = gas, pipeline, shut. 27 cells → 10 values in our 3-email example.</a:t>
            </a:r>
            <a:endParaRPr lang="en-US" sz="1300" dirty="0"/>
          </a:p>
        </p:txBody>
      </p:sp>
      <p:sp>
        <p:nvSpPr>
          <p:cNvPr id="16" name="Text 14"/>
          <p:cNvSpPr txBox="1"/>
          <p:nvPr/>
        </p:nvSpPr>
        <p:spPr>
          <a:xfrm>
            <a:off x="8686800" y="4251960"/>
            <a:ext cx="2743200" cy="1371600"/>
          </a:xfrm>
          <a:prstGeom prst="rect">
            <a:avLst/>
          </a:prstGeom>
          <a:noFill/>
          <a:ln/>
        </p:spPr>
        <p:txBody>
          <a:bodyPr wrap="square" lIns="0" tIns="0" rIns="0" bIns="0" rtlCol="0" anchor="t"/>
          <a:lstStyle/>
          <a:p>
            <a:pPr algn="l" indent="0" marL="0">
              <a:buNone/>
            </a:pPr>
            <a:r>
              <a:rPr lang="en-US" sz="1300" b="1" dirty="0">
                <a:solidFill>
                  <a:schemeClr val="tx1"/>
                </a:solidFill>
              </a:rPr>
              <a:t>CSC </a:t>
            </a:r>
            <a:pPr algn="l" indent="0" marL="0">
              <a:buNone/>
            </a:pPr>
            <a:r>
              <a:rPr lang="en-US" sz="1300" dirty="0">
                <a:solidFill>
                  <a:schemeClr val="tx1"/>
                </a:solidFill>
              </a:rPr>
              <a:t>is the same idea column by column: word → emails containing it. That is an inverted index, and it is what makes BM25 fast.</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lIns="0" tIns="0" rIns="0" bIns="0" rtlCol="0"/>
          <a:lstStyle/>
          <a:p>
            <a:pPr indent="0" marL="0">
              <a:buNone/>
            </a:pPr>
            <a:r>
              <a:rPr lang="en-US" sz="6000" b="1" dirty="0">
                <a:solidFill>
                  <a:schemeClr val="accent1"/>
                </a:solidFill>
              </a:rPr>
              <a:t>02</a:t>
            </a: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lIns="0" tIns="0" rIns="0" bIns="0" rtlCol="0"/>
          <a:lstStyle/>
          <a:p>
            <a:pPr algn="l" indent="0" marL="0">
              <a:buNone/>
            </a:pPr>
            <a:r>
              <a:rPr lang="en-US" sz="4400" b="1" dirty="0">
                <a:solidFill>
                  <a:schemeClr val="bg1"/>
                </a:solidFill>
              </a:rPr>
              <a:t>The algorithms</a:t>
            </a: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lIns="0" tIns="0" rIns="0" bIns="0" rtlCol="0" anchor="t"/>
          <a:lstStyle/>
          <a:p>
            <a:pPr indent="0" marL="0">
              <a:buNone/>
            </a:pPr>
            <a:r>
              <a:rPr lang="en-US" sz="2000" dirty="0">
                <a:solidFill>
                  <a:schemeClr val="accent5"/>
                </a:solidFill>
              </a:rPr>
              <a:t>Where TF-IDF and BM25 come from, how they work, and what else exists</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LANDSCAPE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70 years of ranking text: where TF-IDF and BM25 sit</a:t>
            </a:r>
            <a:endParaRPr lang="en-US" sz="3200" dirty="0"/>
          </a:p>
        </p:txBody>
      </p:sp>
      <p:sp>
        <p:nvSpPr>
          <p:cNvPr id="4" name="Timeline"/>
          <p:cNvSpPr/>
          <p:nvPr/>
        </p:nvSpPr>
        <p:spPr>
          <a:xfrm>
            <a:off x="640080" y="3657600"/>
            <a:ext cx="10911535" cy="0"/>
          </a:xfrm>
          <a:prstGeom prst="line">
            <a:avLst/>
          </a:prstGeom>
          <a:noFill/>
          <a:ln w="25400">
            <a:solidFill>
              <a:srgbClr val="D9DDE4"/>
            </a:solidFill>
            <a:prstDash val="solid"/>
          </a:ln>
        </p:spPr>
      </p:sp>
      <p:sp>
        <p:nvSpPr>
          <p:cNvPr id="5" name="Milestone"/>
          <p:cNvSpPr/>
          <p:nvPr/>
        </p:nvSpPr>
        <p:spPr>
          <a:xfrm>
            <a:off x="1133856" y="3557016"/>
            <a:ext cx="201168" cy="201168"/>
          </a:xfrm>
          <a:prstGeom prst="ellipse">
            <a:avLst/>
          </a:prstGeom>
          <a:solidFill>
            <a:schemeClr val="tx1"/>
          </a:solidFill>
          <a:ln w="25400">
            <a:solidFill>
              <a:schemeClr val="bg1"/>
            </a:solidFill>
            <a:prstDash val="solid"/>
          </a:ln>
        </p:spPr>
      </p:sp>
      <p:sp>
        <p:nvSpPr>
          <p:cNvPr id="6" name="Tick"/>
          <p:cNvSpPr/>
          <p:nvPr/>
        </p:nvSpPr>
        <p:spPr>
          <a:xfrm>
            <a:off x="1234440" y="3246120"/>
            <a:ext cx="0" cy="301752"/>
          </a:xfrm>
          <a:prstGeom prst="line">
            <a:avLst/>
          </a:prstGeom>
          <a:noFill/>
          <a:ln w="12700">
            <a:solidFill>
              <a:srgbClr val="D9DDE4"/>
            </a:solidFill>
            <a:prstDash val="solid"/>
          </a:ln>
        </p:spPr>
      </p:sp>
      <p:sp>
        <p:nvSpPr>
          <p:cNvPr id="7" name="Text 5"/>
          <p:cNvSpPr txBox="1"/>
          <p:nvPr/>
        </p:nvSpPr>
        <p:spPr>
          <a:xfrm>
            <a:off x="521208" y="160020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1960s</a:t>
            </a:r>
            <a:endParaRPr lang="en-US" sz="1400" dirty="0"/>
          </a:p>
        </p:txBody>
      </p:sp>
      <p:sp>
        <p:nvSpPr>
          <p:cNvPr id="8" name="Text 6"/>
          <p:cNvSpPr txBox="1"/>
          <p:nvPr/>
        </p:nvSpPr>
        <p:spPr>
          <a:xfrm>
            <a:off x="521208"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Boolean retrieval</a:t>
            </a:r>
            <a:endParaRPr lang="en-US" sz="1400" dirty="0"/>
          </a:p>
        </p:txBody>
      </p:sp>
      <p:sp>
        <p:nvSpPr>
          <p:cNvPr id="9" name="Text 7"/>
          <p:cNvSpPr txBox="1"/>
          <p:nvPr/>
        </p:nvSpPr>
        <p:spPr>
          <a:xfrm>
            <a:off x="521208"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Exact AND / OR / NOT match. No ranking</a:t>
            </a:r>
            <a:endParaRPr lang="en-US" sz="1200" dirty="0"/>
          </a:p>
        </p:txBody>
      </p:sp>
      <p:sp>
        <p:nvSpPr>
          <p:cNvPr id="10" name="Milestone"/>
          <p:cNvSpPr/>
          <p:nvPr/>
        </p:nvSpPr>
        <p:spPr>
          <a:xfrm>
            <a:off x="2159305" y="3502152"/>
            <a:ext cx="310896" cy="310896"/>
          </a:xfrm>
          <a:prstGeom prst="ellipse">
            <a:avLst/>
          </a:prstGeom>
          <a:solidFill>
            <a:schemeClr val="accent2"/>
          </a:solidFill>
          <a:ln w="25400">
            <a:solidFill>
              <a:schemeClr val="bg1"/>
            </a:solidFill>
            <a:prstDash val="solid"/>
          </a:ln>
        </p:spPr>
      </p:sp>
      <p:sp>
        <p:nvSpPr>
          <p:cNvPr id="11" name="Highlight"/>
          <p:cNvSpPr/>
          <p:nvPr/>
        </p:nvSpPr>
        <p:spPr>
          <a:xfrm>
            <a:off x="1546657" y="3904488"/>
            <a:ext cx="1536192" cy="1783080"/>
          </a:xfrm>
          <a:prstGeom prst="roundRect">
            <a:avLst>
              <a:gd name="adj" fmla="val 4762"/>
            </a:avLst>
          </a:prstGeom>
          <a:solidFill>
            <a:srgbClr val="E3ECF6"/>
          </a:solidFill>
          <a:ln/>
        </p:spPr>
      </p:sp>
      <p:sp>
        <p:nvSpPr>
          <p:cNvPr id="12" name="Tick"/>
          <p:cNvSpPr/>
          <p:nvPr/>
        </p:nvSpPr>
        <p:spPr>
          <a:xfrm>
            <a:off x="2314753" y="3767328"/>
            <a:ext cx="0" cy="201168"/>
          </a:xfrm>
          <a:prstGeom prst="line">
            <a:avLst/>
          </a:prstGeom>
          <a:noFill/>
          <a:ln w="12700">
            <a:solidFill>
              <a:srgbClr val="D9DDE4"/>
            </a:solidFill>
            <a:prstDash val="solid"/>
          </a:ln>
        </p:spPr>
      </p:sp>
      <p:sp>
        <p:nvSpPr>
          <p:cNvPr id="13" name="Text 11"/>
          <p:cNvSpPr txBox="1"/>
          <p:nvPr/>
        </p:nvSpPr>
        <p:spPr>
          <a:xfrm>
            <a:off x="1601521" y="3977640"/>
            <a:ext cx="1426464" cy="292608"/>
          </a:xfrm>
          <a:prstGeom prst="rect">
            <a:avLst/>
          </a:prstGeom>
          <a:noFill/>
          <a:ln/>
        </p:spPr>
        <p:txBody>
          <a:bodyPr wrap="square" lIns="0" tIns="0" rIns="0" bIns="0" rtlCol="0" anchor="t"/>
          <a:lstStyle/>
          <a:p>
            <a:pPr algn="ctr" indent="0" marL="0">
              <a:buNone/>
            </a:pPr>
            <a:r>
              <a:rPr lang="en-US" sz="1400" b="1" dirty="0">
                <a:solidFill>
                  <a:schemeClr val="accent2"/>
                </a:solidFill>
              </a:rPr>
              <a:t>1972–75</a:t>
            </a:r>
            <a:endParaRPr lang="en-US" sz="1400" dirty="0"/>
          </a:p>
        </p:txBody>
      </p:sp>
      <p:sp>
        <p:nvSpPr>
          <p:cNvPr id="14" name="Text 12"/>
          <p:cNvSpPr txBox="1"/>
          <p:nvPr/>
        </p:nvSpPr>
        <p:spPr>
          <a:xfrm>
            <a:off x="1601521"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TF-IDF + vector space</a:t>
            </a:r>
            <a:endParaRPr lang="en-US" sz="1400" dirty="0"/>
          </a:p>
        </p:txBody>
      </p:sp>
      <p:sp>
        <p:nvSpPr>
          <p:cNvPr id="15" name="Text 13"/>
          <p:cNvSpPr txBox="1"/>
          <p:nvPr/>
        </p:nvSpPr>
        <p:spPr>
          <a:xfrm>
            <a:off x="1601521"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Spärck Jones (IDF), Salton (VSM)</a:t>
            </a:r>
            <a:endParaRPr lang="en-US" sz="1200" dirty="0"/>
          </a:p>
        </p:txBody>
      </p:sp>
      <p:sp>
        <p:nvSpPr>
          <p:cNvPr id="16" name="Milestone"/>
          <p:cNvSpPr/>
          <p:nvPr/>
        </p:nvSpPr>
        <p:spPr>
          <a:xfrm>
            <a:off x="3294482" y="3557016"/>
            <a:ext cx="201168" cy="201168"/>
          </a:xfrm>
          <a:prstGeom prst="ellipse">
            <a:avLst/>
          </a:prstGeom>
          <a:solidFill>
            <a:schemeClr val="tx1"/>
          </a:solidFill>
          <a:ln w="25400">
            <a:solidFill>
              <a:schemeClr val="bg1"/>
            </a:solidFill>
            <a:prstDash val="solid"/>
          </a:ln>
        </p:spPr>
      </p:sp>
      <p:sp>
        <p:nvSpPr>
          <p:cNvPr id="17" name="Tick"/>
          <p:cNvSpPr/>
          <p:nvPr/>
        </p:nvSpPr>
        <p:spPr>
          <a:xfrm>
            <a:off x="3395066" y="3246120"/>
            <a:ext cx="0" cy="301752"/>
          </a:xfrm>
          <a:prstGeom prst="line">
            <a:avLst/>
          </a:prstGeom>
          <a:noFill/>
          <a:ln w="12700">
            <a:solidFill>
              <a:srgbClr val="D9DDE4"/>
            </a:solidFill>
            <a:prstDash val="solid"/>
          </a:ln>
        </p:spPr>
      </p:sp>
      <p:sp>
        <p:nvSpPr>
          <p:cNvPr id="18" name="Text 16"/>
          <p:cNvSpPr txBox="1"/>
          <p:nvPr/>
        </p:nvSpPr>
        <p:spPr>
          <a:xfrm>
            <a:off x="2681834" y="160020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1976</a:t>
            </a:r>
            <a:endParaRPr lang="en-US" sz="1400" dirty="0"/>
          </a:p>
        </p:txBody>
      </p:sp>
      <p:sp>
        <p:nvSpPr>
          <p:cNvPr id="19" name="Text 17"/>
          <p:cNvSpPr txBox="1"/>
          <p:nvPr/>
        </p:nvSpPr>
        <p:spPr>
          <a:xfrm>
            <a:off x="2681834"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Probabilistic model</a:t>
            </a:r>
            <a:endParaRPr lang="en-US" sz="1400" dirty="0"/>
          </a:p>
        </p:txBody>
      </p:sp>
      <p:sp>
        <p:nvSpPr>
          <p:cNvPr id="20" name="Text 18"/>
          <p:cNvSpPr txBox="1"/>
          <p:nvPr/>
        </p:nvSpPr>
        <p:spPr>
          <a:xfrm>
            <a:off x="2681834"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Robertson &amp; Spärck Jones</a:t>
            </a:r>
            <a:endParaRPr lang="en-US" sz="1200" dirty="0"/>
          </a:p>
        </p:txBody>
      </p:sp>
      <p:sp>
        <p:nvSpPr>
          <p:cNvPr id="21" name="Milestone"/>
          <p:cNvSpPr/>
          <p:nvPr/>
        </p:nvSpPr>
        <p:spPr>
          <a:xfrm>
            <a:off x="4374794" y="3557016"/>
            <a:ext cx="201168" cy="201168"/>
          </a:xfrm>
          <a:prstGeom prst="ellipse">
            <a:avLst/>
          </a:prstGeom>
          <a:solidFill>
            <a:schemeClr val="tx1"/>
          </a:solidFill>
          <a:ln w="25400">
            <a:solidFill>
              <a:schemeClr val="bg1"/>
            </a:solidFill>
            <a:prstDash val="solid"/>
          </a:ln>
        </p:spPr>
      </p:sp>
      <p:sp>
        <p:nvSpPr>
          <p:cNvPr id="22" name="Tick"/>
          <p:cNvSpPr/>
          <p:nvPr/>
        </p:nvSpPr>
        <p:spPr>
          <a:xfrm>
            <a:off x="4475378" y="3767328"/>
            <a:ext cx="0" cy="201168"/>
          </a:xfrm>
          <a:prstGeom prst="line">
            <a:avLst/>
          </a:prstGeom>
          <a:noFill/>
          <a:ln w="12700">
            <a:solidFill>
              <a:srgbClr val="D9DDE4"/>
            </a:solidFill>
            <a:prstDash val="solid"/>
          </a:ln>
        </p:spPr>
      </p:sp>
      <p:sp>
        <p:nvSpPr>
          <p:cNvPr id="23" name="Text 21"/>
          <p:cNvSpPr txBox="1"/>
          <p:nvPr/>
        </p:nvSpPr>
        <p:spPr>
          <a:xfrm>
            <a:off x="3762146" y="397764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1990</a:t>
            </a:r>
            <a:endParaRPr lang="en-US" sz="1400" dirty="0"/>
          </a:p>
        </p:txBody>
      </p:sp>
      <p:sp>
        <p:nvSpPr>
          <p:cNvPr id="24" name="Text 22"/>
          <p:cNvSpPr txBox="1"/>
          <p:nvPr/>
        </p:nvSpPr>
        <p:spPr>
          <a:xfrm>
            <a:off x="3762146"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LSI / LSA</a:t>
            </a:r>
            <a:endParaRPr lang="en-US" sz="1400" dirty="0"/>
          </a:p>
        </p:txBody>
      </p:sp>
      <p:sp>
        <p:nvSpPr>
          <p:cNvPr id="25" name="Text 23"/>
          <p:cNvSpPr txBox="1"/>
          <p:nvPr/>
        </p:nvSpPr>
        <p:spPr>
          <a:xfrm>
            <a:off x="3762146"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SVD finds latent topics</a:t>
            </a:r>
            <a:endParaRPr lang="en-US" sz="1200" dirty="0"/>
          </a:p>
        </p:txBody>
      </p:sp>
      <p:sp>
        <p:nvSpPr>
          <p:cNvPr id="26" name="Milestone"/>
          <p:cNvSpPr/>
          <p:nvPr/>
        </p:nvSpPr>
        <p:spPr>
          <a:xfrm>
            <a:off x="5400243" y="3502152"/>
            <a:ext cx="310896" cy="310896"/>
          </a:xfrm>
          <a:prstGeom prst="ellipse">
            <a:avLst/>
          </a:prstGeom>
          <a:solidFill>
            <a:schemeClr val="accent1"/>
          </a:solidFill>
          <a:ln w="25400">
            <a:solidFill>
              <a:schemeClr val="bg1"/>
            </a:solidFill>
            <a:prstDash val="solid"/>
          </a:ln>
        </p:spPr>
      </p:sp>
      <p:sp>
        <p:nvSpPr>
          <p:cNvPr id="27" name="Highlight"/>
          <p:cNvSpPr/>
          <p:nvPr/>
        </p:nvSpPr>
        <p:spPr>
          <a:xfrm>
            <a:off x="4787595" y="1527048"/>
            <a:ext cx="1536192" cy="1783080"/>
          </a:xfrm>
          <a:prstGeom prst="roundRect">
            <a:avLst>
              <a:gd name="adj" fmla="val 4762"/>
            </a:avLst>
          </a:prstGeom>
          <a:solidFill>
            <a:srgbClr val="FBE9DC"/>
          </a:solidFill>
          <a:ln/>
        </p:spPr>
      </p:sp>
      <p:sp>
        <p:nvSpPr>
          <p:cNvPr id="28" name="Tick"/>
          <p:cNvSpPr/>
          <p:nvPr/>
        </p:nvSpPr>
        <p:spPr>
          <a:xfrm>
            <a:off x="5555691" y="3246120"/>
            <a:ext cx="0" cy="301752"/>
          </a:xfrm>
          <a:prstGeom prst="line">
            <a:avLst/>
          </a:prstGeom>
          <a:noFill/>
          <a:ln w="12700">
            <a:solidFill>
              <a:srgbClr val="D9DDE4"/>
            </a:solidFill>
            <a:prstDash val="solid"/>
          </a:ln>
        </p:spPr>
      </p:sp>
      <p:sp>
        <p:nvSpPr>
          <p:cNvPr id="29" name="Text 27"/>
          <p:cNvSpPr txBox="1"/>
          <p:nvPr/>
        </p:nvSpPr>
        <p:spPr>
          <a:xfrm>
            <a:off x="4842459" y="1600200"/>
            <a:ext cx="1426464" cy="292608"/>
          </a:xfrm>
          <a:prstGeom prst="rect">
            <a:avLst/>
          </a:prstGeom>
          <a:noFill/>
          <a:ln/>
        </p:spPr>
        <p:txBody>
          <a:bodyPr wrap="square" lIns="0" tIns="0" rIns="0" bIns="0" rtlCol="0" anchor="t"/>
          <a:lstStyle/>
          <a:p>
            <a:pPr algn="ctr" indent="0" marL="0">
              <a:buNone/>
            </a:pPr>
            <a:r>
              <a:rPr lang="en-US" sz="1400" b="1" dirty="0">
                <a:solidFill>
                  <a:schemeClr val="accent1"/>
                </a:solidFill>
              </a:rPr>
              <a:t>1994</a:t>
            </a:r>
            <a:endParaRPr lang="en-US" sz="1400" dirty="0"/>
          </a:p>
        </p:txBody>
      </p:sp>
      <p:sp>
        <p:nvSpPr>
          <p:cNvPr id="30" name="Text 28"/>
          <p:cNvSpPr txBox="1"/>
          <p:nvPr/>
        </p:nvSpPr>
        <p:spPr>
          <a:xfrm>
            <a:off x="4842459"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Okapi BM25</a:t>
            </a:r>
            <a:endParaRPr lang="en-US" sz="1400" dirty="0"/>
          </a:p>
        </p:txBody>
      </p:sp>
      <p:sp>
        <p:nvSpPr>
          <p:cNvPr id="31" name="Text 29"/>
          <p:cNvSpPr txBox="1"/>
          <p:nvPr/>
        </p:nvSpPr>
        <p:spPr>
          <a:xfrm>
            <a:off x="4842459"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Robertson et al., TREC-3</a:t>
            </a:r>
            <a:endParaRPr lang="en-US" sz="1200" dirty="0"/>
          </a:p>
        </p:txBody>
      </p:sp>
      <p:sp>
        <p:nvSpPr>
          <p:cNvPr id="32" name="Milestone"/>
          <p:cNvSpPr/>
          <p:nvPr/>
        </p:nvSpPr>
        <p:spPr>
          <a:xfrm>
            <a:off x="6535420" y="3557016"/>
            <a:ext cx="201168" cy="201168"/>
          </a:xfrm>
          <a:prstGeom prst="ellipse">
            <a:avLst/>
          </a:prstGeom>
          <a:solidFill>
            <a:schemeClr val="tx1"/>
          </a:solidFill>
          <a:ln w="25400">
            <a:solidFill>
              <a:schemeClr val="bg1"/>
            </a:solidFill>
            <a:prstDash val="solid"/>
          </a:ln>
        </p:spPr>
      </p:sp>
      <p:sp>
        <p:nvSpPr>
          <p:cNvPr id="33" name="Tick"/>
          <p:cNvSpPr/>
          <p:nvPr/>
        </p:nvSpPr>
        <p:spPr>
          <a:xfrm>
            <a:off x="6636004" y="3767328"/>
            <a:ext cx="0" cy="201168"/>
          </a:xfrm>
          <a:prstGeom prst="line">
            <a:avLst/>
          </a:prstGeom>
          <a:noFill/>
          <a:ln w="12700">
            <a:solidFill>
              <a:srgbClr val="D9DDE4"/>
            </a:solidFill>
            <a:prstDash val="solid"/>
          </a:ln>
        </p:spPr>
      </p:sp>
      <p:sp>
        <p:nvSpPr>
          <p:cNvPr id="34" name="Text 32"/>
          <p:cNvSpPr txBox="1"/>
          <p:nvPr/>
        </p:nvSpPr>
        <p:spPr>
          <a:xfrm>
            <a:off x="5922772" y="397764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1998</a:t>
            </a:r>
            <a:endParaRPr lang="en-US" sz="1400" dirty="0"/>
          </a:p>
        </p:txBody>
      </p:sp>
      <p:sp>
        <p:nvSpPr>
          <p:cNvPr id="35" name="Text 33"/>
          <p:cNvSpPr txBox="1"/>
          <p:nvPr/>
        </p:nvSpPr>
        <p:spPr>
          <a:xfrm>
            <a:off x="5922772"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Query likelihood</a:t>
            </a:r>
            <a:endParaRPr lang="en-US" sz="1400" dirty="0"/>
          </a:p>
        </p:txBody>
      </p:sp>
      <p:sp>
        <p:nvSpPr>
          <p:cNvPr id="36" name="Text 34"/>
          <p:cNvSpPr txBox="1"/>
          <p:nvPr/>
        </p:nvSpPr>
        <p:spPr>
          <a:xfrm>
            <a:off x="5922772"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Ponte &amp; Croft: language models</a:t>
            </a:r>
            <a:endParaRPr lang="en-US" sz="1200" dirty="0"/>
          </a:p>
        </p:txBody>
      </p:sp>
      <p:sp>
        <p:nvSpPr>
          <p:cNvPr id="37" name="Milestone"/>
          <p:cNvSpPr/>
          <p:nvPr/>
        </p:nvSpPr>
        <p:spPr>
          <a:xfrm>
            <a:off x="7615733" y="3557016"/>
            <a:ext cx="201168" cy="201168"/>
          </a:xfrm>
          <a:prstGeom prst="ellipse">
            <a:avLst/>
          </a:prstGeom>
          <a:solidFill>
            <a:schemeClr val="accent6"/>
          </a:solidFill>
          <a:ln w="25400">
            <a:solidFill>
              <a:schemeClr val="bg1"/>
            </a:solidFill>
            <a:prstDash val="solid"/>
          </a:ln>
        </p:spPr>
      </p:sp>
      <p:sp>
        <p:nvSpPr>
          <p:cNvPr id="38" name="Tick"/>
          <p:cNvSpPr/>
          <p:nvPr/>
        </p:nvSpPr>
        <p:spPr>
          <a:xfrm>
            <a:off x="7716317" y="3246120"/>
            <a:ext cx="0" cy="301752"/>
          </a:xfrm>
          <a:prstGeom prst="line">
            <a:avLst/>
          </a:prstGeom>
          <a:noFill/>
          <a:ln w="12700">
            <a:solidFill>
              <a:srgbClr val="D9DDE4"/>
            </a:solidFill>
            <a:prstDash val="solid"/>
          </a:ln>
        </p:spPr>
      </p:sp>
      <p:sp>
        <p:nvSpPr>
          <p:cNvPr id="39" name="Text 37"/>
          <p:cNvSpPr txBox="1"/>
          <p:nvPr/>
        </p:nvSpPr>
        <p:spPr>
          <a:xfrm>
            <a:off x="7003085" y="160020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2019</a:t>
            </a:r>
            <a:endParaRPr lang="en-US" sz="1400" dirty="0"/>
          </a:p>
        </p:txBody>
      </p:sp>
      <p:sp>
        <p:nvSpPr>
          <p:cNvPr id="40" name="Text 38"/>
          <p:cNvSpPr txBox="1"/>
          <p:nvPr/>
        </p:nvSpPr>
        <p:spPr>
          <a:xfrm>
            <a:off x="7003085"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BERT re-rankers</a:t>
            </a:r>
            <a:endParaRPr lang="en-US" sz="1400" dirty="0"/>
          </a:p>
        </p:txBody>
      </p:sp>
      <p:sp>
        <p:nvSpPr>
          <p:cNvPr id="41" name="Text 39"/>
          <p:cNvSpPr txBox="1"/>
          <p:nvPr/>
        </p:nvSpPr>
        <p:spPr>
          <a:xfrm>
            <a:off x="7003085"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monoBERT re-scores top hits</a:t>
            </a:r>
            <a:endParaRPr lang="en-US" sz="1200" dirty="0"/>
          </a:p>
        </p:txBody>
      </p:sp>
      <p:sp>
        <p:nvSpPr>
          <p:cNvPr id="42" name="Milestone"/>
          <p:cNvSpPr/>
          <p:nvPr/>
        </p:nvSpPr>
        <p:spPr>
          <a:xfrm>
            <a:off x="8696046" y="3557016"/>
            <a:ext cx="201168" cy="201168"/>
          </a:xfrm>
          <a:prstGeom prst="ellipse">
            <a:avLst/>
          </a:prstGeom>
          <a:solidFill>
            <a:schemeClr val="accent6"/>
          </a:solidFill>
          <a:ln w="25400">
            <a:solidFill>
              <a:schemeClr val="bg1"/>
            </a:solidFill>
            <a:prstDash val="solid"/>
          </a:ln>
        </p:spPr>
      </p:sp>
      <p:sp>
        <p:nvSpPr>
          <p:cNvPr id="43" name="Tick"/>
          <p:cNvSpPr/>
          <p:nvPr/>
        </p:nvSpPr>
        <p:spPr>
          <a:xfrm>
            <a:off x="8796630" y="3767328"/>
            <a:ext cx="0" cy="201168"/>
          </a:xfrm>
          <a:prstGeom prst="line">
            <a:avLst/>
          </a:prstGeom>
          <a:noFill/>
          <a:ln w="12700">
            <a:solidFill>
              <a:srgbClr val="D9DDE4"/>
            </a:solidFill>
            <a:prstDash val="solid"/>
          </a:ln>
        </p:spPr>
      </p:sp>
      <p:sp>
        <p:nvSpPr>
          <p:cNvPr id="44" name="Text 42"/>
          <p:cNvSpPr txBox="1"/>
          <p:nvPr/>
        </p:nvSpPr>
        <p:spPr>
          <a:xfrm>
            <a:off x="8083398" y="397764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2020</a:t>
            </a:r>
            <a:endParaRPr lang="en-US" sz="1400" dirty="0"/>
          </a:p>
        </p:txBody>
      </p:sp>
      <p:sp>
        <p:nvSpPr>
          <p:cNvPr id="45" name="Text 43"/>
          <p:cNvSpPr txBox="1"/>
          <p:nvPr/>
        </p:nvSpPr>
        <p:spPr>
          <a:xfrm>
            <a:off x="8083398"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Dense retrieval</a:t>
            </a:r>
            <a:endParaRPr lang="en-US" sz="1400" dirty="0"/>
          </a:p>
        </p:txBody>
      </p:sp>
      <p:sp>
        <p:nvSpPr>
          <p:cNvPr id="46" name="Text 44"/>
          <p:cNvSpPr txBox="1"/>
          <p:nvPr/>
        </p:nvSpPr>
        <p:spPr>
          <a:xfrm>
            <a:off x="8083398"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DPR, ColBERT embeddings</a:t>
            </a:r>
            <a:endParaRPr lang="en-US" sz="1200" dirty="0"/>
          </a:p>
        </p:txBody>
      </p:sp>
      <p:sp>
        <p:nvSpPr>
          <p:cNvPr id="47" name="Milestone"/>
          <p:cNvSpPr/>
          <p:nvPr/>
        </p:nvSpPr>
        <p:spPr>
          <a:xfrm>
            <a:off x="9776358" y="3557016"/>
            <a:ext cx="201168" cy="201168"/>
          </a:xfrm>
          <a:prstGeom prst="ellipse">
            <a:avLst/>
          </a:prstGeom>
          <a:solidFill>
            <a:schemeClr val="accent6"/>
          </a:solidFill>
          <a:ln w="25400">
            <a:solidFill>
              <a:schemeClr val="bg1"/>
            </a:solidFill>
            <a:prstDash val="solid"/>
          </a:ln>
        </p:spPr>
      </p:sp>
      <p:sp>
        <p:nvSpPr>
          <p:cNvPr id="48" name="Tick"/>
          <p:cNvSpPr/>
          <p:nvPr/>
        </p:nvSpPr>
        <p:spPr>
          <a:xfrm>
            <a:off x="9876942" y="3246120"/>
            <a:ext cx="0" cy="301752"/>
          </a:xfrm>
          <a:prstGeom prst="line">
            <a:avLst/>
          </a:prstGeom>
          <a:noFill/>
          <a:ln w="12700">
            <a:solidFill>
              <a:srgbClr val="D9DDE4"/>
            </a:solidFill>
            <a:prstDash val="solid"/>
          </a:ln>
        </p:spPr>
      </p:sp>
      <p:sp>
        <p:nvSpPr>
          <p:cNvPr id="49" name="Text 47"/>
          <p:cNvSpPr txBox="1"/>
          <p:nvPr/>
        </p:nvSpPr>
        <p:spPr>
          <a:xfrm>
            <a:off x="9163710" y="160020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2021</a:t>
            </a:r>
            <a:endParaRPr lang="en-US" sz="1400" dirty="0"/>
          </a:p>
        </p:txBody>
      </p:sp>
      <p:sp>
        <p:nvSpPr>
          <p:cNvPr id="50" name="Text 48"/>
          <p:cNvSpPr txBox="1"/>
          <p:nvPr/>
        </p:nvSpPr>
        <p:spPr>
          <a:xfrm>
            <a:off x="9163710"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Learned sparse</a:t>
            </a:r>
            <a:endParaRPr lang="en-US" sz="1400" dirty="0"/>
          </a:p>
        </p:txBody>
      </p:sp>
      <p:sp>
        <p:nvSpPr>
          <p:cNvPr id="51" name="Text 49"/>
          <p:cNvSpPr txBox="1"/>
          <p:nvPr/>
        </p:nvSpPr>
        <p:spPr>
          <a:xfrm>
            <a:off x="9163710"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SPLADE: BERT-weighted terms</a:t>
            </a:r>
            <a:endParaRPr lang="en-US" sz="1200" dirty="0"/>
          </a:p>
        </p:txBody>
      </p:sp>
      <p:sp>
        <p:nvSpPr>
          <p:cNvPr id="52" name="Milestone"/>
          <p:cNvSpPr/>
          <p:nvPr/>
        </p:nvSpPr>
        <p:spPr>
          <a:xfrm>
            <a:off x="10856671" y="3557016"/>
            <a:ext cx="201168" cy="201168"/>
          </a:xfrm>
          <a:prstGeom prst="ellipse">
            <a:avLst/>
          </a:prstGeom>
          <a:solidFill>
            <a:schemeClr val="accent6"/>
          </a:solidFill>
          <a:ln w="25400">
            <a:solidFill>
              <a:schemeClr val="bg1"/>
            </a:solidFill>
            <a:prstDash val="solid"/>
          </a:ln>
        </p:spPr>
      </p:sp>
      <p:sp>
        <p:nvSpPr>
          <p:cNvPr id="53" name="Tick"/>
          <p:cNvSpPr/>
          <p:nvPr/>
        </p:nvSpPr>
        <p:spPr>
          <a:xfrm>
            <a:off x="10957255" y="3767328"/>
            <a:ext cx="0" cy="201168"/>
          </a:xfrm>
          <a:prstGeom prst="line">
            <a:avLst/>
          </a:prstGeom>
          <a:noFill/>
          <a:ln w="12700">
            <a:solidFill>
              <a:srgbClr val="D9DDE4"/>
            </a:solidFill>
            <a:prstDash val="solid"/>
          </a:ln>
        </p:spPr>
      </p:sp>
      <p:sp>
        <p:nvSpPr>
          <p:cNvPr id="54" name="Text 52"/>
          <p:cNvSpPr txBox="1"/>
          <p:nvPr/>
        </p:nvSpPr>
        <p:spPr>
          <a:xfrm>
            <a:off x="10244023" y="397764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2023+</a:t>
            </a:r>
            <a:endParaRPr lang="en-US" sz="1400" dirty="0"/>
          </a:p>
        </p:txBody>
      </p:sp>
      <p:sp>
        <p:nvSpPr>
          <p:cNvPr id="55" name="Text 53"/>
          <p:cNvSpPr txBox="1"/>
          <p:nvPr/>
        </p:nvSpPr>
        <p:spPr>
          <a:xfrm>
            <a:off x="10244023"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Hybrid + RAG</a:t>
            </a:r>
            <a:endParaRPr lang="en-US" sz="1400" dirty="0"/>
          </a:p>
        </p:txBody>
      </p:sp>
      <p:sp>
        <p:nvSpPr>
          <p:cNvPr id="56" name="Text 54"/>
          <p:cNvSpPr txBox="1"/>
          <p:nvPr/>
        </p:nvSpPr>
        <p:spPr>
          <a:xfrm>
            <a:off x="10244023"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BM25 + embeddings feed LLMs</a:t>
            </a:r>
            <a:endParaRPr lang="en-US" sz="1200" dirty="0"/>
          </a:p>
        </p:txBody>
      </p:sp>
      <p:sp>
        <p:nvSpPr>
          <p:cNvPr id="57" name="Text 55"/>
          <p:cNvSpPr txBox="1"/>
          <p:nvPr/>
        </p:nvSpPr>
        <p:spPr>
          <a:xfrm>
            <a:off x="548640" y="5897880"/>
            <a:ext cx="11094415" cy="320040"/>
          </a:xfrm>
          <a:prstGeom prst="rect">
            <a:avLst/>
          </a:prstGeom>
          <a:noFill/>
          <a:ln/>
        </p:spPr>
        <p:txBody>
          <a:bodyPr wrap="square" lIns="0" tIns="0" rIns="0" bIns="0" rtlCol="0" anchor="t"/>
          <a:lstStyle/>
          <a:p>
            <a:pPr algn="ctr" indent="0" marL="0">
              <a:buNone/>
            </a:pPr>
            <a:r>
              <a:rPr lang="en-US" sz="1300" dirty="0">
                <a:solidFill>
                  <a:schemeClr val="tx1"/>
                </a:solidFill>
              </a:rPr>
              <a:t>● </a:t>
            </a:r>
            <a:pPr algn="ctr" indent="0" marL="0">
              <a:buNone/>
            </a:pPr>
            <a:r>
              <a:rPr lang="en-US" sz="1300" dirty="0">
                <a:solidFill>
                  <a:schemeClr val="tx2"/>
                </a:solidFill>
              </a:rPr>
              <a:t>Lexical / statistical: no training data, CPU only     </a:t>
            </a:r>
            <a:pPr algn="ctr" indent="0" marL="0">
              <a:buNone/>
            </a:pPr>
            <a:r>
              <a:rPr lang="en-US" sz="1300" dirty="0">
                <a:solidFill>
                  <a:schemeClr val="accent6"/>
                </a:solidFill>
              </a:rPr>
              <a:t>● </a:t>
            </a:r>
            <a:pPr algn="ctr" indent="0" marL="0">
              <a:buNone/>
            </a:pPr>
            <a:r>
              <a:rPr lang="en-US" sz="1300" dirty="0">
                <a:solidFill>
                  <a:schemeClr val="tx2"/>
                </a:solidFill>
              </a:rPr>
              <a:t>Neural: learns meaning from labelled data, usually needs GPUs</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LANDSCAPE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Four families of retrieval algorithms</a:t>
            </a:r>
            <a:endParaRPr lang="en-US" sz="3200" dirty="0"/>
          </a:p>
        </p:txBody>
      </p:sp>
      <p:sp>
        <p:nvSpPr>
          <p:cNvPr id="4" name="Family card"/>
          <p:cNvSpPr/>
          <p:nvPr/>
        </p:nvSpPr>
        <p:spPr>
          <a:xfrm>
            <a:off x="548640" y="1600200"/>
            <a:ext cx="2567864" cy="4526280"/>
          </a:xfrm>
          <a:prstGeom prst="roundRect">
            <a:avLst>
              <a:gd name="adj" fmla="val 2849"/>
            </a:avLst>
          </a:prstGeom>
          <a:solidFill>
            <a:schemeClr val="tx1"/>
          </a:solidFill>
          <a:ln/>
        </p:spPr>
      </p:sp>
      <p:sp>
        <p:nvSpPr>
          <p:cNvPr id="5" name="Icon circle"/>
          <p:cNvSpPr/>
          <p:nvPr/>
        </p:nvSpPr>
        <p:spPr>
          <a:xfrm>
            <a:off x="822960" y="1874520"/>
            <a:ext cx="640080" cy="64008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982980" y="2034540"/>
            <a:ext cx="320040" cy="320040"/>
          </a:xfrm>
          <a:prstGeom prst="rect">
            <a:avLst/>
          </a:prstGeom>
        </p:spPr>
      </p:pic>
      <p:sp>
        <p:nvSpPr>
          <p:cNvPr id="7" name="Text 4"/>
          <p:cNvSpPr txBox="1"/>
          <p:nvPr/>
        </p:nvSpPr>
        <p:spPr>
          <a:xfrm>
            <a:off x="1600200" y="2057400"/>
            <a:ext cx="1379144"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OUR PROJECT</a:t>
            </a:r>
            <a:endParaRPr lang="en-US" sz="1100" dirty="0"/>
          </a:p>
        </p:txBody>
      </p:sp>
      <p:sp>
        <p:nvSpPr>
          <p:cNvPr id="8" name="Text 5"/>
          <p:cNvSpPr txBox="1"/>
          <p:nvPr/>
        </p:nvSpPr>
        <p:spPr>
          <a:xfrm>
            <a:off x="822960" y="2697480"/>
            <a:ext cx="2064944" cy="640080"/>
          </a:xfrm>
          <a:prstGeom prst="rect">
            <a:avLst/>
          </a:prstGeom>
          <a:noFill/>
          <a:ln/>
        </p:spPr>
        <p:txBody>
          <a:bodyPr wrap="square" lIns="0" tIns="0" rIns="0" bIns="0" rtlCol="0" anchor="t"/>
          <a:lstStyle/>
          <a:p>
            <a:pPr algn="l" indent="0" marL="0">
              <a:buNone/>
            </a:pPr>
            <a:r>
              <a:rPr lang="en-US" sz="1800" b="1" dirty="0">
                <a:solidFill>
                  <a:schemeClr val="bg1"/>
                </a:solidFill>
              </a:rPr>
              <a:t>Lexical / keyword</a:t>
            </a:r>
            <a:endParaRPr lang="en-US" sz="1800" dirty="0"/>
          </a:p>
        </p:txBody>
      </p:sp>
      <p:sp>
        <p:nvSpPr>
          <p:cNvPr id="9" name="Text 6"/>
          <p:cNvSpPr txBox="1"/>
          <p:nvPr/>
        </p:nvSpPr>
        <p:spPr>
          <a:xfrm>
            <a:off x="822960" y="3337560"/>
            <a:ext cx="2064944" cy="868680"/>
          </a:xfrm>
          <a:prstGeom prst="rect">
            <a:avLst/>
          </a:prstGeom>
          <a:noFill/>
          <a:ln/>
        </p:spPr>
        <p:txBody>
          <a:bodyPr wrap="square" lIns="0" tIns="0" rIns="0" bIns="0" rtlCol="0" anchor="t"/>
          <a:lstStyle/>
          <a:p>
            <a:pPr algn="l" indent="0" marL="0">
              <a:buNone/>
            </a:pPr>
            <a:r>
              <a:rPr lang="en-US" sz="1400" dirty="0">
                <a:solidFill>
                  <a:schemeClr val="bg1"/>
                </a:solidFill>
              </a:rPr>
              <a:t>Matches exact words, weighted by how often and how rare.</a:t>
            </a:r>
            <a:endParaRPr lang="en-US" sz="1400" dirty="0"/>
          </a:p>
        </p:txBody>
      </p:sp>
      <p:sp>
        <p:nvSpPr>
          <p:cNvPr id="10" name="Text 7"/>
          <p:cNvSpPr txBox="1"/>
          <p:nvPr/>
        </p:nvSpPr>
        <p:spPr>
          <a:xfrm>
            <a:off x="822960" y="4251960"/>
            <a:ext cx="2110664"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EXAMPLES</a:t>
            </a:r>
            <a:endParaRPr lang="en-US" sz="1100" dirty="0"/>
          </a:p>
        </p:txBody>
      </p:sp>
      <p:sp>
        <p:nvSpPr>
          <p:cNvPr id="11" name="Text 8"/>
          <p:cNvSpPr txBox="1"/>
          <p:nvPr/>
        </p:nvSpPr>
        <p:spPr>
          <a:xfrm>
            <a:off x="822960" y="4507992"/>
            <a:ext cx="2064944" cy="640080"/>
          </a:xfrm>
          <a:prstGeom prst="rect">
            <a:avLst/>
          </a:prstGeom>
          <a:noFill/>
          <a:ln/>
        </p:spPr>
        <p:txBody>
          <a:bodyPr wrap="square" lIns="0" tIns="0" rIns="0" bIns="0" rtlCol="0" anchor="t"/>
          <a:lstStyle/>
          <a:p>
            <a:pPr algn="l" indent="0" marL="0">
              <a:buNone/>
            </a:pPr>
            <a:r>
              <a:rPr lang="en-US" sz="1400" b="1" dirty="0">
                <a:solidFill>
                  <a:schemeClr val="bg1"/>
                </a:solidFill>
              </a:rPr>
              <a:t>Boolean · TF-IDF · BM25 · BM25F · query likelihood</a:t>
            </a:r>
            <a:endParaRPr lang="en-US" sz="1400" dirty="0"/>
          </a:p>
        </p:txBody>
      </p:sp>
      <p:sp>
        <p:nvSpPr>
          <p:cNvPr id="12" name="Text 9"/>
          <p:cNvSpPr txBox="1"/>
          <p:nvPr/>
        </p:nvSpPr>
        <p:spPr>
          <a:xfrm>
            <a:off x="822960" y="5166360"/>
            <a:ext cx="2110664"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NEEDS</a:t>
            </a:r>
            <a:endParaRPr lang="en-US" sz="1100" dirty="0"/>
          </a:p>
        </p:txBody>
      </p:sp>
      <p:sp>
        <p:nvSpPr>
          <p:cNvPr id="13" name="Text 10"/>
          <p:cNvSpPr txBox="1"/>
          <p:nvPr/>
        </p:nvSpPr>
        <p:spPr>
          <a:xfrm>
            <a:off x="822960" y="5422392"/>
            <a:ext cx="2064944" cy="685800"/>
          </a:xfrm>
          <a:prstGeom prst="rect">
            <a:avLst/>
          </a:prstGeom>
          <a:noFill/>
          <a:ln/>
        </p:spPr>
        <p:txBody>
          <a:bodyPr wrap="square" lIns="0" tIns="0" rIns="0" bIns="0" rtlCol="0" anchor="t"/>
          <a:lstStyle/>
          <a:p>
            <a:pPr algn="l" indent="0" marL="0">
              <a:buNone/>
            </a:pPr>
            <a:r>
              <a:rPr lang="en-US" sz="1300" dirty="0">
                <a:solidFill>
                  <a:schemeClr val="accent5"/>
                </a:solidFill>
              </a:rPr>
              <a:t>Just the text, a CPU and an inverted index</a:t>
            </a:r>
            <a:endParaRPr lang="en-US" sz="1300" dirty="0"/>
          </a:p>
        </p:txBody>
      </p:sp>
      <p:sp>
        <p:nvSpPr>
          <p:cNvPr id="14" name="Family card"/>
          <p:cNvSpPr/>
          <p:nvPr/>
        </p:nvSpPr>
        <p:spPr>
          <a:xfrm>
            <a:off x="3390824" y="1600200"/>
            <a:ext cx="2567864" cy="4526280"/>
          </a:xfrm>
          <a:prstGeom prst="roundRect">
            <a:avLst>
              <a:gd name="adj" fmla="val 2849"/>
            </a:avLst>
          </a:prstGeom>
          <a:solidFill>
            <a:schemeClr val="bg2"/>
          </a:solidFill>
          <a:ln/>
        </p:spPr>
      </p:sp>
      <p:sp>
        <p:nvSpPr>
          <p:cNvPr id="15" name="Icon circle"/>
          <p:cNvSpPr/>
          <p:nvPr/>
        </p:nvSpPr>
        <p:spPr>
          <a:xfrm>
            <a:off x="3665144" y="1874520"/>
            <a:ext cx="640080" cy="640080"/>
          </a:xfrm>
          <a:prstGeom prst="ellipse">
            <a:avLst/>
          </a:prstGeom>
          <a:solidFill>
            <a:schemeClr val="tx1"/>
          </a:solidFill>
          <a:ln/>
        </p:spPr>
      </p:sp>
      <p:pic>
        <p:nvPicPr>
          <p:cNvPr id="16" name="Image 1" descr="icon">    </p:cNvPr>
          <p:cNvPicPr>
            <a:picLocks noChangeAspect="1"/>
          </p:cNvPicPr>
          <p:nvPr/>
        </p:nvPicPr>
        <p:blipFill>
          <a:blip r:embed="rId2"/>
          <a:stretch>
            <a:fillRect/>
          </a:stretch>
        </p:blipFill>
        <p:spPr>
          <a:xfrm>
            <a:off x="3825164" y="2034540"/>
            <a:ext cx="320040" cy="320040"/>
          </a:xfrm>
          <a:prstGeom prst="rect">
            <a:avLst/>
          </a:prstGeom>
        </p:spPr>
      </p:pic>
      <p:sp>
        <p:nvSpPr>
          <p:cNvPr id="17" name="Text 13"/>
          <p:cNvSpPr txBox="1"/>
          <p:nvPr/>
        </p:nvSpPr>
        <p:spPr>
          <a:xfrm>
            <a:off x="3665144" y="2697480"/>
            <a:ext cx="2064944" cy="640080"/>
          </a:xfrm>
          <a:prstGeom prst="rect">
            <a:avLst/>
          </a:prstGeom>
          <a:noFill/>
          <a:ln/>
        </p:spPr>
        <p:txBody>
          <a:bodyPr wrap="square" lIns="0" tIns="0" rIns="0" bIns="0" rtlCol="0" anchor="t"/>
          <a:lstStyle/>
          <a:p>
            <a:pPr algn="l" indent="0" marL="0">
              <a:buNone/>
            </a:pPr>
            <a:r>
              <a:rPr lang="en-US" sz="1800" b="1" dirty="0">
                <a:solidFill>
                  <a:schemeClr val="tx1"/>
                </a:solidFill>
              </a:rPr>
              <a:t>Latent semantic</a:t>
            </a:r>
            <a:endParaRPr lang="en-US" sz="1800" dirty="0"/>
          </a:p>
        </p:txBody>
      </p:sp>
      <p:sp>
        <p:nvSpPr>
          <p:cNvPr id="18" name="Text 14"/>
          <p:cNvSpPr txBox="1"/>
          <p:nvPr/>
        </p:nvSpPr>
        <p:spPr>
          <a:xfrm>
            <a:off x="3665144" y="3337560"/>
            <a:ext cx="2064944" cy="868680"/>
          </a:xfrm>
          <a:prstGeom prst="rect">
            <a:avLst/>
          </a:prstGeom>
          <a:noFill/>
          <a:ln/>
        </p:spPr>
        <p:txBody>
          <a:bodyPr wrap="square" lIns="0" tIns="0" rIns="0" bIns="0" rtlCol="0" anchor="t"/>
          <a:lstStyle/>
          <a:p>
            <a:pPr algn="l" indent="0" marL="0">
              <a:buNone/>
            </a:pPr>
            <a:r>
              <a:rPr lang="en-US" sz="1400" dirty="0">
                <a:solidFill>
                  <a:schemeClr val="tx1"/>
                </a:solidFill>
              </a:rPr>
              <a:t>Compresses the word × document matrix into a few hundred ‘topics’.</a:t>
            </a:r>
            <a:endParaRPr lang="en-US" sz="1400" dirty="0"/>
          </a:p>
        </p:txBody>
      </p:sp>
      <p:sp>
        <p:nvSpPr>
          <p:cNvPr id="19" name="Text 15"/>
          <p:cNvSpPr txBox="1"/>
          <p:nvPr/>
        </p:nvSpPr>
        <p:spPr>
          <a:xfrm>
            <a:off x="3665144" y="42519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EXAMPLES</a:t>
            </a:r>
            <a:endParaRPr lang="en-US" sz="1100" dirty="0"/>
          </a:p>
        </p:txBody>
      </p:sp>
      <p:sp>
        <p:nvSpPr>
          <p:cNvPr id="20" name="Text 16"/>
          <p:cNvSpPr txBox="1"/>
          <p:nvPr/>
        </p:nvSpPr>
        <p:spPr>
          <a:xfrm>
            <a:off x="3665144" y="4507992"/>
            <a:ext cx="2064944" cy="640080"/>
          </a:xfrm>
          <a:prstGeom prst="rect">
            <a:avLst/>
          </a:prstGeom>
          <a:noFill/>
          <a:ln/>
        </p:spPr>
        <p:txBody>
          <a:bodyPr wrap="square" lIns="0" tIns="0" rIns="0" bIns="0" rtlCol="0" anchor="t"/>
          <a:lstStyle/>
          <a:p>
            <a:pPr algn="l" indent="0" marL="0">
              <a:buNone/>
            </a:pPr>
            <a:r>
              <a:rPr lang="en-US" sz="1400" b="1" dirty="0">
                <a:solidFill>
                  <a:schemeClr val="tx1"/>
                </a:solidFill>
              </a:rPr>
              <a:t>LSA / LSI · LDA</a:t>
            </a:r>
            <a:endParaRPr lang="en-US" sz="1400" dirty="0"/>
          </a:p>
        </p:txBody>
      </p:sp>
      <p:sp>
        <p:nvSpPr>
          <p:cNvPr id="21" name="Text 17"/>
          <p:cNvSpPr txBox="1"/>
          <p:nvPr/>
        </p:nvSpPr>
        <p:spPr>
          <a:xfrm>
            <a:off x="3665144" y="51663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NEEDS</a:t>
            </a:r>
            <a:endParaRPr lang="en-US" sz="1100" dirty="0"/>
          </a:p>
        </p:txBody>
      </p:sp>
      <p:sp>
        <p:nvSpPr>
          <p:cNvPr id="22" name="Text 18"/>
          <p:cNvSpPr txBox="1"/>
          <p:nvPr/>
        </p:nvSpPr>
        <p:spPr>
          <a:xfrm>
            <a:off x="3665144" y="5422392"/>
            <a:ext cx="2064944" cy="685800"/>
          </a:xfrm>
          <a:prstGeom prst="rect">
            <a:avLst/>
          </a:prstGeom>
          <a:noFill/>
          <a:ln/>
        </p:spPr>
        <p:txBody>
          <a:bodyPr wrap="square" lIns="0" tIns="0" rIns="0" bIns="0" rtlCol="0" anchor="t"/>
          <a:lstStyle/>
          <a:p>
            <a:pPr algn="l" indent="0" marL="0">
              <a:buNone/>
            </a:pPr>
            <a:r>
              <a:rPr lang="en-US" sz="1300" dirty="0">
                <a:solidFill>
                  <a:schemeClr val="tx2"/>
                </a:solidFill>
              </a:rPr>
              <a:t>An SVD of the whole matrix: heavy at 251k × 631k</a:t>
            </a:r>
            <a:endParaRPr lang="en-US" sz="1300" dirty="0"/>
          </a:p>
        </p:txBody>
      </p:sp>
      <p:sp>
        <p:nvSpPr>
          <p:cNvPr id="23" name="Family card"/>
          <p:cNvSpPr/>
          <p:nvPr/>
        </p:nvSpPr>
        <p:spPr>
          <a:xfrm>
            <a:off x="6233008" y="1600200"/>
            <a:ext cx="2567864" cy="4526280"/>
          </a:xfrm>
          <a:prstGeom prst="roundRect">
            <a:avLst>
              <a:gd name="adj" fmla="val 2849"/>
            </a:avLst>
          </a:prstGeom>
          <a:solidFill>
            <a:schemeClr val="bg2"/>
          </a:solidFill>
          <a:ln/>
        </p:spPr>
      </p:sp>
      <p:sp>
        <p:nvSpPr>
          <p:cNvPr id="24" name="Icon circle"/>
          <p:cNvSpPr/>
          <p:nvPr/>
        </p:nvSpPr>
        <p:spPr>
          <a:xfrm>
            <a:off x="6507328" y="1874520"/>
            <a:ext cx="640080" cy="640080"/>
          </a:xfrm>
          <a:prstGeom prst="ellipse">
            <a:avLst/>
          </a:prstGeom>
          <a:solidFill>
            <a:schemeClr val="tx1"/>
          </a:solidFill>
          <a:ln/>
        </p:spPr>
      </p:sp>
      <p:pic>
        <p:nvPicPr>
          <p:cNvPr id="25" name="Image 2" descr="icon">    </p:cNvPr>
          <p:cNvPicPr>
            <a:picLocks noChangeAspect="1"/>
          </p:cNvPicPr>
          <p:nvPr/>
        </p:nvPicPr>
        <p:blipFill>
          <a:blip r:embed="rId3"/>
          <a:stretch>
            <a:fillRect/>
          </a:stretch>
        </p:blipFill>
        <p:spPr>
          <a:xfrm>
            <a:off x="6667348" y="2034540"/>
            <a:ext cx="320040" cy="320040"/>
          </a:xfrm>
          <a:prstGeom prst="rect">
            <a:avLst/>
          </a:prstGeom>
        </p:spPr>
      </p:pic>
      <p:sp>
        <p:nvSpPr>
          <p:cNvPr id="26" name="Text 21"/>
          <p:cNvSpPr txBox="1"/>
          <p:nvPr/>
        </p:nvSpPr>
        <p:spPr>
          <a:xfrm>
            <a:off x="6507328" y="2697480"/>
            <a:ext cx="2064944" cy="640080"/>
          </a:xfrm>
          <a:prstGeom prst="rect">
            <a:avLst/>
          </a:prstGeom>
          <a:noFill/>
          <a:ln/>
        </p:spPr>
        <p:txBody>
          <a:bodyPr wrap="square" lIns="0" tIns="0" rIns="0" bIns="0" rtlCol="0" anchor="t"/>
          <a:lstStyle/>
          <a:p>
            <a:pPr algn="l" indent="0" marL="0">
              <a:buNone/>
            </a:pPr>
            <a:r>
              <a:rPr lang="en-US" sz="1800" b="1" dirty="0">
                <a:solidFill>
                  <a:schemeClr val="tx1"/>
                </a:solidFill>
              </a:rPr>
              <a:t>Neural dense</a:t>
            </a:r>
            <a:endParaRPr lang="en-US" sz="1800" dirty="0"/>
          </a:p>
        </p:txBody>
      </p:sp>
      <p:sp>
        <p:nvSpPr>
          <p:cNvPr id="27" name="Text 22"/>
          <p:cNvSpPr txBox="1"/>
          <p:nvPr/>
        </p:nvSpPr>
        <p:spPr>
          <a:xfrm>
            <a:off x="6507328" y="3337560"/>
            <a:ext cx="2064944" cy="868680"/>
          </a:xfrm>
          <a:prstGeom prst="rect">
            <a:avLst/>
          </a:prstGeom>
          <a:noFill/>
          <a:ln/>
        </p:spPr>
        <p:txBody>
          <a:bodyPr wrap="square" lIns="0" tIns="0" rIns="0" bIns="0" rtlCol="0" anchor="t"/>
          <a:lstStyle/>
          <a:p>
            <a:pPr algn="l" indent="0" marL="0">
              <a:buNone/>
            </a:pPr>
            <a:r>
              <a:rPr lang="en-US" sz="1400" dirty="0">
                <a:solidFill>
                  <a:schemeClr val="tx1"/>
                </a:solidFill>
              </a:rPr>
              <a:t>A transformer turns query and email into vectors; find nearest neighbours.</a:t>
            </a:r>
            <a:endParaRPr lang="en-US" sz="1400" dirty="0"/>
          </a:p>
        </p:txBody>
      </p:sp>
      <p:sp>
        <p:nvSpPr>
          <p:cNvPr id="28" name="Text 23"/>
          <p:cNvSpPr txBox="1"/>
          <p:nvPr/>
        </p:nvSpPr>
        <p:spPr>
          <a:xfrm>
            <a:off x="6507328" y="42519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EXAMPLES</a:t>
            </a:r>
            <a:endParaRPr lang="en-US" sz="1100" dirty="0"/>
          </a:p>
        </p:txBody>
      </p:sp>
      <p:sp>
        <p:nvSpPr>
          <p:cNvPr id="29" name="Text 24"/>
          <p:cNvSpPr txBox="1"/>
          <p:nvPr/>
        </p:nvSpPr>
        <p:spPr>
          <a:xfrm>
            <a:off x="6507328" y="4507992"/>
            <a:ext cx="2064944" cy="640080"/>
          </a:xfrm>
          <a:prstGeom prst="rect">
            <a:avLst/>
          </a:prstGeom>
          <a:noFill/>
          <a:ln/>
        </p:spPr>
        <p:txBody>
          <a:bodyPr wrap="square" lIns="0" tIns="0" rIns="0" bIns="0" rtlCol="0" anchor="t"/>
          <a:lstStyle/>
          <a:p>
            <a:pPr algn="l" indent="0" marL="0">
              <a:buNone/>
            </a:pPr>
            <a:r>
              <a:rPr lang="en-US" sz="1400" b="1" dirty="0">
                <a:solidFill>
                  <a:schemeClr val="tx1"/>
                </a:solidFill>
              </a:rPr>
              <a:t>DPR · ColBERT · sentence-transformers + FAISS</a:t>
            </a:r>
            <a:endParaRPr lang="en-US" sz="1400" dirty="0"/>
          </a:p>
        </p:txBody>
      </p:sp>
      <p:sp>
        <p:nvSpPr>
          <p:cNvPr id="30" name="Text 25"/>
          <p:cNvSpPr txBox="1"/>
          <p:nvPr/>
        </p:nvSpPr>
        <p:spPr>
          <a:xfrm>
            <a:off x="6507328" y="51663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NEEDS</a:t>
            </a:r>
            <a:endParaRPr lang="en-US" sz="1100" dirty="0"/>
          </a:p>
        </p:txBody>
      </p:sp>
      <p:sp>
        <p:nvSpPr>
          <p:cNvPr id="31" name="Text 26"/>
          <p:cNvSpPr txBox="1"/>
          <p:nvPr/>
        </p:nvSpPr>
        <p:spPr>
          <a:xfrm>
            <a:off x="6507328" y="5422392"/>
            <a:ext cx="2064944" cy="685800"/>
          </a:xfrm>
          <a:prstGeom prst="rect">
            <a:avLst/>
          </a:prstGeom>
          <a:noFill/>
          <a:ln/>
        </p:spPr>
        <p:txBody>
          <a:bodyPr wrap="square" lIns="0" tIns="0" rIns="0" bIns="0" rtlCol="0" anchor="t"/>
          <a:lstStyle/>
          <a:p>
            <a:pPr algn="l" indent="0" marL="0">
              <a:buNone/>
            </a:pPr>
            <a:r>
              <a:rPr lang="en-US" sz="1300" dirty="0">
                <a:solidFill>
                  <a:schemeClr val="tx2"/>
                </a:solidFill>
              </a:rPr>
              <a:t>A trained model, a GPU to embed, a 3–20 GB vector index per 1M docs</a:t>
            </a:r>
            <a:endParaRPr lang="en-US" sz="1300" dirty="0"/>
          </a:p>
        </p:txBody>
      </p:sp>
      <p:sp>
        <p:nvSpPr>
          <p:cNvPr id="32" name="Family card"/>
          <p:cNvSpPr/>
          <p:nvPr/>
        </p:nvSpPr>
        <p:spPr>
          <a:xfrm>
            <a:off x="9075191" y="1600200"/>
            <a:ext cx="2567864" cy="4526280"/>
          </a:xfrm>
          <a:prstGeom prst="roundRect">
            <a:avLst>
              <a:gd name="adj" fmla="val 2849"/>
            </a:avLst>
          </a:prstGeom>
          <a:solidFill>
            <a:schemeClr val="bg2"/>
          </a:solidFill>
          <a:ln/>
        </p:spPr>
      </p:sp>
      <p:sp>
        <p:nvSpPr>
          <p:cNvPr id="33" name="Icon circle"/>
          <p:cNvSpPr/>
          <p:nvPr/>
        </p:nvSpPr>
        <p:spPr>
          <a:xfrm>
            <a:off x="9349511" y="1874520"/>
            <a:ext cx="640080" cy="640080"/>
          </a:xfrm>
          <a:prstGeom prst="ellipse">
            <a:avLst/>
          </a:prstGeom>
          <a:solidFill>
            <a:schemeClr val="tx1"/>
          </a:solidFill>
          <a:ln/>
        </p:spPr>
      </p:sp>
      <p:pic>
        <p:nvPicPr>
          <p:cNvPr id="34" name="Image 3" descr="icon">    </p:cNvPr>
          <p:cNvPicPr>
            <a:picLocks noChangeAspect="1"/>
          </p:cNvPicPr>
          <p:nvPr/>
        </p:nvPicPr>
        <p:blipFill>
          <a:blip r:embed="rId4"/>
          <a:stretch>
            <a:fillRect/>
          </a:stretch>
        </p:blipFill>
        <p:spPr>
          <a:xfrm>
            <a:off x="9509531" y="2034540"/>
            <a:ext cx="320040" cy="320040"/>
          </a:xfrm>
          <a:prstGeom prst="rect">
            <a:avLst/>
          </a:prstGeom>
        </p:spPr>
      </p:pic>
      <p:sp>
        <p:nvSpPr>
          <p:cNvPr id="35" name="Text 29"/>
          <p:cNvSpPr txBox="1"/>
          <p:nvPr/>
        </p:nvSpPr>
        <p:spPr>
          <a:xfrm>
            <a:off x="9349511" y="2697480"/>
            <a:ext cx="2064944" cy="640080"/>
          </a:xfrm>
          <a:prstGeom prst="rect">
            <a:avLst/>
          </a:prstGeom>
          <a:noFill/>
          <a:ln/>
        </p:spPr>
        <p:txBody>
          <a:bodyPr wrap="square" lIns="0" tIns="0" rIns="0" bIns="0" rtlCol="0" anchor="t"/>
          <a:lstStyle/>
          <a:p>
            <a:pPr algn="l" indent="0" marL="0">
              <a:buNone/>
            </a:pPr>
            <a:r>
              <a:rPr lang="en-US" sz="1800" b="1" dirty="0">
                <a:solidFill>
                  <a:schemeClr val="tx1"/>
                </a:solidFill>
              </a:rPr>
              <a:t>Neural re-rank &amp; learned sparse</a:t>
            </a:r>
            <a:endParaRPr lang="en-US" sz="1800" dirty="0"/>
          </a:p>
        </p:txBody>
      </p:sp>
      <p:sp>
        <p:nvSpPr>
          <p:cNvPr id="36" name="Text 30"/>
          <p:cNvSpPr txBox="1"/>
          <p:nvPr/>
        </p:nvSpPr>
        <p:spPr>
          <a:xfrm>
            <a:off x="9349511" y="3337560"/>
            <a:ext cx="2064944" cy="868680"/>
          </a:xfrm>
          <a:prstGeom prst="rect">
            <a:avLst/>
          </a:prstGeom>
          <a:noFill/>
          <a:ln/>
        </p:spPr>
        <p:txBody>
          <a:bodyPr wrap="square" lIns="0" tIns="0" rIns="0" bIns="0" rtlCol="0" anchor="t"/>
          <a:lstStyle/>
          <a:p>
            <a:pPr algn="l" indent="0" marL="0">
              <a:buNone/>
            </a:pPr>
            <a:r>
              <a:rPr lang="en-US" sz="1400" dirty="0">
                <a:solidFill>
                  <a:schemeClr val="tx1"/>
                </a:solidFill>
              </a:rPr>
              <a:t>BERT re-scores BM25’s top hits, or learns which terms matter.</a:t>
            </a:r>
            <a:endParaRPr lang="en-US" sz="1400" dirty="0"/>
          </a:p>
        </p:txBody>
      </p:sp>
      <p:sp>
        <p:nvSpPr>
          <p:cNvPr id="37" name="Text 31"/>
          <p:cNvSpPr txBox="1"/>
          <p:nvPr/>
        </p:nvSpPr>
        <p:spPr>
          <a:xfrm>
            <a:off x="9349511" y="42519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EXAMPLES</a:t>
            </a:r>
            <a:endParaRPr lang="en-US" sz="1100" dirty="0"/>
          </a:p>
        </p:txBody>
      </p:sp>
      <p:sp>
        <p:nvSpPr>
          <p:cNvPr id="38" name="Text 32"/>
          <p:cNvSpPr txBox="1"/>
          <p:nvPr/>
        </p:nvSpPr>
        <p:spPr>
          <a:xfrm>
            <a:off x="9349511" y="4507992"/>
            <a:ext cx="2064944" cy="640080"/>
          </a:xfrm>
          <a:prstGeom prst="rect">
            <a:avLst/>
          </a:prstGeom>
          <a:noFill/>
          <a:ln/>
        </p:spPr>
        <p:txBody>
          <a:bodyPr wrap="square" lIns="0" tIns="0" rIns="0" bIns="0" rtlCol="0" anchor="t"/>
          <a:lstStyle/>
          <a:p>
            <a:pPr algn="l" indent="0" marL="0">
              <a:buNone/>
            </a:pPr>
            <a:r>
              <a:rPr lang="en-US" sz="1400" b="1" dirty="0">
                <a:solidFill>
                  <a:schemeClr val="tx1"/>
                </a:solidFill>
              </a:rPr>
              <a:t>monoBERT / cross-encoders · SPLADE · docT5query</a:t>
            </a:r>
            <a:endParaRPr lang="en-US" sz="1400" dirty="0"/>
          </a:p>
        </p:txBody>
      </p:sp>
      <p:sp>
        <p:nvSpPr>
          <p:cNvPr id="39" name="Text 33"/>
          <p:cNvSpPr txBox="1"/>
          <p:nvPr/>
        </p:nvSpPr>
        <p:spPr>
          <a:xfrm>
            <a:off x="9349511" y="5166360"/>
            <a:ext cx="2110664"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NEEDS</a:t>
            </a:r>
            <a:endParaRPr lang="en-US" sz="1100" dirty="0"/>
          </a:p>
        </p:txBody>
      </p:sp>
      <p:sp>
        <p:nvSpPr>
          <p:cNvPr id="40" name="Text 34"/>
          <p:cNvSpPr txBox="1"/>
          <p:nvPr/>
        </p:nvSpPr>
        <p:spPr>
          <a:xfrm>
            <a:off x="9349511" y="5422392"/>
            <a:ext cx="2064944" cy="685800"/>
          </a:xfrm>
          <a:prstGeom prst="rect">
            <a:avLst/>
          </a:prstGeom>
          <a:noFill/>
          <a:ln/>
        </p:spPr>
        <p:txBody>
          <a:bodyPr wrap="square" lIns="0" tIns="0" rIns="0" bIns="0" rtlCol="0" anchor="t"/>
          <a:lstStyle/>
          <a:p>
            <a:pPr algn="l" indent="0" marL="0">
              <a:buNone/>
            </a:pPr>
            <a:r>
              <a:rPr lang="en-US" sz="1300" dirty="0">
                <a:solidFill>
                  <a:schemeClr val="tx2"/>
                </a:solidFill>
              </a:rPr>
              <a:t>GPU, training labels, and usually BM25 underneath</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ALGORITHM 1 · TF-IDF + COSINE SIMILARITY</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TF-IDF: frequent here, rare everywhere else</a:t>
            </a:r>
            <a:endParaRPr lang="en-US" sz="3200" dirty="0"/>
          </a:p>
        </p:txBody>
      </p:sp>
      <p:sp>
        <p:nvSpPr>
          <p:cNvPr id="4" name="Term card"/>
          <p:cNvSpPr/>
          <p:nvPr/>
        </p:nvSpPr>
        <p:spPr>
          <a:xfrm>
            <a:off x="548640" y="1600200"/>
            <a:ext cx="3291840" cy="2057400"/>
          </a:xfrm>
          <a:prstGeom prst="roundRect">
            <a:avLst>
              <a:gd name="adj" fmla="val 3556"/>
            </a:avLst>
          </a:prstGeom>
          <a:solidFill>
            <a:schemeClr val="bg2"/>
          </a:solidFill>
          <a:ln/>
        </p:spPr>
      </p:sp>
      <p:sp>
        <p:nvSpPr>
          <p:cNvPr id="5" name="Text 3"/>
          <p:cNvSpPr txBox="1"/>
          <p:nvPr/>
        </p:nvSpPr>
        <p:spPr>
          <a:xfrm>
            <a:off x="822960" y="1737360"/>
            <a:ext cx="2743200" cy="502920"/>
          </a:xfrm>
          <a:prstGeom prst="rect">
            <a:avLst/>
          </a:prstGeom>
          <a:noFill/>
          <a:ln/>
        </p:spPr>
        <p:txBody>
          <a:bodyPr wrap="square" lIns="0" tIns="0" rIns="0" bIns="0" rtlCol="0" anchor="t"/>
          <a:lstStyle/>
          <a:p>
            <a:pPr algn="l" indent="0" marL="0">
              <a:buNone/>
            </a:pPr>
            <a:r>
              <a:rPr lang="en-US" sz="2600" b="1" dirty="0">
                <a:solidFill>
                  <a:schemeClr val="accent2"/>
                </a:solidFill>
              </a:rPr>
              <a:t>TF</a:t>
            </a:r>
            <a:endParaRPr lang="en-US" sz="2600" dirty="0"/>
          </a:p>
        </p:txBody>
      </p:sp>
      <p:sp>
        <p:nvSpPr>
          <p:cNvPr id="6" name="Text 4"/>
          <p:cNvSpPr txBox="1"/>
          <p:nvPr/>
        </p:nvSpPr>
        <p:spPr>
          <a:xfrm>
            <a:off x="822960" y="2240280"/>
            <a:ext cx="2743200" cy="320040"/>
          </a:xfrm>
          <a:prstGeom prst="rect">
            <a:avLst/>
          </a:prstGeom>
          <a:noFill/>
          <a:ln/>
        </p:spPr>
        <p:txBody>
          <a:bodyPr wrap="square" lIns="0" tIns="0" rIns="0" bIns="0" rtlCol="0" anchor="t"/>
          <a:lstStyle/>
          <a:p>
            <a:pPr algn="l" indent="0" marL="0">
              <a:buNone/>
            </a:pPr>
            <a:r>
              <a:rPr lang="en-US" sz="1400" b="1" dirty="0">
                <a:solidFill>
                  <a:schemeClr val="tx1"/>
                </a:solidFill>
              </a:rPr>
              <a:t>Term frequency</a:t>
            </a:r>
            <a:endParaRPr lang="en-US" sz="1400" dirty="0"/>
          </a:p>
        </p:txBody>
      </p:sp>
      <p:sp>
        <p:nvSpPr>
          <p:cNvPr id="7" name="Text 5"/>
          <p:cNvSpPr txBox="1"/>
          <p:nvPr/>
        </p:nvSpPr>
        <p:spPr>
          <a:xfrm>
            <a:off x="822960" y="2560320"/>
            <a:ext cx="2743200" cy="548640"/>
          </a:xfrm>
          <a:prstGeom prst="rect">
            <a:avLst/>
          </a:prstGeom>
          <a:noFill/>
          <a:ln/>
        </p:spPr>
        <p:txBody>
          <a:bodyPr wrap="square" lIns="0" tIns="0" rIns="0" bIns="0" rtlCol="0" anchor="t"/>
          <a:lstStyle/>
          <a:p>
            <a:pPr algn="l" indent="0" marL="0">
              <a:buNone/>
            </a:pPr>
            <a:r>
              <a:rPr lang="en-US" sz="1400" dirty="0">
                <a:solidFill>
                  <a:schemeClr val="tx2"/>
                </a:solidFill>
              </a:rPr>
              <a:t>How often the word appears in this email</a:t>
            </a:r>
            <a:endParaRPr lang="en-US" sz="1400" dirty="0"/>
          </a:p>
        </p:txBody>
      </p:sp>
      <p:sp>
        <p:nvSpPr>
          <p:cNvPr id="8" name="Text 6"/>
          <p:cNvSpPr txBox="1"/>
          <p:nvPr/>
        </p:nvSpPr>
        <p:spPr>
          <a:xfrm>
            <a:off x="822960" y="3154680"/>
            <a:ext cx="2743200" cy="365760"/>
          </a:xfrm>
          <a:prstGeom prst="rect">
            <a:avLst/>
          </a:prstGeom>
          <a:noFill/>
          <a:ln/>
        </p:spPr>
        <p:txBody>
          <a:bodyPr wrap="square" lIns="0" tIns="0" rIns="0" bIns="0" rtlCol="0" anchor="t"/>
          <a:lstStyle/>
          <a:p>
            <a:pPr algn="l" indent="0" marL="0">
              <a:buNone/>
            </a:pPr>
            <a:r>
              <a:rPr lang="en-US" sz="1300" dirty="0">
                <a:solidFill>
                  <a:schemeClr val="tx1"/>
                </a:solidFill>
                <a:latin typeface="Courier New" pitchFamily="34" charset="0"/>
                <a:ea typeface="Courier New" pitchFamily="34" charset="-122"/>
                <a:cs typeface="Courier New" pitchFamily="34" charset="-120"/>
              </a:rPr>
              <a:t>“gas” ×2 in Email 0</a:t>
            </a:r>
            <a:endParaRPr lang="en-US" sz="1300" dirty="0"/>
          </a:p>
        </p:txBody>
      </p:sp>
      <p:sp>
        <p:nvSpPr>
          <p:cNvPr id="9" name="Text 7"/>
          <p:cNvSpPr txBox="1"/>
          <p:nvPr/>
        </p:nvSpPr>
        <p:spPr>
          <a:xfrm>
            <a:off x="3840480" y="2240280"/>
            <a:ext cx="609448" cy="548640"/>
          </a:xfrm>
          <a:prstGeom prst="rect">
            <a:avLst/>
          </a:prstGeom>
          <a:noFill/>
          <a:ln/>
        </p:spPr>
        <p:txBody>
          <a:bodyPr wrap="square" lIns="0" tIns="0" rIns="0" bIns="0" rtlCol="0" anchor="t"/>
          <a:lstStyle/>
          <a:p>
            <a:pPr algn="ctr" indent="0" marL="0">
              <a:buNone/>
            </a:pPr>
            <a:r>
              <a:rPr lang="en-US" sz="3000" b="1" dirty="0">
                <a:solidFill>
                  <a:schemeClr val="tx2"/>
                </a:solidFill>
              </a:rPr>
              <a:t>×</a:t>
            </a:r>
            <a:endParaRPr lang="en-US" sz="3000" dirty="0"/>
          </a:p>
        </p:txBody>
      </p:sp>
      <p:sp>
        <p:nvSpPr>
          <p:cNvPr id="10" name="Term card"/>
          <p:cNvSpPr/>
          <p:nvPr/>
        </p:nvSpPr>
        <p:spPr>
          <a:xfrm>
            <a:off x="4449928" y="1600200"/>
            <a:ext cx="3291840" cy="2057400"/>
          </a:xfrm>
          <a:prstGeom prst="roundRect">
            <a:avLst>
              <a:gd name="adj" fmla="val 3556"/>
            </a:avLst>
          </a:prstGeom>
          <a:solidFill>
            <a:schemeClr val="bg2"/>
          </a:solidFill>
          <a:ln/>
        </p:spPr>
      </p:sp>
      <p:sp>
        <p:nvSpPr>
          <p:cNvPr id="11" name="Text 9"/>
          <p:cNvSpPr txBox="1"/>
          <p:nvPr/>
        </p:nvSpPr>
        <p:spPr>
          <a:xfrm>
            <a:off x="4724248" y="1737360"/>
            <a:ext cx="2743200" cy="502920"/>
          </a:xfrm>
          <a:prstGeom prst="rect">
            <a:avLst/>
          </a:prstGeom>
          <a:noFill/>
          <a:ln/>
        </p:spPr>
        <p:txBody>
          <a:bodyPr wrap="square" lIns="0" tIns="0" rIns="0" bIns="0" rtlCol="0" anchor="t"/>
          <a:lstStyle/>
          <a:p>
            <a:pPr algn="l" indent="0" marL="0">
              <a:buNone/>
            </a:pPr>
            <a:r>
              <a:rPr lang="en-US" sz="2600" b="1" dirty="0">
                <a:solidFill>
                  <a:schemeClr val="accent2"/>
                </a:solidFill>
              </a:rPr>
              <a:t>IDF</a:t>
            </a:r>
            <a:endParaRPr lang="en-US" sz="2600" dirty="0"/>
          </a:p>
        </p:txBody>
      </p:sp>
      <p:sp>
        <p:nvSpPr>
          <p:cNvPr id="12" name="Text 10"/>
          <p:cNvSpPr txBox="1"/>
          <p:nvPr/>
        </p:nvSpPr>
        <p:spPr>
          <a:xfrm>
            <a:off x="4724248" y="2240280"/>
            <a:ext cx="2743200" cy="320040"/>
          </a:xfrm>
          <a:prstGeom prst="rect">
            <a:avLst/>
          </a:prstGeom>
          <a:noFill/>
          <a:ln/>
        </p:spPr>
        <p:txBody>
          <a:bodyPr wrap="square" lIns="0" tIns="0" rIns="0" bIns="0" rtlCol="0" anchor="t"/>
          <a:lstStyle/>
          <a:p>
            <a:pPr algn="l" indent="0" marL="0">
              <a:buNone/>
            </a:pPr>
            <a:r>
              <a:rPr lang="en-US" sz="1400" b="1" dirty="0">
                <a:solidFill>
                  <a:schemeClr val="tx1"/>
                </a:solidFill>
              </a:rPr>
              <a:t>Inverse document frequency</a:t>
            </a:r>
            <a:endParaRPr lang="en-US" sz="1400" dirty="0"/>
          </a:p>
        </p:txBody>
      </p:sp>
      <p:sp>
        <p:nvSpPr>
          <p:cNvPr id="13" name="Text 11"/>
          <p:cNvSpPr txBox="1"/>
          <p:nvPr/>
        </p:nvSpPr>
        <p:spPr>
          <a:xfrm>
            <a:off x="4724248" y="2560320"/>
            <a:ext cx="2743200" cy="548640"/>
          </a:xfrm>
          <a:prstGeom prst="rect">
            <a:avLst/>
          </a:prstGeom>
          <a:noFill/>
          <a:ln/>
        </p:spPr>
        <p:txBody>
          <a:bodyPr wrap="square" lIns="0" tIns="0" rIns="0" bIns="0" rtlCol="0" anchor="t"/>
          <a:lstStyle/>
          <a:p>
            <a:pPr algn="l" indent="0" marL="0">
              <a:buNone/>
            </a:pPr>
            <a:r>
              <a:rPr lang="en-US" sz="1400" dirty="0">
                <a:solidFill>
                  <a:schemeClr val="tx2"/>
                </a:solidFill>
              </a:rPr>
              <a:t>How rare the word is across all emails</a:t>
            </a:r>
            <a:endParaRPr lang="en-US" sz="1400" dirty="0"/>
          </a:p>
        </p:txBody>
      </p:sp>
      <p:sp>
        <p:nvSpPr>
          <p:cNvPr id="14" name="Text 12"/>
          <p:cNvSpPr txBox="1"/>
          <p:nvPr/>
        </p:nvSpPr>
        <p:spPr>
          <a:xfrm>
            <a:off x="4724248" y="3154680"/>
            <a:ext cx="2743200" cy="365760"/>
          </a:xfrm>
          <a:prstGeom prst="rect">
            <a:avLst/>
          </a:prstGeom>
          <a:noFill/>
          <a:ln/>
        </p:spPr>
        <p:txBody>
          <a:bodyPr wrap="square" lIns="0" tIns="0" rIns="0" bIns="0" rtlCol="0" anchor="t"/>
          <a:lstStyle/>
          <a:p>
            <a:pPr algn="l" indent="0" marL="0">
              <a:buNone/>
            </a:pPr>
            <a:r>
              <a:rPr lang="en-US" sz="1300" dirty="0">
                <a:solidFill>
                  <a:schemeClr val="tx1"/>
                </a:solidFill>
                <a:latin typeface="Courier New" pitchFamily="34" charset="0"/>
                <a:ea typeface="Courier New" pitchFamily="34" charset="-122"/>
                <a:cs typeface="Courier New" pitchFamily="34" charset="-120"/>
              </a:rPr>
              <a:t>ln((1 + N) / (1 + df)) + 1</a:t>
            </a:r>
            <a:endParaRPr lang="en-US" sz="1300" dirty="0"/>
          </a:p>
        </p:txBody>
      </p:sp>
      <p:sp>
        <p:nvSpPr>
          <p:cNvPr id="15" name="Text 13"/>
          <p:cNvSpPr txBox="1"/>
          <p:nvPr/>
        </p:nvSpPr>
        <p:spPr>
          <a:xfrm>
            <a:off x="7741768" y="2240280"/>
            <a:ext cx="609448" cy="548640"/>
          </a:xfrm>
          <a:prstGeom prst="rect">
            <a:avLst/>
          </a:prstGeom>
          <a:noFill/>
          <a:ln/>
        </p:spPr>
        <p:txBody>
          <a:bodyPr wrap="square" lIns="0" tIns="0" rIns="0" bIns="0" rtlCol="0" anchor="t"/>
          <a:lstStyle/>
          <a:p>
            <a:pPr algn="ctr" indent="0" marL="0">
              <a:buNone/>
            </a:pPr>
            <a:r>
              <a:rPr lang="en-US" sz="3000" b="1" dirty="0">
                <a:solidFill>
                  <a:schemeClr val="tx2"/>
                </a:solidFill>
              </a:rPr>
              <a:t>=</a:t>
            </a:r>
            <a:endParaRPr lang="en-US" sz="3000" dirty="0"/>
          </a:p>
        </p:txBody>
      </p:sp>
      <p:sp>
        <p:nvSpPr>
          <p:cNvPr id="16" name="Term card"/>
          <p:cNvSpPr/>
          <p:nvPr/>
        </p:nvSpPr>
        <p:spPr>
          <a:xfrm>
            <a:off x="8351215" y="1600200"/>
            <a:ext cx="3291840" cy="2057400"/>
          </a:xfrm>
          <a:prstGeom prst="roundRect">
            <a:avLst>
              <a:gd name="adj" fmla="val 3556"/>
            </a:avLst>
          </a:prstGeom>
          <a:solidFill>
            <a:srgbClr val="E3ECF6"/>
          </a:solidFill>
          <a:ln/>
        </p:spPr>
      </p:sp>
      <p:sp>
        <p:nvSpPr>
          <p:cNvPr id="17" name="Text 15"/>
          <p:cNvSpPr txBox="1"/>
          <p:nvPr/>
        </p:nvSpPr>
        <p:spPr>
          <a:xfrm>
            <a:off x="8625535" y="1737360"/>
            <a:ext cx="2743200" cy="502920"/>
          </a:xfrm>
          <a:prstGeom prst="rect">
            <a:avLst/>
          </a:prstGeom>
          <a:noFill/>
          <a:ln/>
        </p:spPr>
        <p:txBody>
          <a:bodyPr wrap="square" lIns="0" tIns="0" rIns="0" bIns="0" rtlCol="0" anchor="t"/>
          <a:lstStyle/>
          <a:p>
            <a:pPr algn="l" indent="0" marL="0">
              <a:buNone/>
            </a:pPr>
            <a:r>
              <a:rPr lang="en-US" sz="2600" b="1" dirty="0">
                <a:solidFill>
                  <a:schemeClr val="accent2"/>
                </a:solidFill>
              </a:rPr>
              <a:t>TF × IDF</a:t>
            </a:r>
            <a:endParaRPr lang="en-US" sz="2600" dirty="0"/>
          </a:p>
        </p:txBody>
      </p:sp>
      <p:sp>
        <p:nvSpPr>
          <p:cNvPr id="18" name="Text 16"/>
          <p:cNvSpPr txBox="1"/>
          <p:nvPr/>
        </p:nvSpPr>
        <p:spPr>
          <a:xfrm>
            <a:off x="8625535" y="2240280"/>
            <a:ext cx="2743200" cy="320040"/>
          </a:xfrm>
          <a:prstGeom prst="rect">
            <a:avLst/>
          </a:prstGeom>
          <a:noFill/>
          <a:ln/>
        </p:spPr>
        <p:txBody>
          <a:bodyPr wrap="square" lIns="0" tIns="0" rIns="0" bIns="0" rtlCol="0" anchor="t"/>
          <a:lstStyle/>
          <a:p>
            <a:pPr algn="l" indent="0" marL="0">
              <a:buNone/>
            </a:pPr>
            <a:r>
              <a:rPr lang="en-US" sz="1400" b="1" dirty="0">
                <a:solidFill>
                  <a:schemeClr val="tx1"/>
                </a:solidFill>
              </a:rPr>
              <a:t>The weight</a:t>
            </a:r>
            <a:endParaRPr lang="en-US" sz="1400" dirty="0"/>
          </a:p>
        </p:txBody>
      </p:sp>
      <p:sp>
        <p:nvSpPr>
          <p:cNvPr id="19" name="Text 17"/>
          <p:cNvSpPr txBox="1"/>
          <p:nvPr/>
        </p:nvSpPr>
        <p:spPr>
          <a:xfrm>
            <a:off x="8625535" y="2560320"/>
            <a:ext cx="2743200" cy="548640"/>
          </a:xfrm>
          <a:prstGeom prst="rect">
            <a:avLst/>
          </a:prstGeom>
          <a:noFill/>
          <a:ln/>
        </p:spPr>
        <p:txBody>
          <a:bodyPr wrap="square" lIns="0" tIns="0" rIns="0" bIns="0" rtlCol="0" anchor="t"/>
          <a:lstStyle/>
          <a:p>
            <a:pPr algn="l" indent="0" marL="0">
              <a:buNone/>
            </a:pPr>
            <a:r>
              <a:rPr lang="en-US" sz="1400" dirty="0">
                <a:solidFill>
                  <a:schemeClr val="tx2"/>
                </a:solidFill>
              </a:rPr>
              <a:t>High when the word is frequent here but rare overall</a:t>
            </a:r>
            <a:endParaRPr lang="en-US" sz="1400" dirty="0"/>
          </a:p>
        </p:txBody>
      </p:sp>
      <p:sp>
        <p:nvSpPr>
          <p:cNvPr id="20" name="Text 18"/>
          <p:cNvSpPr txBox="1"/>
          <p:nvPr/>
        </p:nvSpPr>
        <p:spPr>
          <a:xfrm>
            <a:off x="8625535" y="3154680"/>
            <a:ext cx="2743200" cy="365760"/>
          </a:xfrm>
          <a:prstGeom prst="rect">
            <a:avLst/>
          </a:prstGeom>
          <a:noFill/>
          <a:ln/>
        </p:spPr>
        <p:txBody>
          <a:bodyPr wrap="square" lIns="0" tIns="0" rIns="0" bIns="0" rtlCol="0" anchor="t"/>
          <a:lstStyle/>
          <a:p>
            <a:pPr algn="l" indent="0" marL="0">
              <a:buNone/>
            </a:pPr>
            <a:r>
              <a:rPr lang="en-US" sz="1300" dirty="0">
                <a:solidFill>
                  <a:schemeClr val="tx1"/>
                </a:solidFill>
                <a:latin typeface="Courier New" pitchFamily="34" charset="0"/>
                <a:ea typeface="Courier New" pitchFamily="34" charset="-122"/>
                <a:cs typeface="Courier New" pitchFamily="34" charset="-120"/>
              </a:rPr>
              <a:t>“the” ≈ 0 · “bankruptcy” high</a:t>
            </a:r>
            <a:endParaRPr lang="en-US" sz="1300" dirty="0"/>
          </a:p>
        </p:txBody>
      </p:sp>
      <p:sp>
        <p:nvSpPr>
          <p:cNvPr id="21" name="Cosine card"/>
          <p:cNvSpPr/>
          <p:nvPr/>
        </p:nvSpPr>
        <p:spPr>
          <a:xfrm>
            <a:off x="548640" y="3931920"/>
            <a:ext cx="6309360" cy="2148840"/>
          </a:xfrm>
          <a:prstGeom prst="roundRect">
            <a:avLst>
              <a:gd name="adj" fmla="val 3404"/>
            </a:avLst>
          </a:prstGeom>
          <a:solidFill>
            <a:schemeClr val="bg2"/>
          </a:solidFill>
          <a:ln/>
        </p:spPr>
      </p:sp>
      <p:sp>
        <p:nvSpPr>
          <p:cNvPr id="22" name="Text 20"/>
          <p:cNvSpPr txBox="1"/>
          <p:nvPr/>
        </p:nvSpPr>
        <p:spPr>
          <a:xfrm>
            <a:off x="822960" y="4114800"/>
            <a:ext cx="576072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SCORE = COSINE SIMILARITY</a:t>
            </a:r>
            <a:endParaRPr lang="en-US" sz="1100" dirty="0"/>
          </a:p>
        </p:txBody>
      </p:sp>
      <p:sp>
        <p:nvSpPr>
          <p:cNvPr id="23" name="Text 21"/>
          <p:cNvSpPr txBox="1"/>
          <p:nvPr/>
        </p:nvSpPr>
        <p:spPr>
          <a:xfrm>
            <a:off x="822960" y="4480560"/>
            <a:ext cx="5760720" cy="457200"/>
          </a:xfrm>
          <a:prstGeom prst="rect">
            <a:avLst/>
          </a:prstGeom>
          <a:noFill/>
          <a:ln/>
        </p:spPr>
        <p:txBody>
          <a:bodyPr wrap="square" lIns="0" tIns="0" rIns="0" bIns="0" rtlCol="0" anchor="t"/>
          <a:lstStyle/>
          <a:p>
            <a:pPr algn="l" indent="0" marL="0">
              <a:buNone/>
            </a:pPr>
            <a:r>
              <a:rPr lang="en-US" sz="2000" b="1" dirty="0">
                <a:solidFill>
                  <a:schemeClr val="tx1"/>
                </a:solidFill>
                <a:latin typeface="Courier New" pitchFamily="34" charset="0"/>
                <a:ea typeface="Courier New" pitchFamily="34" charset="-122"/>
                <a:cs typeface="Courier New" pitchFamily="34" charset="-120"/>
              </a:rPr>
              <a:t>cos(q, e) = (q · e) / (|q| × |e|)</a:t>
            </a:r>
            <a:endParaRPr lang="en-US" sz="2000" dirty="0"/>
          </a:p>
        </p:txBody>
      </p:sp>
      <p:sp>
        <p:nvSpPr>
          <p:cNvPr id="24" name="Text 22"/>
          <p:cNvSpPr txBox="1"/>
          <p:nvPr/>
        </p:nvSpPr>
        <p:spPr>
          <a:xfrm>
            <a:off x="822960" y="5029200"/>
            <a:ext cx="5760720" cy="822960"/>
          </a:xfrm>
          <a:prstGeom prst="rect">
            <a:avLst/>
          </a:prstGeom>
          <a:noFill/>
          <a:ln/>
        </p:spPr>
        <p:txBody>
          <a:bodyPr wrap="square" lIns="0" tIns="0" rIns="0" bIns="0" rtlCol="0" anchor="t"/>
          <a:lstStyle/>
          <a:p>
            <a:pPr algn="l" indent="0" marL="0">
              <a:buNone/>
            </a:pPr>
            <a:r>
              <a:rPr lang="en-US" sz="1400" dirty="0">
                <a:solidFill>
                  <a:schemeClr val="tx2"/>
                </a:solidFill>
              </a:rPr>
              <a:t>The angle between the query vector and each email vector: what the email is about, not how long it is.</a:t>
            </a:r>
            <a:endParaRPr lang="en-US" sz="1400" dirty="0"/>
          </a:p>
        </p:txBody>
      </p:sp>
      <p:sp>
        <p:nvSpPr>
          <p:cNvPr id="25" name="Weakness card"/>
          <p:cNvSpPr/>
          <p:nvPr/>
        </p:nvSpPr>
        <p:spPr>
          <a:xfrm>
            <a:off x="7132320" y="3931920"/>
            <a:ext cx="4510735" cy="2148840"/>
          </a:xfrm>
          <a:prstGeom prst="roundRect">
            <a:avLst>
              <a:gd name="adj" fmla="val 3404"/>
            </a:avLst>
          </a:prstGeom>
          <a:solidFill>
            <a:schemeClr val="tx1"/>
          </a:solidFill>
          <a:ln/>
        </p:spPr>
      </p:sp>
      <p:sp>
        <p:nvSpPr>
          <p:cNvPr id="26" name="Text 24"/>
          <p:cNvSpPr txBox="1"/>
          <p:nvPr/>
        </p:nvSpPr>
        <p:spPr>
          <a:xfrm>
            <a:off x="7406640" y="4114800"/>
            <a:ext cx="402336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TWO WEAKNESSES</a:t>
            </a:r>
            <a:endParaRPr lang="en-US" sz="1100" dirty="0"/>
          </a:p>
        </p:txBody>
      </p:sp>
      <p:sp>
        <p:nvSpPr>
          <p:cNvPr id="27" name="Text 25"/>
          <p:cNvSpPr txBox="1"/>
          <p:nvPr/>
        </p:nvSpPr>
        <p:spPr>
          <a:xfrm>
            <a:off x="7406640" y="4480560"/>
            <a:ext cx="3962095" cy="1463040"/>
          </a:xfrm>
          <a:prstGeom prst="rect">
            <a:avLst/>
          </a:prstGeom>
          <a:noFill/>
          <a:ln/>
        </p:spPr>
        <p:txBody>
          <a:bodyPr wrap="square" lIns="0" tIns="0" rIns="0" bIns="0" rtlCol="0" anchor="t"/>
          <a:lstStyle/>
          <a:p>
            <a:pPr algn="l" indent="0" marL="0">
              <a:spcAft>
                <a:spcPts val="1000"/>
              </a:spcAft>
              <a:buNone/>
            </a:pPr>
            <a:r>
              <a:rPr lang="en-US" sz="1500" b="1" dirty="0">
                <a:solidFill>
                  <a:schemeClr val="accent1"/>
                </a:solidFill>
              </a:rPr>
              <a:t>No saturation: </a:t>
            </a:r>
            <a:pPr algn="l" indent="0" marL="0">
              <a:spcAft>
                <a:spcPts val="1000"/>
              </a:spcAft>
              <a:buNone/>
            </a:pPr>
            <a:r>
              <a:rPr lang="en-US" sz="1500" dirty="0">
                <a:solidFill>
                  <a:schemeClr val="bg1"/>
                </a:solidFill>
              </a:rPr>
              <a:t>50 repeats = 50× the weight</a:t>
            </a:r>
            <a:endParaRPr lang="en-US" sz="1500" dirty="0"/>
          </a:p>
          <a:p>
            <a:pPr algn="l" indent="0" marL="0">
              <a:spcAft>
                <a:spcPts val="1000"/>
              </a:spcAft>
              <a:buNone/>
            </a:pPr>
            <a:r>
              <a:rPr lang="en-US" sz="1500" b="1" dirty="0">
                <a:solidFill>
                  <a:schemeClr val="accent1"/>
                </a:solidFill>
              </a:rPr>
              <a:t>Length bias: </a:t>
            </a:r>
            <a:pPr algn="l" indent="0" marL="0">
              <a:spcAft>
                <a:spcPts val="1000"/>
              </a:spcAft>
              <a:buNone/>
            </a:pPr>
            <a:r>
              <a:rPr lang="en-US" sz="1500" dirty="0">
                <a:solidFill>
                  <a:schemeClr val="bg1"/>
                </a:solidFill>
              </a:rPr>
              <a:t>dividing by length makes tiny emails look like perfect matches</a:t>
            </a:r>
            <a:endParaRPr lang="en-US" sz="1500" dirty="0"/>
          </a:p>
        </p:txBody>
      </p:sp>
      <p:sp>
        <p:nvSpPr>
          <p:cNvPr id="28" name="Text 26"/>
          <p:cNvSpPr txBox="1"/>
          <p:nvPr/>
        </p:nvSpPr>
        <p:spPr>
          <a:xfrm>
            <a:off x="548640" y="6144768"/>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Implementation: scikit-learn TfidfVectorizer (smoothed IDF, L2-normalised rows) in search_engine.py</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TF-IDF · STEP BY STEP · QUERY “GAS PIPELINE”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Worked example: Email 1 wins with a cosine of 0.869</a:t>
            </a:r>
            <a:endParaRPr lang="en-US" sz="3200" dirty="0"/>
          </a:p>
        </p:txBody>
      </p:sp>
      <p:sp>
        <p:nvSpPr>
          <p:cNvPr id="4" name="Email chip"/>
          <p:cNvSpPr/>
          <p:nvPr/>
        </p:nvSpPr>
        <p:spPr>
          <a:xfrm>
            <a:off x="548640" y="1554480"/>
            <a:ext cx="3515258" cy="868680"/>
          </a:xfrm>
          <a:prstGeom prst="roundRect">
            <a:avLst>
              <a:gd name="adj" fmla="val 8421"/>
            </a:avLst>
          </a:prstGeom>
          <a:solidFill>
            <a:schemeClr val="bg1"/>
          </a:solidFill>
          <a:ln w="12700">
            <a:solidFill>
              <a:srgbClr val="D9DDE4"/>
            </a:solidFill>
            <a:prstDash val="solid"/>
          </a:ln>
        </p:spPr>
      </p:sp>
      <p:sp>
        <p:nvSpPr>
          <p:cNvPr id="5" name="Text 3"/>
          <p:cNvSpPr txBox="1"/>
          <p:nvPr/>
        </p:nvSpPr>
        <p:spPr>
          <a:xfrm>
            <a:off x="777240" y="1645920"/>
            <a:ext cx="3058058" cy="274320"/>
          </a:xfrm>
          <a:prstGeom prst="rect">
            <a:avLst/>
          </a:prstGeom>
          <a:noFill/>
          <a:ln/>
        </p:spPr>
        <p:txBody>
          <a:bodyPr wrap="square" lIns="0" tIns="0" rIns="0" bIns="0" rtlCol="0" anchor="t"/>
          <a:lstStyle/>
          <a:p>
            <a:pPr algn="l" indent="0" marL="0">
              <a:buNone/>
            </a:pPr>
            <a:r>
              <a:rPr lang="en-US" sz="1200" b="1" dirty="0">
                <a:solidFill>
                  <a:schemeClr val="tx2"/>
                </a:solidFill>
              </a:rPr>
              <a:t>Email 0 · Gas prices</a:t>
            </a:r>
            <a:endParaRPr lang="en-US" sz="1200" dirty="0"/>
          </a:p>
        </p:txBody>
      </p:sp>
      <p:sp>
        <p:nvSpPr>
          <p:cNvPr id="6" name="Text 4"/>
          <p:cNvSpPr txBox="1"/>
          <p:nvPr/>
        </p:nvSpPr>
        <p:spPr>
          <a:xfrm>
            <a:off x="777240" y="1938528"/>
            <a:ext cx="3058058" cy="365760"/>
          </a:xfrm>
          <a:prstGeom prst="rect">
            <a:avLst/>
          </a:prstGeom>
          <a:noFill/>
          <a:ln/>
        </p:spPr>
        <p:txBody>
          <a:bodyPr wrap="square" lIns="0" tIns="0" rIns="0" bIns="0" rtlCol="0" anchor="t"/>
          <a:lstStyle/>
          <a:p>
            <a:pPr algn="l" indent="0" marL="0">
              <a:buNone/>
            </a:pPr>
            <a:r>
              <a:rPr lang="en-US" sz="1400" dirty="0">
                <a:solidFill>
                  <a:schemeClr val="tx1"/>
                </a:solidFill>
                <a:latin typeface="Courier New" pitchFamily="34" charset="0"/>
                <a:ea typeface="Courier New" pitchFamily="34" charset="-122"/>
                <a:cs typeface="Courier New" pitchFamily="34" charset="-120"/>
              </a:rPr>
              <a:t>gas prices rising in california</a:t>
            </a:r>
            <a:endParaRPr lang="en-US" sz="1400" dirty="0"/>
          </a:p>
        </p:txBody>
      </p:sp>
      <p:sp>
        <p:nvSpPr>
          <p:cNvPr id="7" name="Email chip"/>
          <p:cNvSpPr/>
          <p:nvPr/>
        </p:nvSpPr>
        <p:spPr>
          <a:xfrm>
            <a:off x="4338218" y="1554480"/>
            <a:ext cx="3515258" cy="868680"/>
          </a:xfrm>
          <a:prstGeom prst="roundRect">
            <a:avLst>
              <a:gd name="adj" fmla="val 8421"/>
            </a:avLst>
          </a:prstGeom>
          <a:solidFill>
            <a:schemeClr val="bg1"/>
          </a:solidFill>
          <a:ln w="12700">
            <a:solidFill>
              <a:srgbClr val="D9DDE4"/>
            </a:solidFill>
            <a:prstDash val="solid"/>
          </a:ln>
        </p:spPr>
      </p:sp>
      <p:sp>
        <p:nvSpPr>
          <p:cNvPr id="8" name="Text 6"/>
          <p:cNvSpPr txBox="1"/>
          <p:nvPr/>
        </p:nvSpPr>
        <p:spPr>
          <a:xfrm>
            <a:off x="4566818" y="1645920"/>
            <a:ext cx="3058058" cy="274320"/>
          </a:xfrm>
          <a:prstGeom prst="rect">
            <a:avLst/>
          </a:prstGeom>
          <a:noFill/>
          <a:ln/>
        </p:spPr>
        <p:txBody>
          <a:bodyPr wrap="square" lIns="0" tIns="0" rIns="0" bIns="0" rtlCol="0" anchor="t"/>
          <a:lstStyle/>
          <a:p>
            <a:pPr algn="l" indent="0" marL="0">
              <a:buNone/>
            </a:pPr>
            <a:r>
              <a:rPr lang="en-US" sz="1200" b="1" dirty="0">
                <a:solidFill>
                  <a:schemeClr val="tx2"/>
                </a:solidFill>
              </a:rPr>
              <a:t>Email 1 · Pipeline</a:t>
            </a:r>
            <a:endParaRPr lang="en-US" sz="1200" dirty="0"/>
          </a:p>
        </p:txBody>
      </p:sp>
      <p:sp>
        <p:nvSpPr>
          <p:cNvPr id="9" name="Text 7"/>
          <p:cNvSpPr txBox="1"/>
          <p:nvPr/>
        </p:nvSpPr>
        <p:spPr>
          <a:xfrm>
            <a:off x="4566818" y="1938528"/>
            <a:ext cx="3058058" cy="365760"/>
          </a:xfrm>
          <a:prstGeom prst="rect">
            <a:avLst/>
          </a:prstGeom>
          <a:noFill/>
          <a:ln/>
        </p:spPr>
        <p:txBody>
          <a:bodyPr wrap="square" lIns="0" tIns="0" rIns="0" bIns="0" rtlCol="0" anchor="t"/>
          <a:lstStyle/>
          <a:p>
            <a:pPr algn="l" indent="0" marL="0">
              <a:buNone/>
            </a:pPr>
            <a:r>
              <a:rPr lang="en-US" sz="1400" dirty="0">
                <a:solidFill>
                  <a:schemeClr val="tx1"/>
                </a:solidFill>
                <a:latin typeface="Courier New" pitchFamily="34" charset="0"/>
                <a:ea typeface="Courier New" pitchFamily="34" charset="-122"/>
                <a:cs typeface="Courier New" pitchFamily="34" charset="-120"/>
              </a:rPr>
              <a:t>the gas pipeline is shut down</a:t>
            </a:r>
            <a:endParaRPr lang="en-US" sz="1400" dirty="0"/>
          </a:p>
        </p:txBody>
      </p:sp>
      <p:sp>
        <p:nvSpPr>
          <p:cNvPr id="10" name="Email chip"/>
          <p:cNvSpPr/>
          <p:nvPr/>
        </p:nvSpPr>
        <p:spPr>
          <a:xfrm>
            <a:off x="8127797" y="1554480"/>
            <a:ext cx="3515258" cy="868680"/>
          </a:xfrm>
          <a:prstGeom prst="roundRect">
            <a:avLst>
              <a:gd name="adj" fmla="val 8421"/>
            </a:avLst>
          </a:prstGeom>
          <a:solidFill>
            <a:schemeClr val="bg1"/>
          </a:solidFill>
          <a:ln w="12700">
            <a:solidFill>
              <a:srgbClr val="D9DDE4"/>
            </a:solidFill>
            <a:prstDash val="solid"/>
          </a:ln>
        </p:spPr>
      </p:sp>
      <p:sp>
        <p:nvSpPr>
          <p:cNvPr id="11" name="Text 9"/>
          <p:cNvSpPr txBox="1"/>
          <p:nvPr/>
        </p:nvSpPr>
        <p:spPr>
          <a:xfrm>
            <a:off x="8356397" y="1645920"/>
            <a:ext cx="3058058" cy="274320"/>
          </a:xfrm>
          <a:prstGeom prst="rect">
            <a:avLst/>
          </a:prstGeom>
          <a:noFill/>
          <a:ln/>
        </p:spPr>
        <p:txBody>
          <a:bodyPr wrap="square" lIns="0" tIns="0" rIns="0" bIns="0" rtlCol="0" anchor="t"/>
          <a:lstStyle/>
          <a:p>
            <a:pPr algn="l" indent="0" marL="0">
              <a:buNone/>
            </a:pPr>
            <a:r>
              <a:rPr lang="en-US" sz="1200" b="1" dirty="0">
                <a:solidFill>
                  <a:schemeClr val="tx2"/>
                </a:solidFill>
              </a:rPr>
              <a:t>Email 2 · Lunch</a:t>
            </a:r>
            <a:endParaRPr lang="en-US" sz="1200" dirty="0"/>
          </a:p>
        </p:txBody>
      </p:sp>
      <p:sp>
        <p:nvSpPr>
          <p:cNvPr id="12" name="Text 10"/>
          <p:cNvSpPr txBox="1"/>
          <p:nvPr/>
        </p:nvSpPr>
        <p:spPr>
          <a:xfrm>
            <a:off x="8356397" y="1938528"/>
            <a:ext cx="3058058" cy="365760"/>
          </a:xfrm>
          <a:prstGeom prst="rect">
            <a:avLst/>
          </a:prstGeom>
          <a:noFill/>
          <a:ln/>
        </p:spPr>
        <p:txBody>
          <a:bodyPr wrap="square" lIns="0" tIns="0" rIns="0" bIns="0" rtlCol="0" anchor="t"/>
          <a:lstStyle/>
          <a:p>
            <a:pPr algn="l" indent="0" marL="0">
              <a:buNone/>
            </a:pPr>
            <a:r>
              <a:rPr lang="en-US" sz="1400" dirty="0">
                <a:solidFill>
                  <a:schemeClr val="tx1"/>
                </a:solidFill>
                <a:latin typeface="Courier New" pitchFamily="34" charset="0"/>
                <a:ea typeface="Courier New" pitchFamily="34" charset="-122"/>
                <a:cs typeface="Courier New" pitchFamily="34" charset="-120"/>
              </a:rPr>
              <a:t>pizza on friday</a:t>
            </a:r>
            <a:endParaRPr lang="en-US" sz="1400" dirty="0"/>
          </a:p>
        </p:txBody>
      </p:sp>
      <p:sp>
        <p:nvSpPr>
          <p:cNvPr id="13" name="Code panel"/>
          <p:cNvSpPr/>
          <p:nvPr/>
        </p:nvSpPr>
        <p:spPr>
          <a:xfrm>
            <a:off x="548640" y="2651760"/>
            <a:ext cx="5410048" cy="2834640"/>
          </a:xfrm>
          <a:prstGeom prst="roundRect">
            <a:avLst>
              <a:gd name="adj" fmla="val 2581"/>
            </a:avLst>
          </a:prstGeom>
          <a:solidFill>
            <a:schemeClr val="bg2"/>
          </a:solidFill>
          <a:ln/>
        </p:spPr>
      </p:sp>
      <p:sp>
        <p:nvSpPr>
          <p:cNvPr id="14" name="Text 12"/>
          <p:cNvSpPr txBox="1"/>
          <p:nvPr/>
        </p:nvSpPr>
        <p:spPr>
          <a:xfrm>
            <a:off x="822960" y="2880360"/>
            <a:ext cx="486140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STEPS 1–2 · EMAIL 1 → VECTOR</a:t>
            </a:r>
            <a:endParaRPr lang="en-US" sz="1100" dirty="0"/>
          </a:p>
        </p:txBody>
      </p:sp>
      <p:sp>
        <p:nvSpPr>
          <p:cNvPr id="15" name="Text 13"/>
          <p:cNvSpPr txBox="1"/>
          <p:nvPr/>
        </p:nvSpPr>
        <p:spPr>
          <a:xfrm>
            <a:off x="822960" y="3246120"/>
            <a:ext cx="4861408" cy="205740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IDF(gas)      = ln(4/3) + 1 = 1.288</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IDF(pipeline) = ln(4/2) + 1 = 1.693</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gas:      1 × 1.288 = 1.288</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pipeline: 2 × 1.693 = 3.386</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shut:     1 × 1.693 = 1.693</a:t>
            </a:r>
            <a:endParaRPr lang="en-US" sz="1400" dirty="0"/>
          </a:p>
          <a:p>
            <a:pPr indent="0" marL="0">
              <a:spcAft>
                <a:spcPts val="600"/>
              </a:spcAft>
              <a:buNone/>
            </a:pPr>
            <a:r>
              <a:rPr lang="en-US" sz="1400" b="1" dirty="0">
                <a:solidFill>
                  <a:schemeClr val="accent1"/>
                </a:solidFill>
                <a:latin typeface="Courier New" pitchFamily="34" charset="0"/>
                <a:ea typeface="Courier New" pitchFamily="34" charset="-122"/>
                <a:cs typeface="Courier New" pitchFamily="34" charset="-120"/>
              </a:rPr>
              <a:t>÷ length 3.98 → 0.32, 0.85, 0.42</a:t>
            </a:r>
            <a:endParaRPr lang="en-US" sz="1400" dirty="0"/>
          </a:p>
        </p:txBody>
      </p:sp>
      <p:sp>
        <p:nvSpPr>
          <p:cNvPr id="16" name="Code panel"/>
          <p:cNvSpPr/>
          <p:nvPr/>
        </p:nvSpPr>
        <p:spPr>
          <a:xfrm>
            <a:off x="6233008" y="2651760"/>
            <a:ext cx="5410048" cy="2834640"/>
          </a:xfrm>
          <a:prstGeom prst="roundRect">
            <a:avLst>
              <a:gd name="adj" fmla="val 2581"/>
            </a:avLst>
          </a:prstGeom>
          <a:solidFill>
            <a:schemeClr val="bg2"/>
          </a:solidFill>
          <a:ln/>
        </p:spPr>
      </p:sp>
      <p:sp>
        <p:nvSpPr>
          <p:cNvPr id="17" name="Text 15"/>
          <p:cNvSpPr txBox="1"/>
          <p:nvPr/>
        </p:nvSpPr>
        <p:spPr>
          <a:xfrm>
            <a:off x="6507328" y="2880360"/>
            <a:ext cx="486140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STEPS 3–4 · COSINE WITH THE QUERY</a:t>
            </a:r>
            <a:endParaRPr lang="en-US" sz="1100" dirty="0"/>
          </a:p>
        </p:txBody>
      </p:sp>
      <p:sp>
        <p:nvSpPr>
          <p:cNvPr id="18" name="Text 16"/>
          <p:cNvSpPr txBox="1"/>
          <p:nvPr/>
        </p:nvSpPr>
        <p:spPr>
          <a:xfrm>
            <a:off x="6507328" y="3246120"/>
            <a:ext cx="4861408" cy="205740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query → gas 0.61, pipeline 0.80</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Email 1: 0.32×0.61 + 0.85×0.80</a:t>
            </a:r>
            <a:endParaRPr lang="en-US" sz="1400" dirty="0"/>
          </a:p>
          <a:p>
            <a:pPr indent="0" marL="0">
              <a:spcAft>
                <a:spcPts val="600"/>
              </a:spcAft>
              <a:buNone/>
            </a:pPr>
            <a:r>
              <a:rPr lang="en-US" sz="1400" b="1" dirty="0">
                <a:solidFill>
                  <a:schemeClr val="accent1"/>
                </a:solidFill>
                <a:latin typeface="Courier New" pitchFamily="34" charset="0"/>
                <a:ea typeface="Courier New" pitchFamily="34" charset="-122"/>
                <a:cs typeface="Courier New" pitchFamily="34" charset="-120"/>
              </a:rPr>
              <a:t>       = 0.869  → #1</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Email 0: 0.53×0.61 = 0.319 → #2</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Email 2: no shared words → hidden</a:t>
            </a:r>
            <a:endParaRPr lang="en-US" sz="1400" dirty="0"/>
          </a:p>
        </p:txBody>
      </p:sp>
      <p:sp>
        <p:nvSpPr>
          <p:cNvPr id="19" name="Code strip"/>
          <p:cNvSpPr/>
          <p:nvPr/>
        </p:nvSpPr>
        <p:spPr>
          <a:xfrm>
            <a:off x="548640" y="5669280"/>
            <a:ext cx="11094415" cy="502920"/>
          </a:xfrm>
          <a:prstGeom prst="roundRect">
            <a:avLst>
              <a:gd name="adj" fmla="val 14545"/>
            </a:avLst>
          </a:prstGeom>
          <a:solidFill>
            <a:schemeClr val="tx1"/>
          </a:solidFill>
          <a:ln/>
        </p:spPr>
      </p:sp>
      <p:sp>
        <p:nvSpPr>
          <p:cNvPr id="20" name="Text 18"/>
          <p:cNvSpPr txBox="1"/>
          <p:nvPr/>
        </p:nvSpPr>
        <p:spPr>
          <a:xfrm>
            <a:off x="822960" y="5669280"/>
            <a:ext cx="10545775" cy="502920"/>
          </a:xfrm>
          <a:prstGeom prst="rect">
            <a:avLst/>
          </a:prstGeom>
          <a:noFill/>
          <a:ln/>
        </p:spPr>
        <p:txBody>
          <a:bodyPr wrap="square" lIns="0" tIns="0" rIns="0" bIns="0" rtlCol="0" anchor="ctr"/>
          <a:lstStyle/>
          <a:p>
            <a:pPr algn="l" indent="0" marL="0">
              <a:buNone/>
            </a:pPr>
            <a:r>
              <a:rPr lang="en-US" sz="1400" b="1" dirty="0">
                <a:solidFill>
                  <a:schemeClr val="accent1"/>
                </a:solidFill>
                <a:latin typeface="Courier New" pitchFamily="34" charset="0"/>
                <a:ea typeface="Courier New" pitchFamily="34" charset="-122"/>
                <a:cs typeface="Courier New" pitchFamily="34" charset="-120"/>
              </a:rPr>
              <a:t>scores = matrix @ query_vector.T</a:t>
            </a:r>
            <a:pPr algn="l" indent="0" marL="0">
              <a:buNone/>
            </a:pPr>
            <a:r>
              <a:rPr lang="en-US" sz="1400" dirty="0">
                <a:solidFill>
                  <a:schemeClr val="bg1"/>
                </a:solidFill>
              </a:rPr>
              <a:t>   ← one line scores all 251,115 emails at once</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ALGORITHM 2 · BM25 (BEST MATCHING 25)</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BM25: TF-IDF with two fixes</a:t>
            </a:r>
            <a:endParaRPr lang="en-US" sz="3200" dirty="0"/>
          </a:p>
        </p:txBody>
      </p:sp>
      <p:sp>
        <p:nvSpPr>
          <p:cNvPr id="4" name="Formula card"/>
          <p:cNvSpPr/>
          <p:nvPr/>
        </p:nvSpPr>
        <p:spPr>
          <a:xfrm>
            <a:off x="548640" y="1554480"/>
            <a:ext cx="11094415" cy="1508760"/>
          </a:xfrm>
          <a:prstGeom prst="roundRect">
            <a:avLst>
              <a:gd name="adj" fmla="val 4848"/>
            </a:avLst>
          </a:prstGeom>
          <a:solidFill>
            <a:schemeClr val="bg2"/>
          </a:solidFill>
          <a:ln/>
        </p:spPr>
      </p:sp>
      <p:sp>
        <p:nvSpPr>
          <p:cNvPr id="5" name="Text 3"/>
          <p:cNvSpPr txBox="1"/>
          <p:nvPr/>
        </p:nvSpPr>
        <p:spPr>
          <a:xfrm>
            <a:off x="1005840" y="1554480"/>
            <a:ext cx="2377440" cy="1508760"/>
          </a:xfrm>
          <a:prstGeom prst="rect">
            <a:avLst/>
          </a:prstGeom>
          <a:noFill/>
          <a:ln/>
        </p:spPr>
        <p:txBody>
          <a:bodyPr wrap="square" lIns="0" tIns="0" rIns="0" bIns="0" rtlCol="0" anchor="ctr"/>
          <a:lstStyle/>
          <a:p>
            <a:pPr algn="l" indent="0" marL="0">
              <a:buNone/>
            </a:pPr>
            <a:r>
              <a:rPr lang="en-US" sz="2600" b="1" dirty="0">
                <a:solidFill>
                  <a:schemeClr val="tx1"/>
                </a:solidFill>
                <a:latin typeface="Courier New" pitchFamily="34" charset="0"/>
                <a:ea typeface="Courier New" pitchFamily="34" charset="-122"/>
                <a:cs typeface="Courier New" pitchFamily="34" charset="-120"/>
              </a:rPr>
              <a:t>score = Σ</a:t>
            </a:r>
            <a:endParaRPr lang="en-US" sz="2600" dirty="0"/>
          </a:p>
        </p:txBody>
      </p:sp>
      <p:sp>
        <p:nvSpPr>
          <p:cNvPr id="6" name="Text 4"/>
          <p:cNvSpPr txBox="1"/>
          <p:nvPr/>
        </p:nvSpPr>
        <p:spPr>
          <a:xfrm>
            <a:off x="3291840" y="1719072"/>
            <a:ext cx="7680960" cy="502920"/>
          </a:xfrm>
          <a:prstGeom prst="rect">
            <a:avLst/>
          </a:prstGeom>
          <a:noFill/>
          <a:ln/>
        </p:spPr>
        <p:txBody>
          <a:bodyPr wrap="square" lIns="0" tIns="0" rIns="0" bIns="0" rtlCol="0" anchor="ctr"/>
          <a:lstStyle/>
          <a:p>
            <a:pPr algn="ctr" indent="0" marL="0">
              <a:buNone/>
            </a:pPr>
            <a:r>
              <a:rPr lang="en-US" sz="2200" dirty="0">
                <a:solidFill>
                  <a:schemeClr val="tx1"/>
                </a:solidFill>
                <a:latin typeface="Courier New" pitchFamily="34" charset="0"/>
                <a:ea typeface="Courier New" pitchFamily="34" charset="-122"/>
                <a:cs typeface="Courier New" pitchFamily="34" charset="-120"/>
              </a:rPr>
              <a:t>IDF(w) × tf × (k1 + 1)</a:t>
            </a:r>
            <a:endParaRPr lang="en-US" sz="2200" dirty="0"/>
          </a:p>
        </p:txBody>
      </p:sp>
      <p:sp>
        <p:nvSpPr>
          <p:cNvPr id="7" name="Fraction bar"/>
          <p:cNvSpPr/>
          <p:nvPr/>
        </p:nvSpPr>
        <p:spPr>
          <a:xfrm>
            <a:off x="3474720" y="2304288"/>
            <a:ext cx="7315200" cy="0"/>
          </a:xfrm>
          <a:prstGeom prst="line">
            <a:avLst/>
          </a:prstGeom>
          <a:noFill/>
          <a:ln w="19050">
            <a:solidFill>
              <a:srgbClr val="14213D"/>
            </a:solidFill>
            <a:prstDash val="solid"/>
          </a:ln>
        </p:spPr>
      </p:sp>
      <p:sp>
        <p:nvSpPr>
          <p:cNvPr id="8" name="Text 6"/>
          <p:cNvSpPr txBox="1"/>
          <p:nvPr/>
        </p:nvSpPr>
        <p:spPr>
          <a:xfrm>
            <a:off x="3291840" y="2377440"/>
            <a:ext cx="7680960" cy="502920"/>
          </a:xfrm>
          <a:prstGeom prst="rect">
            <a:avLst/>
          </a:prstGeom>
          <a:noFill/>
          <a:ln/>
        </p:spPr>
        <p:txBody>
          <a:bodyPr wrap="square" lIns="0" tIns="0" rIns="0" bIns="0" rtlCol="0" anchor="ctr"/>
          <a:lstStyle/>
          <a:p>
            <a:pPr algn="ctr" indent="0" marL="0">
              <a:buNone/>
            </a:pPr>
            <a:r>
              <a:rPr lang="en-US" sz="2200" dirty="0">
                <a:solidFill>
                  <a:schemeClr val="tx1"/>
                </a:solidFill>
                <a:latin typeface="Courier New" pitchFamily="34" charset="0"/>
                <a:ea typeface="Courier New" pitchFamily="34" charset="-122"/>
                <a:cs typeface="Courier New" pitchFamily="34" charset="-120"/>
              </a:rPr>
              <a:t>tf + k1 × (1 − b + b × len / avg_len)</a:t>
            </a:r>
            <a:endParaRPr lang="en-US" sz="2200" dirty="0"/>
          </a:p>
        </p:txBody>
      </p:sp>
      <p:sp>
        <p:nvSpPr>
          <p:cNvPr id="9" name="Param card"/>
          <p:cNvSpPr/>
          <p:nvPr/>
        </p:nvSpPr>
        <p:spPr>
          <a:xfrm>
            <a:off x="548640" y="3291840"/>
            <a:ext cx="3291840" cy="2377440"/>
          </a:xfrm>
          <a:prstGeom prst="roundRect">
            <a:avLst>
              <a:gd name="adj" fmla="val 3077"/>
            </a:avLst>
          </a:prstGeom>
          <a:solidFill>
            <a:srgbClr val="FBE9DC"/>
          </a:solidFill>
          <a:ln/>
        </p:spPr>
      </p:sp>
      <p:sp>
        <p:nvSpPr>
          <p:cNvPr id="10" name="Text 8"/>
          <p:cNvSpPr txBox="1"/>
          <p:nvPr/>
        </p:nvSpPr>
        <p:spPr>
          <a:xfrm>
            <a:off x="822960" y="3429000"/>
            <a:ext cx="27432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ourier New" pitchFamily="34" charset="0"/>
                <a:ea typeface="Courier New" pitchFamily="34" charset="-122"/>
                <a:cs typeface="Courier New" pitchFamily="34" charset="-120"/>
              </a:rPr>
              <a:t>k1 = 1.5</a:t>
            </a:r>
            <a:endParaRPr lang="en-US" sz="2600" dirty="0"/>
          </a:p>
        </p:txBody>
      </p:sp>
      <p:sp>
        <p:nvSpPr>
          <p:cNvPr id="11" name="Text 9"/>
          <p:cNvSpPr txBox="1"/>
          <p:nvPr/>
        </p:nvSpPr>
        <p:spPr>
          <a:xfrm>
            <a:off x="822960" y="3977640"/>
            <a:ext cx="2743200" cy="320040"/>
          </a:xfrm>
          <a:prstGeom prst="rect">
            <a:avLst/>
          </a:prstGeom>
          <a:noFill/>
          <a:ln/>
        </p:spPr>
        <p:txBody>
          <a:bodyPr wrap="square" lIns="0" tIns="0" rIns="0" bIns="0" rtlCol="0" anchor="t"/>
          <a:lstStyle/>
          <a:p>
            <a:pPr algn="l" indent="0" marL="0">
              <a:buNone/>
            </a:pPr>
            <a:r>
              <a:rPr lang="en-US" sz="1500" b="1" dirty="0">
                <a:solidFill>
                  <a:schemeClr val="tx1"/>
                </a:solidFill>
              </a:rPr>
              <a:t>Fix 1 · TF saturation</a:t>
            </a:r>
            <a:endParaRPr lang="en-US" sz="1500" dirty="0"/>
          </a:p>
        </p:txBody>
      </p:sp>
      <p:sp>
        <p:nvSpPr>
          <p:cNvPr id="12" name="Text 10"/>
          <p:cNvSpPr txBox="1"/>
          <p:nvPr/>
        </p:nvSpPr>
        <p:spPr>
          <a:xfrm>
            <a:off x="822960" y="4343400"/>
            <a:ext cx="2743200" cy="1234440"/>
          </a:xfrm>
          <a:prstGeom prst="rect">
            <a:avLst/>
          </a:prstGeom>
          <a:noFill/>
          <a:ln/>
        </p:spPr>
        <p:txBody>
          <a:bodyPr wrap="square" lIns="0" tIns="0" rIns="0" bIns="0" rtlCol="0" anchor="t"/>
          <a:lstStyle/>
          <a:p>
            <a:pPr algn="l" indent="0" marL="0">
              <a:buNone/>
            </a:pPr>
            <a:r>
              <a:rPr lang="en-US" sz="1400" dirty="0">
                <a:solidFill>
                  <a:schemeClr val="tx2"/>
                </a:solidFill>
              </a:rPr>
              <a:t>The 10th repeat of a word adds far less than the 1st. tf is on top and bottom, so the score flattens.</a:t>
            </a:r>
            <a:endParaRPr lang="en-US" sz="1400" dirty="0"/>
          </a:p>
        </p:txBody>
      </p:sp>
      <p:sp>
        <p:nvSpPr>
          <p:cNvPr id="13" name="Param card"/>
          <p:cNvSpPr/>
          <p:nvPr/>
        </p:nvSpPr>
        <p:spPr>
          <a:xfrm>
            <a:off x="4449928" y="3291840"/>
            <a:ext cx="3291840" cy="2377440"/>
          </a:xfrm>
          <a:prstGeom prst="roundRect">
            <a:avLst>
              <a:gd name="adj" fmla="val 3077"/>
            </a:avLst>
          </a:prstGeom>
          <a:solidFill>
            <a:srgbClr val="FBE9DC"/>
          </a:solidFill>
          <a:ln/>
        </p:spPr>
      </p:sp>
      <p:sp>
        <p:nvSpPr>
          <p:cNvPr id="14" name="Text 12"/>
          <p:cNvSpPr txBox="1"/>
          <p:nvPr/>
        </p:nvSpPr>
        <p:spPr>
          <a:xfrm>
            <a:off x="4724248" y="3429000"/>
            <a:ext cx="2743200" cy="502920"/>
          </a:xfrm>
          <a:prstGeom prst="rect">
            <a:avLst/>
          </a:prstGeom>
          <a:noFill/>
          <a:ln/>
        </p:spPr>
        <p:txBody>
          <a:bodyPr wrap="square" lIns="0" tIns="0" rIns="0" bIns="0" rtlCol="0" anchor="t"/>
          <a:lstStyle/>
          <a:p>
            <a:pPr algn="l" indent="0" marL="0">
              <a:buNone/>
            </a:pPr>
            <a:r>
              <a:rPr lang="en-US" sz="2600" b="1" dirty="0">
                <a:solidFill>
                  <a:schemeClr val="accent1"/>
                </a:solidFill>
                <a:latin typeface="Courier New" pitchFamily="34" charset="0"/>
                <a:ea typeface="Courier New" pitchFamily="34" charset="-122"/>
                <a:cs typeface="Courier New" pitchFamily="34" charset="-120"/>
              </a:rPr>
              <a:t>b = 0.75</a:t>
            </a:r>
            <a:endParaRPr lang="en-US" sz="2600" dirty="0"/>
          </a:p>
        </p:txBody>
      </p:sp>
      <p:sp>
        <p:nvSpPr>
          <p:cNvPr id="15" name="Text 13"/>
          <p:cNvSpPr txBox="1"/>
          <p:nvPr/>
        </p:nvSpPr>
        <p:spPr>
          <a:xfrm>
            <a:off x="4724248" y="3977640"/>
            <a:ext cx="2743200" cy="320040"/>
          </a:xfrm>
          <a:prstGeom prst="rect">
            <a:avLst/>
          </a:prstGeom>
          <a:noFill/>
          <a:ln/>
        </p:spPr>
        <p:txBody>
          <a:bodyPr wrap="square" lIns="0" tIns="0" rIns="0" bIns="0" rtlCol="0" anchor="t"/>
          <a:lstStyle/>
          <a:p>
            <a:pPr algn="l" indent="0" marL="0">
              <a:buNone/>
            </a:pPr>
            <a:r>
              <a:rPr lang="en-US" sz="1500" b="1" dirty="0">
                <a:solidFill>
                  <a:schemeClr val="tx1"/>
                </a:solidFill>
              </a:rPr>
              <a:t>Fix 2 · Length vs average</a:t>
            </a:r>
            <a:endParaRPr lang="en-US" sz="1500" dirty="0"/>
          </a:p>
        </p:txBody>
      </p:sp>
      <p:sp>
        <p:nvSpPr>
          <p:cNvPr id="16" name="Text 14"/>
          <p:cNvSpPr txBox="1"/>
          <p:nvPr/>
        </p:nvSpPr>
        <p:spPr>
          <a:xfrm>
            <a:off x="4724248" y="4343400"/>
            <a:ext cx="2743200" cy="1234440"/>
          </a:xfrm>
          <a:prstGeom prst="rect">
            <a:avLst/>
          </a:prstGeom>
          <a:noFill/>
          <a:ln/>
        </p:spPr>
        <p:txBody>
          <a:bodyPr wrap="square" lIns="0" tIns="0" rIns="0" bIns="0" rtlCol="0" anchor="t"/>
          <a:lstStyle/>
          <a:p>
            <a:pPr algn="l" indent="0" marL="0">
              <a:buNone/>
            </a:pPr>
            <a:r>
              <a:rPr lang="en-US" sz="1400" dirty="0">
                <a:solidFill>
                  <a:schemeClr val="tx2"/>
                </a:solidFill>
              </a:rPr>
              <a:t>Each email is compared to the average length. Long emails are only partly penalised, not crushed.</a:t>
            </a:r>
            <a:endParaRPr lang="en-US" sz="1400" dirty="0"/>
          </a:p>
        </p:txBody>
      </p:sp>
      <p:sp>
        <p:nvSpPr>
          <p:cNvPr id="17" name="Param card"/>
          <p:cNvSpPr/>
          <p:nvPr/>
        </p:nvSpPr>
        <p:spPr>
          <a:xfrm>
            <a:off x="8351215" y="3291840"/>
            <a:ext cx="3291840" cy="2377440"/>
          </a:xfrm>
          <a:prstGeom prst="roundRect">
            <a:avLst>
              <a:gd name="adj" fmla="val 3077"/>
            </a:avLst>
          </a:prstGeom>
          <a:solidFill>
            <a:schemeClr val="bg2"/>
          </a:solidFill>
          <a:ln/>
        </p:spPr>
      </p:sp>
      <p:sp>
        <p:nvSpPr>
          <p:cNvPr id="18" name="Text 16"/>
          <p:cNvSpPr txBox="1"/>
          <p:nvPr/>
        </p:nvSpPr>
        <p:spPr>
          <a:xfrm>
            <a:off x="8625535" y="3429000"/>
            <a:ext cx="2743200" cy="502920"/>
          </a:xfrm>
          <a:prstGeom prst="rect">
            <a:avLst/>
          </a:prstGeom>
          <a:noFill/>
          <a:ln/>
        </p:spPr>
        <p:txBody>
          <a:bodyPr wrap="square" lIns="0" tIns="0" rIns="0" bIns="0" rtlCol="0" anchor="t"/>
          <a:lstStyle/>
          <a:p>
            <a:pPr algn="l" indent="0" marL="0">
              <a:buNone/>
            </a:pPr>
            <a:r>
              <a:rPr lang="en-US" sz="2600" b="1" dirty="0">
                <a:solidFill>
                  <a:schemeClr val="tx1"/>
                </a:solidFill>
                <a:latin typeface="Courier New" pitchFamily="34" charset="0"/>
                <a:ea typeface="Courier New" pitchFamily="34" charset="-122"/>
                <a:cs typeface="Courier New" pitchFamily="34" charset="-120"/>
              </a:rPr>
              <a:t>IDF</a:t>
            </a:r>
            <a:endParaRPr lang="en-US" sz="2600" dirty="0"/>
          </a:p>
        </p:txBody>
      </p:sp>
      <p:sp>
        <p:nvSpPr>
          <p:cNvPr id="19" name="Text 17"/>
          <p:cNvSpPr txBox="1"/>
          <p:nvPr/>
        </p:nvSpPr>
        <p:spPr>
          <a:xfrm>
            <a:off x="8625535" y="3977640"/>
            <a:ext cx="2743200" cy="320040"/>
          </a:xfrm>
          <a:prstGeom prst="rect">
            <a:avLst/>
          </a:prstGeom>
          <a:noFill/>
          <a:ln/>
        </p:spPr>
        <p:txBody>
          <a:bodyPr wrap="square" lIns="0" tIns="0" rIns="0" bIns="0" rtlCol="0" anchor="t"/>
          <a:lstStyle/>
          <a:p>
            <a:pPr algn="l" indent="0" marL="0">
              <a:buNone/>
            </a:pPr>
            <a:r>
              <a:rPr lang="en-US" sz="1500" b="1" dirty="0">
                <a:solidFill>
                  <a:schemeClr val="tx1"/>
                </a:solidFill>
              </a:rPr>
              <a:t>Rare words count more</a:t>
            </a:r>
            <a:endParaRPr lang="en-US" sz="1500" dirty="0"/>
          </a:p>
        </p:txBody>
      </p:sp>
      <p:sp>
        <p:nvSpPr>
          <p:cNvPr id="20" name="Text 18"/>
          <p:cNvSpPr txBox="1"/>
          <p:nvPr/>
        </p:nvSpPr>
        <p:spPr>
          <a:xfrm>
            <a:off x="8625535" y="4343400"/>
            <a:ext cx="2743200" cy="1234440"/>
          </a:xfrm>
          <a:prstGeom prst="rect">
            <a:avLst/>
          </a:prstGeom>
          <a:noFill/>
          <a:ln/>
        </p:spPr>
        <p:txBody>
          <a:bodyPr wrap="square" lIns="0" tIns="0" rIns="0" bIns="0" rtlCol="0" anchor="t"/>
          <a:lstStyle/>
          <a:p>
            <a:pPr algn="l" indent="0" marL="0">
              <a:buNone/>
            </a:pPr>
            <a:r>
              <a:rPr lang="en-US" sz="1400" dirty="0">
                <a:solidFill>
                  <a:schemeClr val="tx2"/>
                </a:solidFill>
              </a:rPr>
              <a:t>ln((N − df + 0.5) / (df + 0.5) + 1), same idea as TF-IDF</a:t>
            </a:r>
            <a:endParaRPr lang="en-US" sz="1400" dirty="0"/>
          </a:p>
        </p:txBody>
      </p:sp>
      <p:sp>
        <p:nvSpPr>
          <p:cNvPr id="21" name="Text 19"/>
          <p:cNvSpPr txBox="1"/>
          <p:nvPr/>
        </p:nvSpPr>
        <p:spPr>
          <a:xfrm>
            <a:off x="548640" y="5852160"/>
            <a:ext cx="11094415" cy="320040"/>
          </a:xfrm>
          <a:prstGeom prst="rect">
            <a:avLst/>
          </a:prstGeom>
          <a:noFill/>
          <a:ln/>
        </p:spPr>
        <p:txBody>
          <a:bodyPr wrap="square" lIns="0" tIns="0" rIns="0" bIns="0" rtlCol="0" anchor="t"/>
          <a:lstStyle/>
          <a:p>
            <a:pPr algn="l" indent="0" marL="0">
              <a:buNone/>
            </a:pPr>
            <a:r>
              <a:rPr lang="en-US" sz="1400" dirty="0">
                <a:solidFill>
                  <a:schemeClr val="tx2"/>
                </a:solidFill>
              </a:rPr>
              <a:t>Default ranking in </a:t>
            </a:r>
            <a:pPr algn="l" indent="0" marL="0">
              <a:buNone/>
            </a:pPr>
            <a:r>
              <a:rPr lang="en-US" sz="1400" b="1" dirty="0">
                <a:solidFill>
                  <a:schemeClr val="tx2"/>
                </a:solidFill>
              </a:rPr>
              <a:t>Elasticsearch · OpenSearch · Lucene · Solr · SQLite FTS5</a:t>
            </a:r>
            <a:pPr algn="l" indent="0" marL="0">
              <a:buNone/>
            </a:pPr>
            <a:r>
              <a:rPr lang="en-US" sz="1400" dirty="0">
                <a:solidFill>
                  <a:schemeClr val="tx2"/>
                </a:solidFill>
              </a:rPr>
              <a:t>   |   our version: ~15 lines in search_engine.py</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BM25 · STEP BY STEP · QUERY “GAS PIPELINE”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Same example: Email 1 wins with a BM25 score of 1.924</a:t>
            </a:r>
            <a:endParaRPr lang="en-US" sz="3200" dirty="0"/>
          </a:p>
        </p:txBody>
      </p:sp>
      <p:sp>
        <p:nvSpPr>
          <p:cNvPr id="4" name="Code panel"/>
          <p:cNvSpPr/>
          <p:nvPr/>
        </p:nvSpPr>
        <p:spPr>
          <a:xfrm>
            <a:off x="548640" y="1600200"/>
            <a:ext cx="5410048" cy="3291840"/>
          </a:xfrm>
          <a:prstGeom prst="roundRect">
            <a:avLst>
              <a:gd name="adj" fmla="val 2222"/>
            </a:avLst>
          </a:prstGeom>
          <a:solidFill>
            <a:schemeClr val="bg2"/>
          </a:solidFill>
          <a:ln/>
        </p:spPr>
      </p:sp>
      <p:sp>
        <p:nvSpPr>
          <p:cNvPr id="5" name="Text 3"/>
          <p:cNvSpPr txBox="1"/>
          <p:nvPr/>
        </p:nvSpPr>
        <p:spPr>
          <a:xfrm>
            <a:off x="822960" y="1828800"/>
            <a:ext cx="486140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STEPS 1–2 · IDF + INVERTED INDEX</a:t>
            </a:r>
            <a:endParaRPr lang="en-US" sz="1100" dirty="0"/>
          </a:p>
        </p:txBody>
      </p:sp>
      <p:sp>
        <p:nvSpPr>
          <p:cNvPr id="6" name="Text 4"/>
          <p:cNvSpPr txBox="1"/>
          <p:nvPr/>
        </p:nvSpPr>
        <p:spPr>
          <a:xfrm>
            <a:off x="822960" y="2194560"/>
            <a:ext cx="4861408" cy="251460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IDF(gas)      = ln(1.5/2.5 + 1) = 0.470</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IDF(pipeline) = ln(2.5/1.5 + 1) = 0.981</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gas      → E0 (tf 2, len 6)</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           E1 (tf 1, len 4)</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pipeline → E1 (tf 2, len 4)</a:t>
            </a:r>
            <a:endParaRPr lang="en-US" sz="1400" dirty="0"/>
          </a:p>
          <a:p>
            <a:pPr indent="0" marL="0">
              <a:spcAft>
                <a:spcPts val="600"/>
              </a:spcAft>
              <a:buNone/>
            </a:pPr>
            <a:r>
              <a:rPr lang="en-US" sz="1400" b="1" dirty="0">
                <a:solidFill>
                  <a:schemeClr val="accent1"/>
                </a:solidFill>
                <a:latin typeface="Courier New" pitchFamily="34" charset="0"/>
                <a:ea typeface="Courier New" pitchFamily="34" charset="-122"/>
                <a:cs typeface="Courier New" pitchFamily="34" charset="-120"/>
              </a:rPr>
              <a:t>Email 2 is never even looked at</a:t>
            </a:r>
            <a:endParaRPr lang="en-US" sz="1400" dirty="0"/>
          </a:p>
        </p:txBody>
      </p:sp>
      <p:sp>
        <p:nvSpPr>
          <p:cNvPr id="7" name="Code panel"/>
          <p:cNvSpPr/>
          <p:nvPr/>
        </p:nvSpPr>
        <p:spPr>
          <a:xfrm>
            <a:off x="6233008" y="1600200"/>
            <a:ext cx="5410048" cy="3291840"/>
          </a:xfrm>
          <a:prstGeom prst="roundRect">
            <a:avLst>
              <a:gd name="adj" fmla="val 2222"/>
            </a:avLst>
          </a:prstGeom>
          <a:solidFill>
            <a:schemeClr val="bg2"/>
          </a:solidFill>
          <a:ln/>
        </p:spPr>
      </p:sp>
      <p:sp>
        <p:nvSpPr>
          <p:cNvPr id="8" name="Text 6"/>
          <p:cNvSpPr txBox="1"/>
          <p:nvPr/>
        </p:nvSpPr>
        <p:spPr>
          <a:xfrm>
            <a:off x="6507328" y="1828800"/>
            <a:ext cx="486140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STEPS 3–4 · SCORE EACH PAIR, ADD UP</a:t>
            </a:r>
            <a:endParaRPr lang="en-US" sz="1100" dirty="0"/>
          </a:p>
        </p:txBody>
      </p:sp>
      <p:sp>
        <p:nvSpPr>
          <p:cNvPr id="9" name="Text 7"/>
          <p:cNvSpPr txBox="1"/>
          <p:nvPr/>
        </p:nvSpPr>
        <p:spPr>
          <a:xfrm>
            <a:off x="6507328" y="2194560"/>
            <a:ext cx="4861408" cy="251460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k1 = 1.5 · b = 0.75 · avg_len = 4.33</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gas in E0      → 0.598</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gas in E1      → 0.487</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pipeline in E1 → 1.437</a:t>
            </a:r>
            <a:endParaRPr lang="en-US" sz="1400" dirty="0"/>
          </a:p>
          <a:p>
            <a:pPr indent="0" marL="0">
              <a:spcAft>
                <a:spcPts val="600"/>
              </a:spcAft>
              <a:buNone/>
            </a:pPr>
            <a:r>
              <a:rPr lang="en-US" sz="1400" b="1" dirty="0">
                <a:solidFill>
                  <a:schemeClr val="accent1"/>
                </a:solidFill>
                <a:latin typeface="Courier New" pitchFamily="34" charset="0"/>
                <a:ea typeface="Courier New" pitchFamily="34" charset="-122"/>
                <a:cs typeface="Courier New" pitchFamily="34" charset="-120"/>
              </a:rPr>
              <a:t>Email 1: 0.487 + 1.437 = 1.924 → #1</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Email 0: 0.598 → #2</a:t>
            </a:r>
            <a:endParaRPr lang="en-US" sz="1400" dirty="0"/>
          </a:p>
        </p:txBody>
      </p:sp>
      <p:sp>
        <p:nvSpPr>
          <p:cNvPr id="10" name="Takeaway"/>
          <p:cNvSpPr/>
          <p:nvPr/>
        </p:nvSpPr>
        <p:spPr>
          <a:xfrm>
            <a:off x="548640" y="5120640"/>
            <a:ext cx="11094415" cy="914400"/>
          </a:xfrm>
          <a:prstGeom prst="roundRect">
            <a:avLst>
              <a:gd name="adj" fmla="val 8000"/>
            </a:avLst>
          </a:prstGeom>
          <a:solidFill>
            <a:srgbClr val="E3ECF6"/>
          </a:solidFill>
          <a:ln/>
        </p:spPr>
      </p:sp>
      <p:sp>
        <p:nvSpPr>
          <p:cNvPr id="11" name="Text 9"/>
          <p:cNvSpPr txBox="1"/>
          <p:nvPr/>
        </p:nvSpPr>
        <p:spPr>
          <a:xfrm>
            <a:off x="822960" y="5120640"/>
            <a:ext cx="10545775" cy="914400"/>
          </a:xfrm>
          <a:prstGeom prst="rect">
            <a:avLst/>
          </a:prstGeom>
          <a:noFill/>
          <a:ln/>
        </p:spPr>
        <p:txBody>
          <a:bodyPr wrap="square" lIns="0" tIns="0" rIns="0" bIns="0" rtlCol="0" anchor="ctr"/>
          <a:lstStyle/>
          <a:p>
            <a:pPr algn="l" indent="0" marL="0">
              <a:buNone/>
            </a:pPr>
            <a:r>
              <a:rPr lang="en-US" sz="1600" b="1" dirty="0">
                <a:solidFill>
                  <a:schemeClr val="tx1"/>
                </a:solidFill>
              </a:rPr>
              <a:t>Same order as TF-IDF on this tiny example. </a:t>
            </a:r>
            <a:pPr algn="l" indent="0" marL="0">
              <a:buNone/>
            </a:pPr>
            <a:r>
              <a:rPr lang="en-US" sz="1600" dirty="0">
                <a:solidFill>
                  <a:schemeClr val="tx1"/>
                </a:solidFill>
              </a:rPr>
              <a:t>The difference appears when emails differ in length and repetition, which is exactly what real email looks like →</a:t>
            </a:r>
            <a:endParaRPr lang="en-US" sz="16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TWO FIXES, IN NUMBERS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Repeating a word stops paying off</a:t>
            </a:r>
            <a:endParaRPr lang="en-US" sz="3200" dirty="0"/>
          </a:p>
        </p:txBody>
      </p:sp>
      <p:graphicFrame>
        <p:nvGraphicFramePr>
          <p:cNvPr id="4" name="Chart 0" descr=""/>
          <p:cNvGraphicFramePr/>
          <p:nvPr/>
        </p:nvGraphicFramePr>
        <p:xfrm>
          <a:off x="548640" y="1554480"/>
          <a:ext cx="6766560" cy="4297680"/>
        </p:xfrm>
        <a:graphic xmlns:a="http://schemas.openxmlformats.org/drawingml/2006/main">
          <a:graphicData uri="http://schemas.openxmlformats.org/drawingml/2006/chart">
            <c:chart xmlns:c="http://schemas.openxmlformats.org/drawingml/2006/chart" r:id="rId1"/>
          </a:graphicData>
        </a:graphic>
      </p:graphicFrame>
      <p:sp>
        <p:nvSpPr>
          <p:cNvPr id="5" name="Fix 1 card"/>
          <p:cNvSpPr/>
          <p:nvPr/>
        </p:nvSpPr>
        <p:spPr>
          <a:xfrm>
            <a:off x="7635240" y="1554480"/>
            <a:ext cx="4005072" cy="2011680"/>
          </a:xfrm>
          <a:prstGeom prst="roundRect">
            <a:avLst>
              <a:gd name="adj" fmla="val 3636"/>
            </a:avLst>
          </a:prstGeom>
          <a:solidFill>
            <a:srgbClr val="FBE9DC"/>
          </a:solidFill>
          <a:ln/>
        </p:spPr>
      </p:sp>
      <p:sp>
        <p:nvSpPr>
          <p:cNvPr id="6" name="Text 3"/>
          <p:cNvSpPr txBox="1"/>
          <p:nvPr/>
        </p:nvSpPr>
        <p:spPr>
          <a:xfrm>
            <a:off x="7863840" y="1737360"/>
            <a:ext cx="356616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FIX 1 · SATURATION (k1)</a:t>
            </a:r>
            <a:endParaRPr lang="en-US" sz="1100" dirty="0"/>
          </a:p>
        </p:txBody>
      </p:sp>
      <p:sp>
        <p:nvSpPr>
          <p:cNvPr id="7" name="Text 4"/>
          <p:cNvSpPr txBox="1"/>
          <p:nvPr/>
        </p:nvSpPr>
        <p:spPr>
          <a:xfrm>
            <a:off x="7863840" y="2057400"/>
            <a:ext cx="3566160" cy="1371600"/>
          </a:xfrm>
          <a:prstGeom prst="rect">
            <a:avLst/>
          </a:prstGeom>
          <a:noFill/>
          <a:ln/>
        </p:spPr>
        <p:txBody>
          <a:bodyPr wrap="square" lIns="0" tIns="0" rIns="0" bIns="0" rtlCol="0" anchor="t"/>
          <a:lstStyle/>
          <a:p>
            <a:pPr algn="l" indent="0" marL="0">
              <a:buNone/>
            </a:pPr>
            <a:r>
              <a:rPr lang="en-US" sz="1600" dirty="0">
                <a:solidFill>
                  <a:schemeClr val="tx1"/>
                </a:solidFill>
              </a:rPr>
              <a:t>50 repeats: </a:t>
            </a:r>
            <a:pPr algn="l" indent="0" marL="0">
              <a:buNone/>
            </a:pPr>
            <a:r>
              <a:rPr lang="en-US" sz="1600" b="1" dirty="0">
                <a:solidFill>
                  <a:schemeClr val="accent2"/>
                </a:solidFill>
              </a:rPr>
              <a:t>50×</a:t>
            </a:r>
            <a:pPr algn="l" indent="0" marL="0">
              <a:buNone/>
            </a:pPr>
            <a:r>
              <a:rPr lang="en-US" sz="1600" dirty="0">
                <a:solidFill>
                  <a:schemeClr val="tx1"/>
                </a:solidFill>
              </a:rPr>
              <a:t> the weight in TF-IDF, only </a:t>
            </a:r>
            <a:pPr algn="l" indent="0" marL="0">
              <a:buNone/>
            </a:pPr>
            <a:r>
              <a:rPr lang="en-US" sz="1600" b="1" dirty="0">
                <a:solidFill>
                  <a:schemeClr val="accent1"/>
                </a:solidFill>
              </a:rPr>
              <a:t>2.4×</a:t>
            </a:r>
            <a:pPr algn="l" indent="0" marL="0">
              <a:buNone/>
            </a:pPr>
            <a:r>
              <a:rPr lang="en-US" sz="1600" dirty="0">
                <a:solidFill>
                  <a:schemeClr val="tx1"/>
                </a:solidFill>
              </a:rPr>
              <a:t> in BM25. Keyword stuffing can’t win.</a:t>
            </a:r>
            <a:endParaRPr lang="en-US" sz="1600" dirty="0"/>
          </a:p>
        </p:txBody>
      </p:sp>
      <p:sp>
        <p:nvSpPr>
          <p:cNvPr id="8" name="Fix 2 card"/>
          <p:cNvSpPr/>
          <p:nvPr/>
        </p:nvSpPr>
        <p:spPr>
          <a:xfrm>
            <a:off x="7635240" y="3840480"/>
            <a:ext cx="4005072" cy="2011680"/>
          </a:xfrm>
          <a:prstGeom prst="roundRect">
            <a:avLst>
              <a:gd name="adj" fmla="val 3636"/>
            </a:avLst>
          </a:prstGeom>
          <a:solidFill>
            <a:schemeClr val="bg2"/>
          </a:solidFill>
          <a:ln/>
        </p:spPr>
      </p:sp>
      <p:sp>
        <p:nvSpPr>
          <p:cNvPr id="9" name="Text 6"/>
          <p:cNvSpPr txBox="1"/>
          <p:nvPr/>
        </p:nvSpPr>
        <p:spPr>
          <a:xfrm>
            <a:off x="7863840" y="4023360"/>
            <a:ext cx="356616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FIX 2 · LENGTH VS AVERAGE (b)</a:t>
            </a:r>
            <a:endParaRPr lang="en-US" sz="1100" dirty="0"/>
          </a:p>
        </p:txBody>
      </p:sp>
      <p:sp>
        <p:nvSpPr>
          <p:cNvPr id="10" name="Text 7"/>
          <p:cNvSpPr txBox="1"/>
          <p:nvPr/>
        </p:nvSpPr>
        <p:spPr>
          <a:xfrm>
            <a:off x="7863840" y="4343400"/>
            <a:ext cx="3566160" cy="1463040"/>
          </a:xfrm>
          <a:prstGeom prst="rect">
            <a:avLst/>
          </a:prstGeom>
          <a:noFill/>
          <a:ln/>
        </p:spPr>
        <p:txBody>
          <a:bodyPr wrap="square" lIns="0" tIns="0" rIns="0" bIns="0" rtlCol="0" anchor="t"/>
          <a:lstStyle/>
          <a:p>
            <a:pPr algn="l" indent="0" marL="0">
              <a:buNone/>
            </a:pPr>
            <a:r>
              <a:rPr lang="en-US" sz="1400" dirty="0">
                <a:solidFill>
                  <a:schemeClr val="tx1"/>
                </a:solidFill>
              </a:rPr>
              <a:t>TF-IDF divides by the email’s full vector length, so a 4-word reply looks “perfect”. BM25 compares length to the average and only partly penalises long emails.</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DEMO · python compare.py · QUERY “GAS PIPELINE”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 junk email vs. the real one</a:t>
            </a:r>
            <a:endParaRPr lang="en-US" sz="3200" dirty="0"/>
          </a:p>
        </p:txBody>
      </p:sp>
      <p:sp>
        <p:nvSpPr>
          <p:cNvPr id="4" name="Junk email"/>
          <p:cNvSpPr/>
          <p:nvPr/>
        </p:nvSpPr>
        <p:spPr>
          <a:xfrm>
            <a:off x="548640" y="1600200"/>
            <a:ext cx="5669280" cy="1371600"/>
          </a:xfrm>
          <a:prstGeom prst="roundRect">
            <a:avLst>
              <a:gd name="adj" fmla="val 5333"/>
            </a:avLst>
          </a:prstGeom>
          <a:solidFill>
            <a:schemeClr val="bg2"/>
          </a:solidFill>
          <a:ln/>
        </p:spPr>
      </p:sp>
      <p:sp>
        <p:nvSpPr>
          <p:cNvPr id="5" name="Text 3"/>
          <p:cNvSpPr txBox="1"/>
          <p:nvPr/>
        </p:nvSpPr>
        <p:spPr>
          <a:xfrm>
            <a:off x="822960" y="1755648"/>
            <a:ext cx="5029200"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JUNK · “RE: GAS”</a:t>
            </a:r>
            <a:endParaRPr lang="en-US" sz="1100" dirty="0"/>
          </a:p>
        </p:txBody>
      </p:sp>
      <p:sp>
        <p:nvSpPr>
          <p:cNvPr id="6" name="Text 4"/>
          <p:cNvSpPr txBox="1"/>
          <p:nvPr/>
        </p:nvSpPr>
        <p:spPr>
          <a:xfrm>
            <a:off x="822960" y="2103120"/>
            <a:ext cx="5120640" cy="640080"/>
          </a:xfrm>
          <a:prstGeom prst="rect">
            <a:avLst/>
          </a:prstGeom>
          <a:noFill/>
          <a:ln/>
        </p:spPr>
        <p:txBody>
          <a:bodyPr wrap="square" lIns="0" tIns="0" rIns="0" bIns="0" rtlCol="0" anchor="t"/>
          <a:lstStyle/>
          <a:p>
            <a:pPr algn="l" indent="0" marL="0">
              <a:buNone/>
            </a:pPr>
            <a:r>
              <a:rPr lang="en-US" sz="1600" dirty="0">
                <a:solidFill>
                  <a:schemeClr val="tx1"/>
                </a:solidFill>
                <a:latin typeface="Courier New" pitchFamily="34" charset="0"/>
                <a:ea typeface="Courier New" pitchFamily="34" charset="-122"/>
                <a:cs typeface="Courier New" pitchFamily="34" charset="-120"/>
              </a:rPr>
              <a:t>gas gas gas gas gas gas gas gas gas</a:t>
            </a:r>
            <a:endParaRPr lang="en-US" sz="1600" dirty="0"/>
          </a:p>
        </p:txBody>
      </p:sp>
      <p:sp>
        <p:nvSpPr>
          <p:cNvPr id="7" name="Real email"/>
          <p:cNvSpPr/>
          <p:nvPr/>
        </p:nvSpPr>
        <p:spPr>
          <a:xfrm>
            <a:off x="548640" y="3200400"/>
            <a:ext cx="5669280" cy="2377440"/>
          </a:xfrm>
          <a:prstGeom prst="roundRect">
            <a:avLst>
              <a:gd name="adj" fmla="val 3077"/>
            </a:avLst>
          </a:prstGeom>
          <a:solidFill>
            <a:schemeClr val="bg2"/>
          </a:solidFill>
          <a:ln/>
        </p:spPr>
      </p:sp>
      <p:sp>
        <p:nvSpPr>
          <p:cNvPr id="8" name="Text 6"/>
          <p:cNvSpPr txBox="1"/>
          <p:nvPr/>
        </p:nvSpPr>
        <p:spPr>
          <a:xfrm>
            <a:off x="822960" y="3355848"/>
            <a:ext cx="5029200"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REAL · “PIPELINE SHUTDOWN”</a:t>
            </a:r>
            <a:endParaRPr lang="en-US" sz="1100" dirty="0"/>
          </a:p>
        </p:txBody>
      </p:sp>
      <p:sp>
        <p:nvSpPr>
          <p:cNvPr id="9" name="Text 7"/>
          <p:cNvSpPr txBox="1"/>
          <p:nvPr/>
        </p:nvSpPr>
        <p:spPr>
          <a:xfrm>
            <a:off x="822960" y="3703320"/>
            <a:ext cx="5120640" cy="1737360"/>
          </a:xfrm>
          <a:prstGeom prst="rect">
            <a:avLst/>
          </a:prstGeom>
          <a:noFill/>
          <a:ln/>
        </p:spPr>
        <p:txBody>
          <a:bodyPr wrap="square" lIns="0" tIns="0" rIns="0" bIns="0" rtlCol="0" anchor="t"/>
          <a:lstStyle/>
          <a:p>
            <a:pPr algn="l" indent="0" marL="0">
              <a:buNone/>
            </a:pPr>
            <a:r>
              <a:rPr lang="en-US" sz="1500" dirty="0">
                <a:solidFill>
                  <a:schemeClr val="tx1"/>
                </a:solidFill>
              </a:rPr>
              <a:t>Team, the gas pipeline from Houston to Dallas will be shut down this Friday for scheduled maintenance. Customers should expect delays in deliveries…</a:t>
            </a:r>
            <a:endParaRPr lang="en-US" sz="1500" dirty="0"/>
          </a:p>
        </p:txBody>
      </p:sp>
      <p:sp>
        <p:nvSpPr>
          <p:cNvPr id="10" name="TF-IDF result"/>
          <p:cNvSpPr/>
          <p:nvPr/>
        </p:nvSpPr>
        <p:spPr>
          <a:xfrm>
            <a:off x="6583680" y="1600200"/>
            <a:ext cx="5059375" cy="1828800"/>
          </a:xfrm>
          <a:prstGeom prst="roundRect">
            <a:avLst>
              <a:gd name="adj" fmla="val 4000"/>
            </a:avLst>
          </a:prstGeom>
          <a:solidFill>
            <a:srgbClr val="E3ECF6"/>
          </a:solidFill>
          <a:ln/>
        </p:spPr>
      </p:sp>
      <p:sp>
        <p:nvSpPr>
          <p:cNvPr id="11" name="Text 9"/>
          <p:cNvSpPr txBox="1"/>
          <p:nvPr/>
        </p:nvSpPr>
        <p:spPr>
          <a:xfrm>
            <a:off x="6858000" y="1755648"/>
            <a:ext cx="2743200" cy="365760"/>
          </a:xfrm>
          <a:prstGeom prst="rect">
            <a:avLst/>
          </a:prstGeom>
          <a:noFill/>
          <a:ln/>
        </p:spPr>
        <p:txBody>
          <a:bodyPr wrap="square" lIns="0" tIns="0" rIns="0" bIns="0" rtlCol="0" anchor="t"/>
          <a:lstStyle/>
          <a:p>
            <a:pPr algn="l" indent="0" marL="0">
              <a:buNone/>
            </a:pPr>
            <a:r>
              <a:rPr lang="en-US" sz="1800" b="1" dirty="0">
                <a:solidFill>
                  <a:schemeClr val="accent2"/>
                </a:solidFill>
              </a:rPr>
              <a:t>TF-IDF</a:t>
            </a:r>
            <a:endParaRPr lang="en-US" sz="1800" dirty="0"/>
          </a:p>
        </p:txBody>
      </p:sp>
      <p:sp>
        <p:nvSpPr>
          <p:cNvPr id="12" name="Text 10"/>
          <p:cNvSpPr txBox="1"/>
          <p:nvPr/>
        </p:nvSpPr>
        <p:spPr>
          <a:xfrm>
            <a:off x="6858000" y="2194560"/>
            <a:ext cx="4510735" cy="1097280"/>
          </a:xfrm>
          <a:prstGeom prst="rect">
            <a:avLst/>
          </a:prstGeom>
          <a:noFill/>
          <a:ln/>
        </p:spPr>
        <p:txBody>
          <a:bodyPr wrap="square" lIns="0" tIns="0" rIns="0" bIns="0" rtlCol="0" anchor="t"/>
          <a:lstStyle/>
          <a:p>
            <a:pPr algn="l" indent="0" marL="0">
              <a:spcAft>
                <a:spcPts val="800"/>
              </a:spcAft>
              <a:buNone/>
            </a:pPr>
            <a:r>
              <a:rPr lang="en-US" sz="1600" b="1" dirty="0">
                <a:solidFill>
                  <a:schemeClr val="accent4"/>
                </a:solidFill>
              </a:rPr>
              <a:t>1. Re: gas   0.556  ← junk wins</a:t>
            </a:r>
            <a:endParaRPr lang="en-US" sz="1600" dirty="0"/>
          </a:p>
          <a:p>
            <a:pPr algn="l" indent="0" marL="0">
              <a:spcAft>
                <a:spcPts val="800"/>
              </a:spcAft>
              <a:buNone/>
            </a:pPr>
            <a:r>
              <a:rPr lang="en-US" sz="1600" dirty="0">
                <a:solidFill>
                  <a:schemeClr val="tx1"/>
                </a:solidFill>
              </a:rPr>
              <a:t>2. Pipeline shutdown   0.365</a:t>
            </a:r>
            <a:endParaRPr lang="en-US" sz="1600" dirty="0"/>
          </a:p>
        </p:txBody>
      </p:sp>
      <p:sp>
        <p:nvSpPr>
          <p:cNvPr id="13" name="BM25 result"/>
          <p:cNvSpPr/>
          <p:nvPr/>
        </p:nvSpPr>
        <p:spPr>
          <a:xfrm>
            <a:off x="6583680" y="3657600"/>
            <a:ext cx="5059375" cy="1920240"/>
          </a:xfrm>
          <a:prstGeom prst="roundRect">
            <a:avLst>
              <a:gd name="adj" fmla="val 3810"/>
            </a:avLst>
          </a:prstGeom>
          <a:solidFill>
            <a:srgbClr val="FBE9DC"/>
          </a:solidFill>
          <a:ln/>
        </p:spPr>
      </p:sp>
      <p:sp>
        <p:nvSpPr>
          <p:cNvPr id="14" name="Text 12"/>
          <p:cNvSpPr txBox="1"/>
          <p:nvPr/>
        </p:nvSpPr>
        <p:spPr>
          <a:xfrm>
            <a:off x="6858000" y="3813048"/>
            <a:ext cx="2743200" cy="365760"/>
          </a:xfrm>
          <a:prstGeom prst="rect">
            <a:avLst/>
          </a:prstGeom>
          <a:noFill/>
          <a:ln/>
        </p:spPr>
        <p:txBody>
          <a:bodyPr wrap="square" lIns="0" tIns="0" rIns="0" bIns="0" rtlCol="0" anchor="t"/>
          <a:lstStyle/>
          <a:p>
            <a:pPr algn="l" indent="0" marL="0">
              <a:buNone/>
            </a:pPr>
            <a:r>
              <a:rPr lang="en-US" sz="1800" b="1" dirty="0">
                <a:solidFill>
                  <a:schemeClr val="accent1"/>
                </a:solidFill>
              </a:rPr>
              <a:t>BM25</a:t>
            </a:r>
            <a:endParaRPr lang="en-US" sz="1800" dirty="0"/>
          </a:p>
        </p:txBody>
      </p:sp>
      <p:sp>
        <p:nvSpPr>
          <p:cNvPr id="15" name="Text 13"/>
          <p:cNvSpPr txBox="1"/>
          <p:nvPr/>
        </p:nvSpPr>
        <p:spPr>
          <a:xfrm>
            <a:off x="6858000" y="4251960"/>
            <a:ext cx="4510735" cy="1097280"/>
          </a:xfrm>
          <a:prstGeom prst="rect">
            <a:avLst/>
          </a:prstGeom>
          <a:noFill/>
          <a:ln/>
        </p:spPr>
        <p:txBody>
          <a:bodyPr wrap="square" lIns="0" tIns="0" rIns="0" bIns="0" rtlCol="0" anchor="t"/>
          <a:lstStyle/>
          <a:p>
            <a:pPr algn="l" indent="0" marL="0">
              <a:spcAft>
                <a:spcPts val="800"/>
              </a:spcAft>
              <a:buNone/>
            </a:pPr>
            <a:r>
              <a:rPr lang="en-US" sz="1600" b="1" dirty="0">
                <a:solidFill>
                  <a:schemeClr val="accent3"/>
                </a:solidFill>
              </a:rPr>
              <a:t>1. Pipeline shutdown   1.593  ← correct</a:t>
            </a:r>
            <a:endParaRPr lang="en-US" sz="1600" dirty="0"/>
          </a:p>
          <a:p>
            <a:pPr algn="l" indent="0" marL="0">
              <a:spcAft>
                <a:spcPts val="800"/>
              </a:spcAft>
              <a:buNone/>
            </a:pPr>
            <a:r>
              <a:rPr lang="en-US" sz="1600" dirty="0">
                <a:solidFill>
                  <a:schemeClr val="tx1"/>
                </a:solidFill>
              </a:rPr>
              <a:t>2. Re: gas   1.184</a:t>
            </a:r>
            <a:endParaRPr lang="en-US" sz="1600" dirty="0"/>
          </a:p>
        </p:txBody>
      </p:sp>
      <p:sp>
        <p:nvSpPr>
          <p:cNvPr id="16" name="Text 14"/>
          <p:cNvSpPr txBox="1"/>
          <p:nvPr/>
        </p:nvSpPr>
        <p:spPr>
          <a:xfrm>
            <a:off x="548640" y="580644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The real email matches both words but is longer. TF-IDF’s length penalty buries it; BM25’s saturation and gentle length penalty don’t.</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lIns="0" tIns="0" rIns="0" bIns="0" rtlCol="0"/>
          <a:lstStyle/>
          <a:p>
            <a:pPr indent="0" marL="0">
              <a:buNone/>
            </a:pPr>
            <a:r>
              <a:rPr lang="en-US" sz="6000" b="1" dirty="0">
                <a:solidFill>
                  <a:schemeClr val="accent1"/>
                </a:solidFill>
              </a:rPr>
              <a:t>03</a:t>
            </a: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lIns="0" tIns="0" rIns="0" bIns="0" rtlCol="0"/>
          <a:lstStyle/>
          <a:p>
            <a:pPr algn="l" indent="0" marL="0">
              <a:buNone/>
            </a:pPr>
            <a:r>
              <a:rPr lang="en-US" sz="4400" b="1" dirty="0">
                <a:solidFill>
                  <a:schemeClr val="bg1"/>
                </a:solidFill>
              </a:rPr>
              <a:t>Benchmarks</a:t>
            </a: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lIns="0" tIns="0" rIns="0" bIns="0" rtlCol="0" anchor="t"/>
          <a:lstStyle/>
          <a:p>
            <a:pPr indent="0" marL="0">
              <a:buNone/>
            </a:pPr>
            <a:r>
              <a:rPr lang="en-US" sz="2000" dirty="0">
                <a:solidFill>
                  <a:schemeClr val="accent5"/>
                </a:solidFill>
              </a:rPr>
              <a:t>Measured on human-labelled queries, then compared with the published state of the art</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BENCHMARK SETUP</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we measured ranking quality</a:t>
            </a:r>
            <a:endParaRPr lang="en-US" sz="3200" dirty="0"/>
          </a:p>
        </p:txBody>
      </p:sp>
      <p:sp>
        <p:nvSpPr>
          <p:cNvPr id="4" name="Why Cranfield"/>
          <p:cNvSpPr/>
          <p:nvPr/>
        </p:nvSpPr>
        <p:spPr>
          <a:xfrm>
            <a:off x="548640" y="1554480"/>
            <a:ext cx="11094415" cy="777240"/>
          </a:xfrm>
          <a:prstGeom prst="roundRect">
            <a:avLst>
              <a:gd name="adj" fmla="val 9412"/>
            </a:avLst>
          </a:prstGeom>
          <a:solidFill>
            <a:srgbClr val="E3ECF6"/>
          </a:solidFill>
          <a:ln/>
        </p:spPr>
      </p:sp>
      <p:sp>
        <p:nvSpPr>
          <p:cNvPr id="5" name="Text 3"/>
          <p:cNvSpPr txBox="1"/>
          <p:nvPr/>
        </p:nvSpPr>
        <p:spPr>
          <a:xfrm>
            <a:off x="822960" y="1554480"/>
            <a:ext cx="10545775" cy="777240"/>
          </a:xfrm>
          <a:prstGeom prst="rect">
            <a:avLst/>
          </a:prstGeom>
          <a:noFill/>
          <a:ln/>
        </p:spPr>
        <p:txBody>
          <a:bodyPr wrap="square" lIns="0" tIns="0" rIns="0" bIns="0" rtlCol="0" anchor="ctr"/>
          <a:lstStyle/>
          <a:p>
            <a:pPr algn="l" indent="0" marL="0">
              <a:buNone/>
            </a:pPr>
            <a:r>
              <a:rPr lang="en-US" sz="1500" b="1" dirty="0">
                <a:solidFill>
                  <a:schemeClr val="tx1"/>
                </a:solidFill>
              </a:rPr>
              <a:t>Enron has no relevance labels, </a:t>
            </a:r>
            <a:pPr algn="l" indent="0" marL="0">
              <a:buNone/>
            </a:pPr>
            <a:r>
              <a:rPr lang="en-US" sz="1500" dirty="0">
                <a:solidFill>
                  <a:schemeClr val="tx1"/>
                </a:solidFill>
              </a:rPr>
              <a:t>so nobody has marked which emails answer which query. To measure quality we ran the project’s code on Cranfield, the classic IR test collection with human judgements.</a:t>
            </a:r>
            <a:endParaRPr lang="en-US" sz="1500" dirty="0"/>
          </a:p>
        </p:txBody>
      </p:sp>
      <p:sp>
        <p:nvSpPr>
          <p:cNvPr id="6" name="Setup card"/>
          <p:cNvSpPr/>
          <p:nvPr/>
        </p:nvSpPr>
        <p:spPr>
          <a:xfrm>
            <a:off x="548640" y="2560320"/>
            <a:ext cx="3515258" cy="3246120"/>
          </a:xfrm>
          <a:prstGeom prst="roundRect">
            <a:avLst>
              <a:gd name="adj" fmla="val 2254"/>
            </a:avLst>
          </a:prstGeom>
          <a:solidFill>
            <a:schemeClr val="bg2"/>
          </a:solidFill>
          <a:ln/>
        </p:spPr>
      </p:sp>
      <p:sp>
        <p:nvSpPr>
          <p:cNvPr id="7" name="Icon circle"/>
          <p:cNvSpPr/>
          <p:nvPr/>
        </p:nvSpPr>
        <p:spPr>
          <a:xfrm>
            <a:off x="822960" y="2743200"/>
            <a:ext cx="594360" cy="594360"/>
          </a:xfrm>
          <a:prstGeom prst="ellipse">
            <a:avLst/>
          </a:prstGeom>
          <a:solidFill>
            <a:schemeClr val="tx1"/>
          </a:solidFill>
          <a:ln/>
        </p:spPr>
      </p:sp>
      <p:pic>
        <p:nvPicPr>
          <p:cNvPr id="8" name="Image 0" descr="icon">    </p:cNvPr>
          <p:cNvPicPr>
            <a:picLocks noChangeAspect="1"/>
          </p:cNvPicPr>
          <p:nvPr/>
        </p:nvPicPr>
        <p:blipFill>
          <a:blip r:embed="rId1"/>
          <a:stretch>
            <a:fillRect/>
          </a:stretch>
        </p:blipFill>
        <p:spPr>
          <a:xfrm>
            <a:off x="971550" y="2891790"/>
            <a:ext cx="297180" cy="297180"/>
          </a:xfrm>
          <a:prstGeom prst="rect">
            <a:avLst/>
          </a:prstGeom>
        </p:spPr>
      </p:pic>
      <p:sp>
        <p:nvSpPr>
          <p:cNvPr id="9" name="Text 6"/>
          <p:cNvSpPr txBox="1"/>
          <p:nvPr/>
        </p:nvSpPr>
        <p:spPr>
          <a:xfrm>
            <a:off x="1554480" y="2834640"/>
            <a:ext cx="2326538" cy="411480"/>
          </a:xfrm>
          <a:prstGeom prst="rect">
            <a:avLst/>
          </a:prstGeom>
          <a:noFill/>
          <a:ln/>
        </p:spPr>
        <p:txBody>
          <a:bodyPr wrap="square" lIns="0" tIns="0" rIns="0" bIns="0" rtlCol="0" anchor="t"/>
          <a:lstStyle/>
          <a:p>
            <a:pPr algn="l" indent="0" marL="0">
              <a:buNone/>
            </a:pPr>
            <a:r>
              <a:rPr lang="en-US" sz="1700" b="1" dirty="0">
                <a:solidFill>
                  <a:schemeClr val="tx1"/>
                </a:solidFill>
              </a:rPr>
              <a:t>Data · Cranfield</a:t>
            </a:r>
            <a:endParaRPr lang="en-US" sz="1700" dirty="0"/>
          </a:p>
        </p:txBody>
      </p:sp>
      <p:sp>
        <p:nvSpPr>
          <p:cNvPr id="10" name="Text 7"/>
          <p:cNvSpPr txBox="1"/>
          <p:nvPr/>
        </p:nvSpPr>
        <p:spPr>
          <a:xfrm>
            <a:off x="822960" y="3520440"/>
            <a:ext cx="305805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1,400 aeronautics abstracts</a:t>
            </a:r>
            <a:endParaRPr lang="en-US" sz="1400" dirty="0"/>
          </a:p>
          <a:p>
            <a:pPr marL="342900" indent="-342900">
              <a:spcAft>
                <a:spcPts val="600"/>
              </a:spcAft>
              <a:buSzPct val="100000"/>
              <a:buChar char="•"/>
            </a:pPr>
            <a:r>
              <a:rPr lang="en-US" sz="1400" dirty="0">
                <a:solidFill>
                  <a:schemeClr val="tx1"/>
                </a:solidFill>
              </a:rPr>
              <a:t>225 natural-language queries</a:t>
            </a:r>
            <a:endParaRPr lang="en-US" sz="1400" dirty="0"/>
          </a:p>
          <a:p>
            <a:pPr marL="342900" indent="-342900">
              <a:spcAft>
                <a:spcPts val="600"/>
              </a:spcAft>
              <a:buSzPct val="100000"/>
              <a:buChar char="•"/>
            </a:pPr>
            <a:r>
              <a:rPr lang="en-US" sz="1400" dirty="0">
                <a:solidFill>
                  <a:schemeClr val="tx1"/>
                </a:solidFill>
              </a:rPr>
              <a:t>1,612 human relevance judgements</a:t>
            </a:r>
            <a:endParaRPr lang="en-US" sz="1400" dirty="0"/>
          </a:p>
          <a:p>
            <a:pPr marL="342900" indent="-342900">
              <a:spcAft>
                <a:spcPts val="600"/>
              </a:spcAft>
              <a:buSzPct val="100000"/>
              <a:buChar char="•"/>
            </a:pPr>
            <a:r>
              <a:rPr lang="en-US" sz="1400" dirty="0">
                <a:solidFill>
                  <a:schemeClr val="tx1"/>
                </a:solidFill>
              </a:rPr>
              <a:t>Average 88 words per document</a:t>
            </a:r>
            <a:endParaRPr lang="en-US" sz="1400" dirty="0"/>
          </a:p>
        </p:txBody>
      </p:sp>
      <p:sp>
        <p:nvSpPr>
          <p:cNvPr id="11" name="Setup card"/>
          <p:cNvSpPr/>
          <p:nvPr/>
        </p:nvSpPr>
        <p:spPr>
          <a:xfrm>
            <a:off x="4338218" y="2560320"/>
            <a:ext cx="3515258" cy="3246120"/>
          </a:xfrm>
          <a:prstGeom prst="roundRect">
            <a:avLst>
              <a:gd name="adj" fmla="val 2254"/>
            </a:avLst>
          </a:prstGeom>
          <a:solidFill>
            <a:schemeClr val="bg2"/>
          </a:solidFill>
          <a:ln/>
        </p:spPr>
      </p:sp>
      <p:sp>
        <p:nvSpPr>
          <p:cNvPr id="12" name="Icon circle"/>
          <p:cNvSpPr/>
          <p:nvPr/>
        </p:nvSpPr>
        <p:spPr>
          <a:xfrm>
            <a:off x="4612538" y="2743200"/>
            <a:ext cx="594360" cy="594360"/>
          </a:xfrm>
          <a:prstGeom prst="ellipse">
            <a:avLst/>
          </a:prstGeom>
          <a:solidFill>
            <a:schemeClr val="accent1"/>
          </a:solidFill>
          <a:ln/>
        </p:spPr>
      </p:sp>
      <p:pic>
        <p:nvPicPr>
          <p:cNvPr id="13" name="Image 1" descr="icon">    </p:cNvPr>
          <p:cNvPicPr>
            <a:picLocks noChangeAspect="1"/>
          </p:cNvPicPr>
          <p:nvPr/>
        </p:nvPicPr>
        <p:blipFill>
          <a:blip r:embed="rId2"/>
          <a:stretch>
            <a:fillRect/>
          </a:stretch>
        </p:blipFill>
        <p:spPr>
          <a:xfrm>
            <a:off x="4761128" y="2891790"/>
            <a:ext cx="297180" cy="297180"/>
          </a:xfrm>
          <a:prstGeom prst="rect">
            <a:avLst/>
          </a:prstGeom>
        </p:spPr>
      </p:pic>
      <p:sp>
        <p:nvSpPr>
          <p:cNvPr id="14" name="Text 10"/>
          <p:cNvSpPr txBox="1"/>
          <p:nvPr/>
        </p:nvSpPr>
        <p:spPr>
          <a:xfrm>
            <a:off x="5344058" y="2834640"/>
            <a:ext cx="2326538" cy="411480"/>
          </a:xfrm>
          <a:prstGeom prst="rect">
            <a:avLst/>
          </a:prstGeom>
          <a:noFill/>
          <a:ln/>
        </p:spPr>
        <p:txBody>
          <a:bodyPr wrap="square" lIns="0" tIns="0" rIns="0" bIns="0" rtlCol="0" anchor="t"/>
          <a:lstStyle/>
          <a:p>
            <a:pPr algn="l" indent="0" marL="0">
              <a:buNone/>
            </a:pPr>
            <a:r>
              <a:rPr lang="en-US" sz="1700" b="1" dirty="0">
                <a:solidFill>
                  <a:schemeClr val="tx1"/>
                </a:solidFill>
              </a:rPr>
              <a:t>Systems · 9 rankers</a:t>
            </a:r>
            <a:endParaRPr lang="en-US" sz="1700" dirty="0"/>
          </a:p>
        </p:txBody>
      </p:sp>
      <p:sp>
        <p:nvSpPr>
          <p:cNvPr id="15" name="Text 11"/>
          <p:cNvSpPr txBox="1"/>
          <p:nvPr/>
        </p:nvSpPr>
        <p:spPr>
          <a:xfrm>
            <a:off x="4612538" y="3520440"/>
            <a:ext cx="305805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Project’s own search_tfidf() and search_bm25(), unchanged</a:t>
            </a:r>
            <a:endParaRPr lang="en-US" sz="1400" dirty="0"/>
          </a:p>
          <a:p>
            <a:pPr marL="342900" indent="-342900">
              <a:spcAft>
                <a:spcPts val="600"/>
              </a:spcAft>
              <a:buSzPct val="100000"/>
              <a:buChar char="•"/>
            </a:pPr>
            <a:r>
              <a:rPr lang="en-US" sz="1400" dirty="0">
                <a:solidFill>
                  <a:schemeClr val="tx1"/>
                </a:solidFill>
              </a:rPr>
              <a:t>Boolean AND / OR, raw TF</a:t>
            </a:r>
            <a:endParaRPr lang="en-US" sz="1400" dirty="0"/>
          </a:p>
          <a:p>
            <a:pPr marL="342900" indent="-342900">
              <a:spcAft>
                <a:spcPts val="600"/>
              </a:spcAft>
              <a:buSzPct val="100000"/>
              <a:buChar char="•"/>
            </a:pPr>
            <a:r>
              <a:rPr lang="en-US" sz="1400" dirty="0">
                <a:solidFill>
                  <a:schemeClr val="tx1"/>
                </a:solidFill>
              </a:rPr>
              <a:t>BM25L, BM25+, query likelihood (Dirichlet μ=1000)</a:t>
            </a:r>
            <a:endParaRPr lang="en-US" sz="1400" dirty="0"/>
          </a:p>
          <a:p>
            <a:pPr marL="342900" indent="-342900">
              <a:spcAft>
                <a:spcPts val="600"/>
              </a:spcAft>
              <a:buSzPct val="100000"/>
              <a:buChar char="•"/>
            </a:pPr>
            <a:r>
              <a:rPr lang="en-US" sz="1400" dirty="0">
                <a:solidFill>
                  <a:schemeClr val="tx1"/>
                </a:solidFill>
              </a:rPr>
              <a:t>LSA (200-dim SVD)</a:t>
            </a:r>
            <a:endParaRPr lang="en-US" sz="1400" dirty="0"/>
          </a:p>
        </p:txBody>
      </p:sp>
      <p:sp>
        <p:nvSpPr>
          <p:cNvPr id="16" name="Setup card"/>
          <p:cNvSpPr/>
          <p:nvPr/>
        </p:nvSpPr>
        <p:spPr>
          <a:xfrm>
            <a:off x="8127797" y="2560320"/>
            <a:ext cx="3515258" cy="3246120"/>
          </a:xfrm>
          <a:prstGeom prst="roundRect">
            <a:avLst>
              <a:gd name="adj" fmla="val 2254"/>
            </a:avLst>
          </a:prstGeom>
          <a:solidFill>
            <a:schemeClr val="bg2"/>
          </a:solidFill>
          <a:ln/>
        </p:spPr>
      </p:sp>
      <p:sp>
        <p:nvSpPr>
          <p:cNvPr id="17" name="Icon circle"/>
          <p:cNvSpPr/>
          <p:nvPr/>
        </p:nvSpPr>
        <p:spPr>
          <a:xfrm>
            <a:off x="8402117" y="2743200"/>
            <a:ext cx="594360" cy="594360"/>
          </a:xfrm>
          <a:prstGeom prst="ellipse">
            <a:avLst/>
          </a:prstGeom>
          <a:solidFill>
            <a:schemeClr val="tx1"/>
          </a:solidFill>
          <a:ln/>
        </p:spPr>
      </p:sp>
      <p:pic>
        <p:nvPicPr>
          <p:cNvPr id="18" name="Image 2" descr="icon">    </p:cNvPr>
          <p:cNvPicPr>
            <a:picLocks noChangeAspect="1"/>
          </p:cNvPicPr>
          <p:nvPr/>
        </p:nvPicPr>
        <p:blipFill>
          <a:blip r:embed="rId3"/>
          <a:stretch>
            <a:fillRect/>
          </a:stretch>
        </p:blipFill>
        <p:spPr>
          <a:xfrm>
            <a:off x="8550707" y="2891790"/>
            <a:ext cx="297180" cy="297180"/>
          </a:xfrm>
          <a:prstGeom prst="rect">
            <a:avLst/>
          </a:prstGeom>
        </p:spPr>
      </p:pic>
      <p:sp>
        <p:nvSpPr>
          <p:cNvPr id="19" name="Text 14"/>
          <p:cNvSpPr txBox="1"/>
          <p:nvPr/>
        </p:nvSpPr>
        <p:spPr>
          <a:xfrm>
            <a:off x="9133637" y="2834640"/>
            <a:ext cx="2326538" cy="411480"/>
          </a:xfrm>
          <a:prstGeom prst="rect">
            <a:avLst/>
          </a:prstGeom>
          <a:noFill/>
          <a:ln/>
        </p:spPr>
        <p:txBody>
          <a:bodyPr wrap="square" lIns="0" tIns="0" rIns="0" bIns="0" rtlCol="0" anchor="t"/>
          <a:lstStyle/>
          <a:p>
            <a:pPr algn="l" indent="0" marL="0">
              <a:buNone/>
            </a:pPr>
            <a:r>
              <a:rPr lang="en-US" sz="1700" b="1" dirty="0">
                <a:solidFill>
                  <a:schemeClr val="tx1"/>
                </a:solidFill>
              </a:rPr>
              <a:t>Metrics</a:t>
            </a:r>
            <a:endParaRPr lang="en-US" sz="1700" dirty="0"/>
          </a:p>
        </p:txBody>
      </p:sp>
      <p:sp>
        <p:nvSpPr>
          <p:cNvPr id="20" name="Text 15"/>
          <p:cNvSpPr txBox="1"/>
          <p:nvPr/>
        </p:nvSpPr>
        <p:spPr>
          <a:xfrm>
            <a:off x="8402117" y="3520440"/>
            <a:ext cx="305805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nDCG@10: are the best hits at the top?</a:t>
            </a:r>
            <a:endParaRPr lang="en-US" sz="1400" dirty="0"/>
          </a:p>
          <a:p>
            <a:pPr marL="342900" indent="-342900">
              <a:spcAft>
                <a:spcPts val="600"/>
              </a:spcAft>
              <a:buSzPct val="100000"/>
              <a:buChar char="•"/>
            </a:pPr>
            <a:r>
              <a:rPr lang="en-US" sz="1400" dirty="0">
                <a:solidFill>
                  <a:schemeClr val="tx1"/>
                </a:solidFill>
              </a:rPr>
              <a:t>P@10: share of top 10 that is relevant</a:t>
            </a:r>
            <a:endParaRPr lang="en-US" sz="1400" dirty="0"/>
          </a:p>
          <a:p>
            <a:pPr marL="342900" indent="-342900">
              <a:spcAft>
                <a:spcPts val="600"/>
              </a:spcAft>
              <a:buSzPct val="100000"/>
              <a:buChar char="•"/>
            </a:pPr>
            <a:r>
              <a:rPr lang="en-US" sz="1400" dirty="0">
                <a:solidFill>
                  <a:schemeClr val="tx1"/>
                </a:solidFill>
              </a:rPr>
              <a:t>MAP: precision over the whole ranking</a:t>
            </a:r>
            <a:endParaRPr lang="en-US" sz="1400" dirty="0"/>
          </a:p>
          <a:p>
            <a:pPr marL="342900" indent="-342900">
              <a:spcAft>
                <a:spcPts val="600"/>
              </a:spcAft>
              <a:buSzPct val="100000"/>
              <a:buChar char="•"/>
            </a:pPr>
            <a:r>
              <a:rPr lang="en-US" sz="1400" dirty="0">
                <a:solidFill>
                  <a:schemeClr val="tx1"/>
                </a:solidFill>
              </a:rPr>
              <a:t>MRR@10: how high is the first good hit?</a:t>
            </a:r>
            <a:endParaRPr lang="en-US" sz="1400" dirty="0"/>
          </a:p>
        </p:txBody>
      </p:sp>
      <p:sp>
        <p:nvSpPr>
          <p:cNvPr id="21" name="Text 16"/>
          <p:cNvSpPr txBox="1"/>
          <p:nvPr/>
        </p:nvSpPr>
        <p:spPr>
          <a:xfrm>
            <a:off x="548640" y="589788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Script: benchmark/run_cranfield.py (added to the project). Cranfield in TREC format from github.com/oussbenk/cranfield-trec-dataset.</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OUR BENCHMARK · CRANFIELD, 225 QUERIES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BM25 is the best keyword ranker on labelled data</a:t>
            </a:r>
            <a:endParaRPr lang="en-US" sz="3200" dirty="0"/>
          </a:p>
        </p:txBody>
      </p:sp>
      <p:graphicFrame>
        <p:nvGraphicFramePr>
          <p:cNvPr id="4" name="Chart 0" descr=""/>
          <p:cNvGraphicFramePr/>
          <p:nvPr/>
        </p:nvGraphicFramePr>
        <p:xfrm>
          <a:off x="548640" y="1508760"/>
          <a:ext cx="6858000" cy="4572000"/>
        </p:xfrm>
        <a:graphic xmlns:a="http://schemas.openxmlformats.org/drawingml/2006/main">
          <a:graphicData uri="http://schemas.openxmlformats.org/drawingml/2006/chart">
            <c:chart xmlns:c="http://schemas.openxmlformats.org/drawingml/2006/chart" r:id="rId1"/>
          </a:graphicData>
        </a:graphic>
      </p:graphicFrame>
      <p:sp>
        <p:nvSpPr>
          <p:cNvPr id="5" name="Commentary"/>
          <p:cNvSpPr/>
          <p:nvPr/>
        </p:nvSpPr>
        <p:spPr>
          <a:xfrm>
            <a:off x="7680960" y="1600200"/>
            <a:ext cx="3959352" cy="4434840"/>
          </a:xfrm>
          <a:prstGeom prst="roundRect">
            <a:avLst>
              <a:gd name="adj" fmla="val 1848"/>
            </a:avLst>
          </a:prstGeom>
          <a:solidFill>
            <a:schemeClr val="bg2"/>
          </a:solidFill>
          <a:ln/>
        </p:spPr>
      </p:sp>
      <p:sp>
        <p:nvSpPr>
          <p:cNvPr id="6" name="Text 3"/>
          <p:cNvSpPr txBox="1"/>
          <p:nvPr/>
        </p:nvSpPr>
        <p:spPr>
          <a:xfrm>
            <a:off x="7909560" y="1783080"/>
            <a:ext cx="3520440" cy="4114800"/>
          </a:xfrm>
          <a:prstGeom prst="rect">
            <a:avLst/>
          </a:prstGeom>
          <a:noFill/>
          <a:ln/>
        </p:spPr>
        <p:txBody>
          <a:bodyPr wrap="square" lIns="0" tIns="0" rIns="0" bIns="0" rtlCol="0" anchor="t"/>
          <a:lstStyle/>
          <a:p>
            <a:pPr indent="0" marL="0">
              <a:buNone/>
            </a:pPr>
            <a:r>
              <a:rPr lang="en-US" sz="1500" b="1" dirty="0">
                <a:solidFill>
                  <a:schemeClr val="tx1"/>
                </a:solidFill>
              </a:rPr>
              <a:t>BM25 0.363 &gt; TF-IDF 0.349</a:t>
            </a:r>
            <a:endParaRPr lang="en-US" sz="1500" dirty="0"/>
          </a:p>
          <a:p>
            <a:pPr indent="0" marL="0">
              <a:spcAft>
                <a:spcPts val="1200"/>
              </a:spcAft>
              <a:buNone/>
            </a:pPr>
            <a:r>
              <a:rPr lang="en-US" sz="1400" dirty="0">
                <a:solidFill>
                  <a:schemeClr val="tx2"/>
                </a:solidFill>
              </a:rPr>
              <a:t>+4.1% with the project’s own code, and ahead of query likelihood (0.317).</a:t>
            </a:r>
            <a:endParaRPr lang="en-US" sz="1500" dirty="0"/>
          </a:p>
          <a:p>
            <a:pPr indent="0" marL="0">
              <a:buNone/>
            </a:pPr>
            <a:r>
              <a:rPr lang="en-US" sz="1500" b="1" dirty="0">
                <a:solidFill>
                  <a:schemeClr val="tx1"/>
                </a:solidFill>
              </a:rPr>
              <a:t>LSA edges ahead (0.373)</a:t>
            </a:r>
            <a:endParaRPr lang="en-US" sz="1500" dirty="0"/>
          </a:p>
          <a:p>
            <a:pPr indent="0" marL="0">
              <a:spcAft>
                <a:spcPts val="1200"/>
              </a:spcAft>
              <a:buNone/>
            </a:pPr>
            <a:r>
              <a:rPr lang="en-US" sz="1400" dirty="0">
                <a:solidFill>
                  <a:schemeClr val="tx2"/>
                </a:solidFill>
              </a:rPr>
              <a:t>on this tiny, jargon-heavy set. On Enron it would need an SVD of a 251k × 631k matrix.</a:t>
            </a:r>
            <a:endParaRPr lang="en-US" sz="1500" dirty="0"/>
          </a:p>
          <a:p>
            <a:pPr indent="0" marL="0">
              <a:buNone/>
            </a:pPr>
            <a:r>
              <a:rPr lang="en-US" sz="1500" b="1" dirty="0">
                <a:solidFill>
                  <a:schemeClr val="tx1"/>
                </a:solidFill>
              </a:rPr>
              <a:t>Boolean ≈ 0</a:t>
            </a:r>
            <a:endParaRPr lang="en-US" sz="1500" dirty="0"/>
          </a:p>
          <a:p>
            <a:pPr indent="0" marL="0">
              <a:spcAft>
                <a:spcPts val="1200"/>
              </a:spcAft>
              <a:buNone/>
            </a:pPr>
            <a:r>
              <a:rPr lang="en-US" sz="1400" dirty="0">
                <a:solidFill>
                  <a:schemeClr val="tx2"/>
                </a:solidFill>
              </a:rPr>
              <a:t>Long queries rarely match every word (AND), and OR gives no order.</a:t>
            </a:r>
            <a:endParaRPr lang="en-US" sz="1500" dirty="0"/>
          </a:p>
          <a:p>
            <a:pPr indent="0" marL="0">
              <a:buNone/>
            </a:pPr>
            <a:r>
              <a:rPr lang="en-US" sz="1500" b="1" dirty="0">
                <a:solidFill>
                  <a:schemeClr val="tx1"/>
                </a:solidFill>
              </a:rPr>
              <a:t>BM25+ ties BM25</a:t>
            </a:r>
            <a:endParaRPr lang="en-US" sz="1500" dirty="0"/>
          </a:p>
          <a:p>
            <a:pPr indent="0" marL="0">
              <a:spcAft>
                <a:spcPts val="1200"/>
              </a:spcAft>
              <a:buNone/>
            </a:pPr>
            <a:r>
              <a:rPr lang="en-US" sz="1400" dirty="0">
                <a:solidFill>
                  <a:schemeClr val="tx2"/>
                </a:solidFill>
              </a:rPr>
              <a:t>BM25L’s length boost over-rewards long abstracts.</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OUR BENCHMARK · TF-IDF VS BM25</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Head-to-head: BM25 wins on every quality metric</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1920240"/>
                <a:gridCol w="1371600"/>
                <a:gridCol w="1371600"/>
                <a:gridCol w="1645920"/>
              </a:tblGrid>
              <a:tr h="457200">
                <a:tc>
                  <a:txBody>
                    <a:bodyPr/>
                    <a:lstStyle/>
                    <a:p>
                      <a:pPr indent="0" marL="0">
                        <a:buNone/>
                      </a:pPr>
                      <a:r>
                        <a:rPr lang="en-US" sz="1500" b="1" dirty="0">
                          <a:solidFill>
                            <a:schemeClr val="bg1"/>
                          </a:solidFill>
                          <a:latin typeface="+mn-lt" pitchFamily="34" charset="0"/>
                          <a:ea typeface="+mn-lt" pitchFamily="34" charset="-122"/>
                          <a:cs typeface="+mn-lt" pitchFamily="34" charset="-120"/>
                        </a:rPr>
                        <a:t>Metric</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TF-IDF</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BM25</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latin typeface="+mn-lt" pitchFamily="34" charset="0"/>
                          <a:ea typeface="+mn-lt" pitchFamily="34" charset="-122"/>
                          <a:cs typeface="+mn-lt" pitchFamily="34" charset="-120"/>
                        </a:rPr>
                        <a:t>Change</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nDCG@10</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0.349</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0.363</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+4.1%</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P@10</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0.217</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0.226</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+3.9%</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MAP</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0.275</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0.282</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+2.7%</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MRR@10</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0.492</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0.511</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+3.9%</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Recall@100</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0.713</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0.714</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+0.2%</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57200">
                <a:tc>
                  <a:txBody>
                    <a:bodyPr/>
                    <a:lstStyle/>
                    <a:p>
                      <a:pPr indent="0" marL="0">
                        <a:buNone/>
                      </a:pPr>
                      <a:r>
                        <a:rPr lang="en-US" sz="1500" b="1" dirty="0">
                          <a:solidFill>
                            <a:schemeClr val="tx1"/>
                          </a:solidFill>
                          <a:latin typeface="+mn-lt" pitchFamily="34" charset="0"/>
                          <a:ea typeface="+mn-lt" pitchFamily="34" charset="-122"/>
                          <a:cs typeface="+mn-lt" pitchFamily="34" charset="-120"/>
                        </a:rPr>
                        <a:t>Time / query</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mn-lt" pitchFamily="34" charset="0"/>
                          <a:ea typeface="+mn-lt" pitchFamily="34" charset="-122"/>
                          <a:cs typeface="+mn-lt" pitchFamily="34" charset="-120"/>
                        </a:rPr>
                        <a:t>0.85 ms</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latin typeface="+mn-lt" pitchFamily="34" charset="0"/>
                          <a:ea typeface="+mn-lt" pitchFamily="34" charset="-122"/>
                          <a:cs typeface="+mn-lt" pitchFamily="34" charset="-120"/>
                        </a:rPr>
                        <a:t>0.57 ms</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3"/>
                          </a:solidFill>
                          <a:latin typeface="+mn-lt" pitchFamily="34" charset="0"/>
                          <a:ea typeface="+mn-lt" pitchFamily="34" charset="-122"/>
                          <a:cs typeface="+mn-lt" pitchFamily="34" charset="-120"/>
                        </a:rPr>
                        <a:t>1.5× faster</a:t>
                      </a:r>
                      <a:endParaRPr lang="en-US" sz="15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07492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Cranfield, 225 queries, k1 = 1.5, b = 0.75. Timing on the 1,400-doc set; on 251k Enron emails the gap is 8×.</a:t>
            </a:r>
            <a:endParaRPr lang="en-US" sz="1100" dirty="0"/>
          </a:p>
        </p:txBody>
      </p:sp>
      <p:graphicFrame>
        <p:nvGraphicFramePr>
          <p:cNvPr id="6" name="Chart 0" descr=""/>
          <p:cNvGraphicFramePr/>
          <p:nvPr/>
        </p:nvGraphicFramePr>
        <p:xfrm>
          <a:off x="7178040" y="1463040"/>
          <a:ext cx="4480560" cy="3520440"/>
        </p:xfrm>
        <a:graphic xmlns:a="http://schemas.openxmlformats.org/drawingml/2006/main">
          <a:graphicData uri="http://schemas.openxmlformats.org/drawingml/2006/chart">
            <c:chart xmlns:c="http://schemas.openxmlformats.org/drawingml/2006/chart" r:id="rId1"/>
          </a:graphicData>
        </a:graphic>
      </p:graphicFrame>
      <p:sp>
        <p:nvSpPr>
          <p:cNvPr id="7" name="Sig note"/>
          <p:cNvSpPr/>
          <p:nvPr/>
        </p:nvSpPr>
        <p:spPr>
          <a:xfrm>
            <a:off x="7178040" y="5074920"/>
            <a:ext cx="4462272" cy="1051560"/>
          </a:xfrm>
          <a:prstGeom prst="roundRect">
            <a:avLst>
              <a:gd name="adj" fmla="val 6957"/>
            </a:avLst>
          </a:prstGeom>
          <a:solidFill>
            <a:schemeClr val="bg2"/>
          </a:solidFill>
          <a:ln/>
        </p:spPr>
      </p:sp>
      <p:sp>
        <p:nvSpPr>
          <p:cNvPr id="8" name="Text 4"/>
          <p:cNvSpPr txBox="1"/>
          <p:nvPr/>
        </p:nvSpPr>
        <p:spPr>
          <a:xfrm>
            <a:off x="7406640" y="5120640"/>
            <a:ext cx="4023360" cy="960120"/>
          </a:xfrm>
          <a:prstGeom prst="rect">
            <a:avLst/>
          </a:prstGeom>
          <a:noFill/>
          <a:ln/>
        </p:spPr>
        <p:txBody>
          <a:bodyPr wrap="square" lIns="0" tIns="0" rIns="0" bIns="0" rtlCol="0" anchor="ctr"/>
          <a:lstStyle/>
          <a:p>
            <a:pPr algn="l" indent="0" marL="0">
              <a:buNone/>
            </a:pPr>
            <a:r>
              <a:rPr lang="en-US" sz="1300" b="1" dirty="0">
                <a:solidFill>
                  <a:schemeClr val="tx1"/>
                </a:solidFill>
              </a:rPr>
              <a:t>Paired t-test p ≈ 0.06: </a:t>
            </a:r>
            <a:pPr algn="l" indent="0" marL="0">
              <a:buNone/>
            </a:pPr>
            <a:r>
              <a:rPr lang="en-US" sz="1300" dirty="0">
                <a:solidFill>
                  <a:schemeClr val="tx1"/>
                </a:solidFill>
              </a:rPr>
              <a:t>a consistent but modest edge. Cranfield abstracts are similar in length, so the length fix barely matters here.</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OUR BENCHMARK · BM25 PARAMETER SWEEP</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Length normalisation is worth +8%, and defaults are safe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675120" cy="914400"/>
        </p:xfrm>
        <a:graphic>
          <a:graphicData uri="http://schemas.openxmlformats.org/drawingml/2006/table">
            <a:tbl>
              <a:tblPr/>
              <a:tblGrid>
                <a:gridCol w="1417320"/>
                <a:gridCol w="1051560"/>
                <a:gridCol w="1051560"/>
                <a:gridCol w="1051560"/>
                <a:gridCol w="1051560"/>
                <a:gridCol w="1051560"/>
              </a:tblGrid>
              <a:tr h="548640">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k1 \ b</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b = 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b = 0.25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b = 0.5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b = 0.75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latin typeface="+mn-lt" pitchFamily="34" charset="0"/>
                          <a:ea typeface="+mn-lt" pitchFamily="34" charset="-122"/>
                          <a:cs typeface="+mn-lt" pitchFamily="34" charset="-120"/>
                        </a:rPr>
                        <a:t>b = 1</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1"/>
                    </a:solidFill>
                  </a:tcPr>
                </a:tc>
              </a:tr>
              <a:tr h="548640">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k1 = 0.5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0.323</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5F8"/>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0.335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E0D4"/>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0.343</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FD3BD"/>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0.348</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CBAF"/>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0.348</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CCB0"/>
                    </a:solidFill>
                  </a:tcPr>
                </a:tc>
              </a:tr>
              <a:tr h="548640">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k1 = 0.9</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0.331</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E7E0"/>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C8AA"/>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0.351</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C6A6"/>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0.358</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A9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0.358</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A91"/>
                    </a:solidFill>
                  </a:tcPr>
                </a:tc>
              </a:tr>
              <a:tr h="548640">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k1 = 1.2</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0.334</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E2D7"/>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0.354</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C09D"/>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0.356</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D97"/>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0.360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B78D"/>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0.359</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990"/>
                    </a:solidFill>
                  </a:tcPr>
                </a:tc>
              </a:tr>
              <a:tr h="548640">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k1 = 1.5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0.337</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DDCF"/>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F9A"/>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0.361</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B589"/>
                    </a:solidFill>
                  </a:tcPr>
                </a:tc>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0.363</a:t>
                      </a:r>
                      <a:endParaRPr lang="en-US" sz="1500" dirty="0">
                        <a:latin typeface="+mn-lt" charset="0"/>
                        <a:ea typeface="+mn-lt" charset="0"/>
                        <a:cs typeface="+mn-lt" charset="0"/>
                      </a:endParaRPr>
                    </a:p>
                  </a:txBody>
                  <a:tcPr marL="91440" marR="91440" marT="45720" marB="45720" anchor="ctr">
                    <a:lnL w="38100" cap="flat" cmpd="sng" algn="ctr">
                      <a:solidFill>
                        <a:srgbClr val="14213D"/>
                      </a:solidFill>
                      <a:prstDash val="solid"/>
                      <a:round/>
                      <a:headEnd type="none" w="med" len="med"/>
                      <a:tailEnd type="none" w="med" len="med"/>
                    </a:lnL>
                    <a:lnR w="38100" cap="flat" cmpd="sng" algn="ctr">
                      <a:solidFill>
                        <a:srgbClr val="14213D"/>
                      </a:solidFill>
                      <a:prstDash val="solid"/>
                      <a:round/>
                      <a:headEnd type="none" w="med" len="med"/>
                      <a:tailEnd type="none" w="med" len="med"/>
                    </a:lnR>
                    <a:lnT w="38100" cap="flat" cmpd="sng" algn="ctr">
                      <a:solidFill>
                        <a:srgbClr val="14213D"/>
                      </a:solidFill>
                      <a:prstDash val="solid"/>
                      <a:round/>
                      <a:headEnd type="none" w="med" len="med"/>
                      <a:tailEnd type="none" w="med" len="med"/>
                    </a:lnT>
                    <a:lnB w="38100" cap="flat" cmpd="sng" algn="ctr">
                      <a:solidFill>
                        <a:srgbClr val="14213D"/>
                      </a:solidFill>
                      <a:prstDash val="solid"/>
                      <a:round/>
                      <a:headEnd type="none" w="med" len="med"/>
                      <a:tailEnd type="none" w="med" len="med"/>
                    </a:lnB>
                    <a:solidFill>
                      <a:srgbClr val="EBB18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0.360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B78C"/>
                    </a:solidFill>
                  </a:tcPr>
                </a:tc>
              </a:tr>
              <a:tr h="548640">
                <a:tc>
                  <a:txBody>
                    <a:bodyPr/>
                    <a:lstStyle/>
                    <a:p>
                      <a:pPr algn="ctr" indent="0" marL="0">
                        <a:buNone/>
                      </a:pPr>
                      <a:r>
                        <a:rPr lang="en-US" sz="1500" b="1" dirty="0">
                          <a:solidFill>
                            <a:schemeClr val="tx1"/>
                          </a:solidFill>
                          <a:latin typeface="+mn-lt" pitchFamily="34" charset="0"/>
                          <a:ea typeface="+mn-lt" pitchFamily="34" charset="-122"/>
                          <a:cs typeface="+mn-lt" pitchFamily="34" charset="-120"/>
                        </a:rPr>
                        <a:t>k1 = 2.0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0.338</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DCCC"/>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0.356</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CBE99"/>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0.365</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AF7E"/>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0.370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9A66F"/>
                    </a:solidFill>
                  </a:tcPr>
                </a:tc>
                <a:tc>
                  <a:txBody>
                    <a:bodyPr/>
                    <a:lstStyle/>
                    <a:p>
                      <a:pPr algn="ctr" indent="0" marL="0">
                        <a:buNone/>
                      </a:pPr>
                      <a:r>
                        <a:rPr lang="en-US" sz="1500" dirty="0">
                          <a:solidFill>
                            <a:schemeClr val="tx1"/>
                          </a:solidFill>
                          <a:latin typeface="+mn-lt" pitchFamily="34" charset="0"/>
                          <a:ea typeface="+mn-lt" pitchFamily="34" charset="-122"/>
                          <a:cs typeface="+mn-lt" pitchFamily="34" charset="-120"/>
                        </a:rPr>
                        <a:t>0.360</a:t>
                      </a:r>
                      <a:endParaRPr lang="en-US" sz="1500" dirty="0">
                        <a:latin typeface="+mn-lt" charset="0"/>
                        <a:ea typeface="+mn-lt" charset="0"/>
                        <a:cs typeface="+mn-lt"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B78D"/>
                    </a:solidFill>
                  </a:tcPr>
                </a:tc>
              </a:tr>
            </a:tbl>
          </a:graphicData>
        </a:graphic>
      </p:graphicFrame>
      <p:sp>
        <p:nvSpPr>
          <p:cNvPr id="5" name="Text 2"/>
          <p:cNvSpPr txBox="1"/>
          <p:nvPr/>
        </p:nvSpPr>
        <p:spPr>
          <a:xfrm>
            <a:off x="548640" y="512064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nDCG@10 on Cranfield. Outlined cell = the project’s defaults (k1 = 1.5, b = 0.75). Darker = better.</a:t>
            </a:r>
            <a:endParaRPr lang="en-US" sz="1100" dirty="0"/>
          </a:p>
        </p:txBody>
      </p:sp>
      <p:sp>
        <p:nvSpPr>
          <p:cNvPr id="6" name="Tip"/>
          <p:cNvSpPr/>
          <p:nvPr/>
        </p:nvSpPr>
        <p:spPr>
          <a:xfrm>
            <a:off x="7589520" y="1645920"/>
            <a:ext cx="4050792" cy="1280160"/>
          </a:xfrm>
          <a:prstGeom prst="roundRect">
            <a:avLst>
              <a:gd name="adj" fmla="val 5714"/>
            </a:avLst>
          </a:prstGeom>
          <a:solidFill>
            <a:schemeClr val="tx1"/>
          </a:solidFill>
          <a:ln/>
        </p:spPr>
      </p:sp>
      <p:sp>
        <p:nvSpPr>
          <p:cNvPr id="7" name="Text 4"/>
          <p:cNvSpPr txBox="1"/>
          <p:nvPr/>
        </p:nvSpPr>
        <p:spPr>
          <a:xfrm>
            <a:off x="7818120" y="1783080"/>
            <a:ext cx="3566160" cy="502920"/>
          </a:xfrm>
          <a:prstGeom prst="rect">
            <a:avLst/>
          </a:prstGeom>
          <a:noFill/>
          <a:ln/>
        </p:spPr>
        <p:txBody>
          <a:bodyPr wrap="square" lIns="0" tIns="0" rIns="0" bIns="0" rtlCol="0" anchor="t"/>
          <a:lstStyle/>
          <a:p>
            <a:pPr algn="l" indent="0" marL="0">
              <a:buNone/>
            </a:pPr>
            <a:r>
              <a:rPr lang="en-US" sz="2600" b="1" dirty="0">
                <a:solidFill>
                  <a:schemeClr val="accent1"/>
                </a:solidFill>
              </a:rPr>
              <a:t>+7.8%</a:t>
            </a:r>
            <a:endParaRPr lang="en-US" sz="2600" dirty="0"/>
          </a:p>
        </p:txBody>
      </p:sp>
      <p:sp>
        <p:nvSpPr>
          <p:cNvPr id="8" name="Text 5"/>
          <p:cNvSpPr txBox="1"/>
          <p:nvPr/>
        </p:nvSpPr>
        <p:spPr>
          <a:xfrm>
            <a:off x="7818120" y="2286000"/>
            <a:ext cx="3611880" cy="594360"/>
          </a:xfrm>
          <a:prstGeom prst="rect">
            <a:avLst/>
          </a:prstGeom>
          <a:noFill/>
          <a:ln/>
        </p:spPr>
        <p:txBody>
          <a:bodyPr wrap="square" lIns="0" tIns="0" rIns="0" bIns="0" rtlCol="0" anchor="t"/>
          <a:lstStyle/>
          <a:p>
            <a:pPr algn="l" indent="0" marL="0">
              <a:buNone/>
            </a:pPr>
            <a:r>
              <a:rPr lang="en-US" sz="1300" dirty="0">
                <a:solidFill>
                  <a:schemeClr val="bg1"/>
                </a:solidFill>
              </a:rPr>
              <a:t>b = 0 → 0.75: turning on length normalisation is the single biggest gain</a:t>
            </a:r>
            <a:endParaRPr lang="en-US" sz="1300" dirty="0"/>
          </a:p>
        </p:txBody>
      </p:sp>
      <p:sp>
        <p:nvSpPr>
          <p:cNvPr id="9" name="Tip"/>
          <p:cNvSpPr/>
          <p:nvPr/>
        </p:nvSpPr>
        <p:spPr>
          <a:xfrm>
            <a:off x="7589520" y="3108960"/>
            <a:ext cx="4050792" cy="1280160"/>
          </a:xfrm>
          <a:prstGeom prst="roundRect">
            <a:avLst>
              <a:gd name="adj" fmla="val 5714"/>
            </a:avLst>
          </a:prstGeom>
          <a:solidFill>
            <a:schemeClr val="bg2"/>
          </a:solidFill>
          <a:ln/>
        </p:spPr>
      </p:sp>
      <p:sp>
        <p:nvSpPr>
          <p:cNvPr id="10" name="Text 7"/>
          <p:cNvSpPr txBox="1"/>
          <p:nvPr/>
        </p:nvSpPr>
        <p:spPr>
          <a:xfrm>
            <a:off x="7818120" y="3246120"/>
            <a:ext cx="3566160" cy="502920"/>
          </a:xfrm>
          <a:prstGeom prst="rect">
            <a:avLst/>
          </a:prstGeom>
          <a:noFill/>
          <a:ln/>
        </p:spPr>
        <p:txBody>
          <a:bodyPr wrap="square" lIns="0" tIns="0" rIns="0" bIns="0" rtlCol="0" anchor="t"/>
          <a:lstStyle/>
          <a:p>
            <a:pPr algn="l" indent="0" marL="0">
              <a:buNone/>
            </a:pPr>
            <a:r>
              <a:rPr lang="en-US" sz="2600" b="1" dirty="0">
                <a:solidFill>
                  <a:schemeClr val="accent1"/>
                </a:solidFill>
              </a:rPr>
              <a:t>−1.8%</a:t>
            </a:r>
            <a:endParaRPr lang="en-US" sz="2600" dirty="0"/>
          </a:p>
        </p:txBody>
      </p:sp>
      <p:sp>
        <p:nvSpPr>
          <p:cNvPr id="11" name="Text 8"/>
          <p:cNvSpPr txBox="1"/>
          <p:nvPr/>
        </p:nvSpPr>
        <p:spPr>
          <a:xfrm>
            <a:off x="7818120" y="3749040"/>
            <a:ext cx="3611880" cy="594360"/>
          </a:xfrm>
          <a:prstGeom prst="rect">
            <a:avLst/>
          </a:prstGeom>
          <a:noFill/>
          <a:ln/>
        </p:spPr>
        <p:txBody>
          <a:bodyPr wrap="square" lIns="0" tIns="0" rIns="0" bIns="0" rtlCol="0" anchor="t"/>
          <a:lstStyle/>
          <a:p>
            <a:pPr algn="l" indent="0" marL="0">
              <a:buNone/>
            </a:pPr>
            <a:r>
              <a:rPr lang="en-US" sz="1300" dirty="0">
                <a:solidFill>
                  <a:schemeClr val="tx2"/>
                </a:solidFill>
              </a:rPr>
              <a:t>our defaults vs the best cell (k1 = 2.0, b = 0.75, 0.370)</a:t>
            </a:r>
            <a:endParaRPr lang="en-US" sz="1300" dirty="0"/>
          </a:p>
        </p:txBody>
      </p:sp>
      <p:sp>
        <p:nvSpPr>
          <p:cNvPr id="12" name="Tip"/>
          <p:cNvSpPr/>
          <p:nvPr/>
        </p:nvSpPr>
        <p:spPr>
          <a:xfrm>
            <a:off x="7589520" y="4572000"/>
            <a:ext cx="4050792" cy="1280160"/>
          </a:xfrm>
          <a:prstGeom prst="roundRect">
            <a:avLst>
              <a:gd name="adj" fmla="val 5714"/>
            </a:avLst>
          </a:prstGeom>
          <a:solidFill>
            <a:schemeClr val="bg2"/>
          </a:solidFill>
          <a:ln/>
        </p:spPr>
      </p:sp>
      <p:sp>
        <p:nvSpPr>
          <p:cNvPr id="13" name="Text 10"/>
          <p:cNvSpPr txBox="1"/>
          <p:nvPr/>
        </p:nvSpPr>
        <p:spPr>
          <a:xfrm>
            <a:off x="7818120" y="4709160"/>
            <a:ext cx="3566160" cy="502920"/>
          </a:xfrm>
          <a:prstGeom prst="rect">
            <a:avLst/>
          </a:prstGeom>
          <a:noFill/>
          <a:ln/>
        </p:spPr>
        <p:txBody>
          <a:bodyPr wrap="square" lIns="0" tIns="0" rIns="0" bIns="0" rtlCol="0" anchor="t"/>
          <a:lstStyle/>
          <a:p>
            <a:pPr algn="l" indent="0" marL="0">
              <a:buNone/>
            </a:pPr>
            <a:r>
              <a:rPr lang="en-US" sz="2600" b="1" dirty="0">
                <a:solidFill>
                  <a:schemeClr val="accent1"/>
                </a:solidFill>
              </a:rPr>
              <a:t>0.351–0.370</a:t>
            </a:r>
            <a:endParaRPr lang="en-US" sz="2600" dirty="0"/>
          </a:p>
        </p:txBody>
      </p:sp>
      <p:sp>
        <p:nvSpPr>
          <p:cNvPr id="14" name="Text 11"/>
          <p:cNvSpPr txBox="1"/>
          <p:nvPr/>
        </p:nvSpPr>
        <p:spPr>
          <a:xfrm>
            <a:off x="7818120" y="5212080"/>
            <a:ext cx="3611880" cy="594360"/>
          </a:xfrm>
          <a:prstGeom prst="rect">
            <a:avLst/>
          </a:prstGeom>
          <a:noFill/>
          <a:ln/>
        </p:spPr>
        <p:txBody>
          <a:bodyPr wrap="square" lIns="0" tIns="0" rIns="0" bIns="0" rtlCol="0" anchor="t"/>
          <a:lstStyle/>
          <a:p>
            <a:pPr algn="l" indent="0" marL="0">
              <a:buNone/>
            </a:pPr>
            <a:r>
              <a:rPr lang="en-US" sz="1300" dirty="0">
                <a:solidFill>
                  <a:schemeClr val="tx2"/>
                </a:solidFill>
              </a:rPr>
              <a:t>range for any k1 0.9–2.0 with b ≥ 0.5: BM25 is forgiving</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REAL DATA · ALL 251,115 ENRON EMAILS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On real email the gap is obvious: #1 results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589520" cy="914400"/>
        </p:xfrm>
        <a:graphic>
          <a:graphicData uri="http://schemas.openxmlformats.org/drawingml/2006/table">
            <a:tbl>
              <a:tblPr/>
              <a:tblGrid>
                <a:gridCol w="1828800"/>
                <a:gridCol w="2514600"/>
                <a:gridCol w="3246120"/>
              </a:tblGrid>
              <a:tr h="530352">
                <a:tc>
                  <a:txBody>
                    <a:bodyPr/>
                    <a:lstStyle/>
                    <a:p>
                      <a:pPr indent="0" marL="0">
                        <a:buNone/>
                      </a:pPr>
                      <a:r>
                        <a:rPr lang="en-US" sz="1400" b="1" dirty="0">
                          <a:solidFill>
                            <a:schemeClr val="bg1"/>
                          </a:solidFill>
                          <a:latin typeface="+mn-lt" pitchFamily="34" charset="0"/>
                          <a:ea typeface="+mn-lt" pitchFamily="34" charset="-122"/>
                          <a:cs typeface="+mn-lt" pitchFamily="34" charset="-120"/>
                        </a:rPr>
                        <a:t>Query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TF-IDF #1</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BM25 #1</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stock options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“Options” · 9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“ENE Options” · 159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power outage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“Outage”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“Planned Power Outage at 3WTC on Sunday”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natural gas price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“RE:”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“Where will Natural Gas prices go next?”</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sec investigation</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(no subject) · 7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“SEC investigation of stock buying”</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skilling resign</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“Skilling’s office” · 1 word</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“FW: WSJ Skilling Interview”</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bankruptcy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(no subject)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“Bankruptcy in California; Implications…”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5" name="Enron stat"/>
          <p:cNvSpPr/>
          <p:nvPr/>
        </p:nvSpPr>
        <p:spPr>
          <a:xfrm>
            <a:off x="8412480" y="1600200"/>
            <a:ext cx="3227832" cy="1261872"/>
          </a:xfrm>
          <a:prstGeom prst="roundRect">
            <a:avLst>
              <a:gd name="adj" fmla="val 5797"/>
            </a:avLst>
          </a:prstGeom>
          <a:solidFill>
            <a:srgbClr val="E3ECF6"/>
          </a:solidFill>
          <a:ln/>
        </p:spPr>
      </p:sp>
      <p:sp>
        <p:nvSpPr>
          <p:cNvPr id="6" name="Text 3"/>
          <p:cNvSpPr txBox="1"/>
          <p:nvPr/>
        </p:nvSpPr>
        <p:spPr>
          <a:xfrm>
            <a:off x="8641080" y="1737360"/>
            <a:ext cx="2834640" cy="502920"/>
          </a:xfrm>
          <a:prstGeom prst="rect">
            <a:avLst/>
          </a:prstGeom>
          <a:noFill/>
          <a:ln/>
        </p:spPr>
        <p:txBody>
          <a:bodyPr wrap="square" lIns="0" tIns="0" rIns="0" bIns="0" rtlCol="0" anchor="t"/>
          <a:lstStyle/>
          <a:p>
            <a:pPr algn="l" indent="0" marL="0">
              <a:buNone/>
            </a:pPr>
            <a:r>
              <a:rPr lang="en-US" sz="2400" b="1" dirty="0">
                <a:solidFill>
                  <a:schemeClr val="accent2"/>
                </a:solidFill>
              </a:rPr>
              <a:t>1–10 words</a:t>
            </a:r>
            <a:endParaRPr lang="en-US" sz="2400" dirty="0"/>
          </a:p>
        </p:txBody>
      </p:sp>
      <p:sp>
        <p:nvSpPr>
          <p:cNvPr id="7" name="Text 4"/>
          <p:cNvSpPr txBox="1"/>
          <p:nvPr/>
        </p:nvSpPr>
        <p:spPr>
          <a:xfrm>
            <a:off x="8641080" y="2258568"/>
            <a:ext cx="2834640" cy="548640"/>
          </a:xfrm>
          <a:prstGeom prst="rect">
            <a:avLst/>
          </a:prstGeom>
          <a:noFill/>
          <a:ln/>
        </p:spPr>
        <p:txBody>
          <a:bodyPr wrap="square" lIns="0" tIns="0" rIns="0" bIns="0" rtlCol="0" anchor="t"/>
          <a:lstStyle/>
          <a:p>
            <a:pPr algn="l" indent="0" marL="0">
              <a:buNone/>
            </a:pPr>
            <a:r>
              <a:rPr lang="en-US" sz="1300" dirty="0">
                <a:solidFill>
                  <a:schemeClr val="tx2"/>
                </a:solidFill>
              </a:rPr>
              <a:t>typical length of TF-IDF’s top hits</a:t>
            </a:r>
            <a:endParaRPr lang="en-US" sz="1300" dirty="0"/>
          </a:p>
        </p:txBody>
      </p:sp>
      <p:sp>
        <p:nvSpPr>
          <p:cNvPr id="8" name="Enron stat"/>
          <p:cNvSpPr/>
          <p:nvPr/>
        </p:nvSpPr>
        <p:spPr>
          <a:xfrm>
            <a:off x="8412480" y="3017520"/>
            <a:ext cx="3227832" cy="1261872"/>
          </a:xfrm>
          <a:prstGeom prst="roundRect">
            <a:avLst>
              <a:gd name="adj" fmla="val 5797"/>
            </a:avLst>
          </a:prstGeom>
          <a:solidFill>
            <a:srgbClr val="FBE9DC"/>
          </a:solidFill>
          <a:ln/>
        </p:spPr>
      </p:sp>
      <p:sp>
        <p:nvSpPr>
          <p:cNvPr id="9" name="Text 6"/>
          <p:cNvSpPr txBox="1"/>
          <p:nvPr/>
        </p:nvSpPr>
        <p:spPr>
          <a:xfrm>
            <a:off x="8641080" y="3154680"/>
            <a:ext cx="2834640" cy="502920"/>
          </a:xfrm>
          <a:prstGeom prst="rect">
            <a:avLst/>
          </a:prstGeom>
          <a:noFill/>
          <a:ln/>
        </p:spPr>
        <p:txBody>
          <a:bodyPr wrap="square" lIns="0" tIns="0" rIns="0" bIns="0" rtlCol="0" anchor="t"/>
          <a:lstStyle/>
          <a:p>
            <a:pPr algn="l" indent="0" marL="0">
              <a:buNone/>
            </a:pPr>
            <a:r>
              <a:rPr lang="en-US" sz="2400" b="1" dirty="0">
                <a:solidFill>
                  <a:schemeClr val="accent1"/>
                </a:solidFill>
              </a:rPr>
              <a:t>100–600 words</a:t>
            </a:r>
            <a:endParaRPr lang="en-US" sz="2400" dirty="0"/>
          </a:p>
        </p:txBody>
      </p:sp>
      <p:sp>
        <p:nvSpPr>
          <p:cNvPr id="10" name="Text 7"/>
          <p:cNvSpPr txBox="1"/>
          <p:nvPr/>
        </p:nvSpPr>
        <p:spPr>
          <a:xfrm>
            <a:off x="8641080" y="3675888"/>
            <a:ext cx="2834640" cy="548640"/>
          </a:xfrm>
          <a:prstGeom prst="rect">
            <a:avLst/>
          </a:prstGeom>
          <a:noFill/>
          <a:ln/>
        </p:spPr>
        <p:txBody>
          <a:bodyPr wrap="square" lIns="0" tIns="0" rIns="0" bIns="0" rtlCol="0" anchor="t"/>
          <a:lstStyle/>
          <a:p>
            <a:pPr algn="l" indent="0" marL="0">
              <a:buNone/>
            </a:pPr>
            <a:r>
              <a:rPr lang="en-US" sz="1300" dirty="0">
                <a:solidFill>
                  <a:schemeClr val="tx2"/>
                </a:solidFill>
              </a:rPr>
              <a:t>BM25’s top hits, and on topic</a:t>
            </a:r>
            <a:endParaRPr lang="en-US" sz="1300" dirty="0"/>
          </a:p>
        </p:txBody>
      </p:sp>
      <p:sp>
        <p:nvSpPr>
          <p:cNvPr id="11" name="Enron stat"/>
          <p:cNvSpPr/>
          <p:nvPr/>
        </p:nvSpPr>
        <p:spPr>
          <a:xfrm>
            <a:off x="8412480" y="4434840"/>
            <a:ext cx="3227832" cy="1261872"/>
          </a:xfrm>
          <a:prstGeom prst="roundRect">
            <a:avLst>
              <a:gd name="adj" fmla="val 5797"/>
            </a:avLst>
          </a:prstGeom>
          <a:solidFill>
            <a:schemeClr val="tx1"/>
          </a:solidFill>
          <a:ln/>
        </p:spPr>
      </p:sp>
      <p:sp>
        <p:nvSpPr>
          <p:cNvPr id="12" name="Text 9"/>
          <p:cNvSpPr txBox="1"/>
          <p:nvPr/>
        </p:nvSpPr>
        <p:spPr>
          <a:xfrm>
            <a:off x="8641080" y="4572000"/>
            <a:ext cx="2834640" cy="502920"/>
          </a:xfrm>
          <a:prstGeom prst="rect">
            <a:avLst/>
          </a:prstGeom>
          <a:noFill/>
          <a:ln/>
        </p:spPr>
        <p:txBody>
          <a:bodyPr wrap="square" lIns="0" tIns="0" rIns="0" bIns="0" rtlCol="0" anchor="t"/>
          <a:lstStyle/>
          <a:p>
            <a:pPr algn="l" indent="0" marL="0">
              <a:buNone/>
            </a:pPr>
            <a:r>
              <a:rPr lang="en-US" sz="2400" b="1" dirty="0">
                <a:solidFill>
                  <a:schemeClr val="accent1"/>
                </a:solidFill>
              </a:rPr>
              <a:t>0.04 s → 0.005 s</a:t>
            </a:r>
            <a:endParaRPr lang="en-US" sz="2400" dirty="0"/>
          </a:p>
        </p:txBody>
      </p:sp>
      <p:sp>
        <p:nvSpPr>
          <p:cNvPr id="13" name="Text 10"/>
          <p:cNvSpPr txBox="1"/>
          <p:nvPr/>
        </p:nvSpPr>
        <p:spPr>
          <a:xfrm>
            <a:off x="8641080" y="5093208"/>
            <a:ext cx="2834640" cy="548640"/>
          </a:xfrm>
          <a:prstGeom prst="rect">
            <a:avLst/>
          </a:prstGeom>
          <a:noFill/>
          <a:ln/>
        </p:spPr>
        <p:txBody>
          <a:bodyPr wrap="square" lIns="0" tIns="0" rIns="0" bIns="0" rtlCol="0" anchor="t"/>
          <a:lstStyle/>
          <a:p>
            <a:pPr algn="l" indent="0" marL="0">
              <a:buNone/>
            </a:pPr>
            <a:r>
              <a:rPr lang="en-US" sz="1300" dirty="0">
                <a:solidFill>
                  <a:schemeClr val="bg1"/>
                </a:solidFill>
              </a:rPr>
              <a:t>per query: BM25 scores only emails containing the words</a:t>
            </a:r>
            <a:endParaRPr lang="en-US" sz="1300" dirty="0"/>
          </a:p>
        </p:txBody>
      </p:sp>
      <p:sp>
        <p:nvSpPr>
          <p:cNvPr id="14" name="Text 11"/>
          <p:cNvSpPr txBox="1"/>
          <p:nvPr/>
        </p:nvSpPr>
        <p:spPr>
          <a:xfrm>
            <a:off x="548640" y="585216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Judged by eye: Enron has no relevance labels, which is why the Cranfield benchmark exists. Live: python app.py → localhost:8000</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PUBLISHED BENCHMARK · BEIR (THAKUR ET AL., NEURIPS 2021)</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Zero-shot, BM25 still beats most neural retrievers</a:t>
            </a:r>
            <a:endParaRPr lang="en-US" sz="3200" dirty="0"/>
          </a:p>
        </p:txBody>
      </p:sp>
      <p:graphicFrame>
        <p:nvGraphicFramePr>
          <p:cNvPr id="4" name="Chart 0" descr=""/>
          <p:cNvGraphicFramePr/>
          <p:nvPr/>
        </p:nvGraphicFramePr>
        <p:xfrm>
          <a:off x="548640" y="1508760"/>
          <a:ext cx="7040880" cy="4572000"/>
        </p:xfrm>
        <a:graphic xmlns:a="http://schemas.openxmlformats.org/drawingml/2006/main">
          <a:graphicData uri="http://schemas.openxmlformats.org/drawingml/2006/chart">
            <c:chart xmlns:c="http://schemas.openxmlformats.org/drawingml/2006/chart" r:id="rId1"/>
          </a:graphicData>
        </a:graphic>
      </p:graphicFrame>
      <p:sp>
        <p:nvSpPr>
          <p:cNvPr id="5" name="BEIR explainer"/>
          <p:cNvSpPr/>
          <p:nvPr/>
        </p:nvSpPr>
        <p:spPr>
          <a:xfrm>
            <a:off x="7863840" y="1600200"/>
            <a:ext cx="3776472" cy="2240280"/>
          </a:xfrm>
          <a:prstGeom prst="roundRect">
            <a:avLst>
              <a:gd name="adj" fmla="val 3265"/>
            </a:avLst>
          </a:prstGeom>
          <a:solidFill>
            <a:schemeClr val="bg2"/>
          </a:solidFill>
          <a:ln/>
        </p:spPr>
      </p:sp>
      <p:sp>
        <p:nvSpPr>
          <p:cNvPr id="6" name="Text 3"/>
          <p:cNvSpPr txBox="1"/>
          <p:nvPr/>
        </p:nvSpPr>
        <p:spPr>
          <a:xfrm>
            <a:off x="8092440" y="1783080"/>
            <a:ext cx="329184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WHAT BEIR TESTS</a:t>
            </a:r>
            <a:endParaRPr lang="en-US" sz="1100" dirty="0"/>
          </a:p>
        </p:txBody>
      </p:sp>
      <p:sp>
        <p:nvSpPr>
          <p:cNvPr id="7" name="Text 4"/>
          <p:cNvSpPr txBox="1"/>
          <p:nvPr/>
        </p:nvSpPr>
        <p:spPr>
          <a:xfrm>
            <a:off x="8092440" y="2103120"/>
            <a:ext cx="3383280" cy="1691640"/>
          </a:xfrm>
          <a:prstGeom prst="rect">
            <a:avLst/>
          </a:prstGeom>
          <a:noFill/>
          <a:ln/>
        </p:spPr>
        <p:txBody>
          <a:bodyPr wrap="square" lIns="0" tIns="0" rIns="0" bIns="0" rtlCol="0" anchor="t"/>
          <a:lstStyle/>
          <a:p>
            <a:pPr algn="l" indent="0" marL="0">
              <a:buNone/>
            </a:pPr>
            <a:r>
              <a:rPr lang="en-US" sz="1300" dirty="0">
                <a:solidFill>
                  <a:schemeClr val="tx2"/>
                </a:solidFill>
              </a:rPr>
              <a:t>18 datasets in 9 domains (bio-medical, finance, news, fact-checking…). Models trained on MS MARCO are tested on domains they never saw. That is Enron’s situation: no in-domain labels.</a:t>
            </a:r>
            <a:endParaRPr lang="en-US" sz="1300" dirty="0"/>
          </a:p>
        </p:txBody>
      </p:sp>
      <p:sp>
        <p:nvSpPr>
          <p:cNvPr id="8" name="BEIR takeaway"/>
          <p:cNvSpPr/>
          <p:nvPr/>
        </p:nvSpPr>
        <p:spPr>
          <a:xfrm>
            <a:off x="7863840" y="4023360"/>
            <a:ext cx="3776472" cy="2057400"/>
          </a:xfrm>
          <a:prstGeom prst="roundRect">
            <a:avLst>
              <a:gd name="adj" fmla="val 3556"/>
            </a:avLst>
          </a:prstGeom>
          <a:solidFill>
            <a:schemeClr val="tx1"/>
          </a:solidFill>
          <a:ln/>
        </p:spPr>
      </p:sp>
      <p:sp>
        <p:nvSpPr>
          <p:cNvPr id="9" name="Text 6"/>
          <p:cNvSpPr txBox="1"/>
          <p:nvPr/>
        </p:nvSpPr>
        <p:spPr>
          <a:xfrm>
            <a:off x="8092440" y="4206240"/>
            <a:ext cx="329184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TAKEAWAY</a:t>
            </a:r>
            <a:endParaRPr lang="en-US" sz="1100" dirty="0"/>
          </a:p>
        </p:txBody>
      </p:sp>
      <p:sp>
        <p:nvSpPr>
          <p:cNvPr id="10" name="Text 7"/>
          <p:cNvSpPr txBox="1"/>
          <p:nvPr/>
        </p:nvSpPr>
        <p:spPr>
          <a:xfrm>
            <a:off x="8092440" y="4526280"/>
            <a:ext cx="3383280" cy="1463040"/>
          </a:xfrm>
          <a:prstGeom prst="rect">
            <a:avLst/>
          </a:prstGeom>
          <a:noFill/>
          <a:ln/>
        </p:spPr>
        <p:txBody>
          <a:bodyPr wrap="square" lIns="0" tIns="0" rIns="0" bIns="0" rtlCol="0" anchor="t"/>
          <a:lstStyle/>
          <a:p>
            <a:pPr algn="l" indent="0" marL="0">
              <a:buNone/>
            </a:pPr>
            <a:r>
              <a:rPr lang="en-US" sz="1400" dirty="0">
                <a:solidFill>
                  <a:schemeClr val="bg1"/>
                </a:solidFill>
              </a:rPr>
              <a:t>Without in-domain training, BM25 is the bar to beat. Only re-ranking BM25’s own top hits with a cross-encoder clearly wins (+11%), at ~300× the CPU latency.</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PUBLISHED BENCHMARKS · MS MARCO + BEIR COST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Neural models win in-domain, at a steep cost</a:t>
            </a:r>
            <a:endParaRPr lang="en-US" sz="3200" dirty="0"/>
          </a:p>
        </p:txBody>
      </p:sp>
      <p:graphicFrame>
        <p:nvGraphicFramePr>
          <p:cNvPr id="4" name="Chart 0" descr=""/>
          <p:cNvGraphicFramePr/>
          <p:nvPr/>
        </p:nvGraphicFramePr>
        <p:xfrm>
          <a:off x="548640" y="1508760"/>
          <a:ext cx="585216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720840" y="1600200"/>
            <a:ext cx="4937760"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COST PER QUERY · 1M DOCUMENTS (BEIR, TABLE 3)</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720840" y="1920240"/>
          <a:ext cx="4919472" cy="914400"/>
        </p:xfrm>
        <a:graphic>
          <a:graphicData uri="http://schemas.openxmlformats.org/drawingml/2006/table">
            <a:tbl>
              <a:tblPr/>
              <a:tblGrid>
                <a:gridCol w="1691640"/>
                <a:gridCol w="2267712"/>
                <a:gridCol w="960120"/>
              </a:tblGrid>
              <a:tr h="502920">
                <a:tc>
                  <a:txBody>
                    <a:bodyPr/>
                    <a:lstStyle/>
                    <a:p>
                      <a:pPr indent="0" marL="0">
                        <a:buNone/>
                      </a:pPr>
                      <a:r>
                        <a:rPr lang="en-US" sz="1400" b="1" dirty="0">
                          <a:solidFill>
                            <a:schemeClr val="bg1"/>
                          </a:solidFill>
                          <a:latin typeface="+mn-lt" pitchFamily="34" charset="0"/>
                          <a:ea typeface="+mn-lt" pitchFamily="34" charset="-122"/>
                          <a:cs typeface="+mn-lt" pitchFamily="34" charset="-120"/>
                        </a:rPr>
                        <a:t>Model</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Latency</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Index</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502920">
                <a:tc>
                  <a:txBody>
                    <a:bodyPr/>
                    <a:lstStyle/>
                    <a:p>
                      <a:pPr indent="0" marL="0">
                        <a:buNone/>
                      </a:pPr>
                      <a:r>
                        <a:rPr lang="en-US" sz="1400" b="1" dirty="0">
                          <a:solidFill>
                            <a:schemeClr val="tx1"/>
                          </a:solidFill>
                          <a:latin typeface="+mn-lt" pitchFamily="34" charset="0"/>
                          <a:ea typeface="+mn-lt" pitchFamily="34" charset="-122"/>
                          <a:cs typeface="+mn-lt" pitchFamily="34" charset="-120"/>
                        </a:rPr>
                        <a:t>BM25</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indent="0" marL="0">
                        <a:buNone/>
                      </a:pPr>
                      <a:r>
                        <a:rPr lang="en-US" sz="1400" b="1" dirty="0">
                          <a:solidFill>
                            <a:schemeClr val="accent1"/>
                          </a:solidFill>
                          <a:latin typeface="+mn-lt" pitchFamily="34" charset="0"/>
                          <a:ea typeface="+mn-lt" pitchFamily="34" charset="-122"/>
                          <a:cs typeface="+mn-lt" pitchFamily="34" charset="-120"/>
                        </a:rPr>
                        <a:t>20 ms (CPU)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indent="0" marL="0">
                        <a:buNone/>
                      </a:pPr>
                      <a:r>
                        <a:rPr lang="en-US" sz="1400" b="1" dirty="0">
                          <a:solidFill>
                            <a:schemeClr val="accent1"/>
                          </a:solidFill>
                          <a:latin typeface="+mn-lt" pitchFamily="34" charset="0"/>
                          <a:ea typeface="+mn-lt" pitchFamily="34" charset="-122"/>
                          <a:cs typeface="+mn-lt" pitchFamily="34" charset="-120"/>
                        </a:rPr>
                        <a:t>0.4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r>
              <a:tr h="502920">
                <a:tc>
                  <a:txBody>
                    <a:bodyPr/>
                    <a:lstStyle/>
                    <a:p>
                      <a:pPr indent="0" marL="0">
                        <a:buNone/>
                      </a:pPr>
                      <a:r>
                        <a:rPr lang="en-US" sz="1400" b="1" dirty="0">
                          <a:solidFill>
                            <a:schemeClr val="tx1"/>
                          </a:solidFill>
                          <a:latin typeface="+mn-lt" pitchFamily="34" charset="0"/>
                          <a:ea typeface="+mn-lt" pitchFamily="34" charset="-122"/>
                          <a:cs typeface="+mn-lt" pitchFamily="34" charset="-120"/>
                        </a:rPr>
                        <a:t>DPR (dense)</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230 ms CPU · 19 ms GPU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3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latin typeface="+mn-lt" pitchFamily="34" charset="0"/>
                          <a:ea typeface="+mn-lt" pitchFamily="34" charset="-122"/>
                          <a:cs typeface="+mn-lt" pitchFamily="34" charset="-120"/>
                        </a:rPr>
                        <a:t>ColBERT</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350 ms (GPU)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20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latin typeface="+mn-lt" pitchFamily="34" charset="0"/>
                          <a:ea typeface="+mn-lt" pitchFamily="34" charset="-122"/>
                          <a:cs typeface="+mn-lt" pitchFamily="34" charset="-120"/>
                        </a:rPr>
                        <a:t>BM25 + cross-encoder</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6.1 s CPU · 450 ms GPU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0.4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7" name="Cost takeaway"/>
          <p:cNvSpPr/>
          <p:nvPr/>
        </p:nvSpPr>
        <p:spPr>
          <a:xfrm>
            <a:off x="6720840" y="4663440"/>
            <a:ext cx="4919472" cy="1143000"/>
          </a:xfrm>
          <a:prstGeom prst="roundRect">
            <a:avLst>
              <a:gd name="adj" fmla="val 6400"/>
            </a:avLst>
          </a:prstGeom>
          <a:solidFill>
            <a:schemeClr val="tx1"/>
          </a:solidFill>
          <a:ln/>
        </p:spPr>
      </p:sp>
      <p:sp>
        <p:nvSpPr>
          <p:cNvPr id="8" name="Text 4"/>
          <p:cNvSpPr txBox="1"/>
          <p:nvPr/>
        </p:nvSpPr>
        <p:spPr>
          <a:xfrm>
            <a:off x="6949440" y="4663440"/>
            <a:ext cx="4480560" cy="1143000"/>
          </a:xfrm>
          <a:prstGeom prst="rect">
            <a:avLst/>
          </a:prstGeom>
          <a:noFill/>
          <a:ln/>
        </p:spPr>
        <p:txBody>
          <a:bodyPr wrap="square" lIns="0" tIns="0" rIns="0" bIns="0" rtlCol="0" anchor="ctr"/>
          <a:lstStyle/>
          <a:p>
            <a:pPr algn="l" indent="0" marL="0">
              <a:buNone/>
            </a:pPr>
            <a:r>
              <a:rPr lang="en-US" sz="1300" dirty="0">
                <a:solidFill>
                  <a:schemeClr val="bg1"/>
                </a:solidFill>
              </a:rPr>
              <a:t>With 500k training labels and GPUs, neural ranking roughly doubles BM25’s MRR. Enron offers neither, and the best systems still keep BM25 inside (hybrid, re-ranking).</a:t>
            </a:r>
            <a:endParaRPr lang="en-US" sz="1300" dirty="0"/>
          </a:p>
        </p:txBody>
      </p:sp>
      <p:sp>
        <p:nvSpPr>
          <p:cNvPr id="9" name="Text 5"/>
          <p:cNvSpPr txBox="1"/>
          <p:nvPr/>
        </p:nvSpPr>
        <p:spPr>
          <a:xfrm>
            <a:off x="548640" y="594360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Sources: Lin et al., “Pyserini”, SIGIR 2021 (Table 1, MS MARCO dev); Thakur et al., “BEIR”, NeurIPS 2021 (Table 3, 1M DBPedia docs).</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lIns="0" tIns="0" rIns="0" bIns="0" rtlCol="0"/>
          <a:lstStyle/>
          <a:p>
            <a:pPr indent="0" marL="0">
              <a:buNone/>
            </a:pPr>
            <a:r>
              <a:rPr lang="en-US" sz="6000" b="1" dirty="0">
                <a:solidFill>
                  <a:schemeClr val="accent1"/>
                </a:solidFill>
              </a:rPr>
              <a:t>04</a:t>
            </a: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lIns="0" tIns="0" rIns="0" bIns="0" rtlCol="0"/>
          <a:lstStyle/>
          <a:p>
            <a:pPr algn="l" indent="0" marL="0">
              <a:buNone/>
            </a:pPr>
            <a:r>
              <a:rPr lang="en-US" sz="4400" b="1" dirty="0">
                <a:solidFill>
                  <a:schemeClr val="bg1"/>
                </a:solidFill>
              </a:rPr>
              <a:t>Why BM25</a:t>
            </a: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lIns="0" tIns="0" rIns="0" bIns="0" rtlCol="0" anchor="t"/>
          <a:lstStyle/>
          <a:p>
            <a:pPr indent="0" marL="0">
              <a:buNone/>
            </a:pPr>
            <a:r>
              <a:rPr lang="en-US" sz="2000" dirty="0">
                <a:solidFill>
                  <a:schemeClr val="accent5"/>
                </a:solidFill>
              </a:rPr>
              <a:t>Putting quality, cost and constraints together</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DECISION MATRIX</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Scoring the options against what this project needs</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044952"/>
                <a:gridCol w="1344168"/>
                <a:gridCol w="1344168"/>
                <a:gridCol w="1344168"/>
                <a:gridCol w="1344168"/>
                <a:gridCol w="1344168"/>
                <a:gridCol w="1325880"/>
              </a:tblGrid>
              <a:tr h="475488">
                <a:tc>
                  <a:txBody>
                    <a:bodyPr/>
                    <a:lstStyle/>
                    <a:p>
                      <a:pPr algn="l" indent="0" marL="0">
                        <a:buNone/>
                      </a:pPr>
                      <a:r>
                        <a:rPr lang="en-US" sz="1400" b="1" dirty="0">
                          <a:solidFill>
                            <a:schemeClr val="bg1"/>
                          </a:solidFill>
                          <a:latin typeface="+mn-lt" pitchFamily="34" charset="0"/>
                          <a:ea typeface="+mn-lt" pitchFamily="34" charset="-122"/>
                          <a:cs typeface="+mn-lt" pitchFamily="34" charset="-120"/>
                        </a:rPr>
                        <a:t>Algorithm</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Ranks results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No training data</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Laptop CPU</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Fast at 251k</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Explainable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latin typeface="+mn-lt" pitchFamily="34" charset="0"/>
                          <a:ea typeface="+mn-lt" pitchFamily="34" charset="-122"/>
                          <a:cs typeface="+mn-lt" pitchFamily="34" charset="-120"/>
                        </a:rPr>
                        <a:t>Synonyms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Boolean search</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TF-IDF + cosine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accent1"/>
                          </a:solidFill>
                          <a:latin typeface="+mn-lt" pitchFamily="34" charset="0"/>
                          <a:ea typeface="+mn-lt" pitchFamily="34" charset="-122"/>
                          <a:cs typeface="+mn-lt" pitchFamily="34" charset="-120"/>
                        </a:rPr>
                        <a:t>BM25</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Query likelihood (LM)</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LSA / LSI</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Dense embeddings + FAISS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BERT cross-encoder re-rank</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4"/>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mn-lt" pitchFamily="34" charset="0"/>
                          <a:ea typeface="+mn-lt" pitchFamily="34" charset="-122"/>
                          <a:cs typeface="+mn-lt" pitchFamily="34" charset="-120"/>
                        </a:rPr>
                        <a:t>Hybrid BM25 + dense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rgbClr val="D99A1E"/>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latin typeface="+mn-lt" pitchFamily="34" charset="0"/>
                          <a:ea typeface="+mn-lt" pitchFamily="34" charset="-122"/>
                          <a:cs typeface="+mn-lt" pitchFamily="34" charset="-120"/>
                        </a:rPr>
                        <a:t>✓</a:t>
                      </a:r>
                      <a:endParaRPr lang="en-US" sz="18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5943600"/>
            <a:ext cx="11094415" cy="320040"/>
          </a:xfrm>
          <a:prstGeom prst="rect">
            <a:avLst/>
          </a:prstGeom>
          <a:noFill/>
          <a:ln/>
        </p:spPr>
        <p:txBody>
          <a:bodyPr wrap="square" lIns="0" tIns="0" rIns="0" bIns="0" rtlCol="0" anchor="t"/>
          <a:lstStyle/>
          <a:p>
            <a:pPr algn="l" indent="0" marL="0">
              <a:buNone/>
            </a:pPr>
            <a:r>
              <a:rPr lang="en-US" sz="1300" b="1" dirty="0">
                <a:solidFill>
                  <a:schemeClr val="accent3"/>
                </a:solidFill>
              </a:rPr>
              <a:t>✓ yes   </a:t>
            </a:r>
            <a:pPr algn="l" indent="0" marL="0">
              <a:buNone/>
            </a:pPr>
            <a:r>
              <a:rPr lang="en-US" sz="1300" b="1" dirty="0">
                <a:solidFill>
                  <a:srgbClr val="D99A1E"/>
                </a:solidFill>
              </a:rPr>
              <a:t>~ partly   </a:t>
            </a:r>
            <a:pPr algn="l" indent="0" marL="0">
              <a:buNone/>
            </a:pPr>
            <a:r>
              <a:rPr lang="en-US" sz="1300" b="1" dirty="0">
                <a:solidFill>
                  <a:schemeClr val="accent4"/>
                </a:solidFill>
              </a:rPr>
              <a:t>✗ no   </a:t>
            </a:r>
            <a:pPr algn="l" indent="0" marL="0">
              <a:buNone/>
            </a:pPr>
            <a:r>
              <a:rPr lang="en-US" sz="1300" dirty="0">
                <a:solidFill>
                  <a:schemeClr val="tx2"/>
                </a:solidFill>
              </a:rPr>
              <a:t>·  BM25 is the only option with no ✗ except synonyms, which no lexical method handles.</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WHY BM25</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Why BM25 is the right choice for this project</a:t>
            </a:r>
            <a:endParaRPr lang="en-US" sz="3200" dirty="0"/>
          </a:p>
        </p:txBody>
      </p:sp>
      <p:sp>
        <p:nvSpPr>
          <p:cNvPr id="4" name="Icon circle"/>
          <p:cNvSpPr/>
          <p:nvPr/>
        </p:nvSpPr>
        <p:spPr>
          <a:xfrm>
            <a:off x="548640" y="1618488"/>
            <a:ext cx="621792" cy="621792"/>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704088" y="1773936"/>
            <a:ext cx="310896" cy="310896"/>
          </a:xfrm>
          <a:prstGeom prst="rect">
            <a:avLst/>
          </a:prstGeom>
        </p:spPr>
      </p:pic>
      <p:sp>
        <p:nvSpPr>
          <p:cNvPr id="6" name="Text 3"/>
          <p:cNvSpPr txBox="1"/>
          <p:nvPr/>
        </p:nvSpPr>
        <p:spPr>
          <a:xfrm>
            <a:off x="1417320" y="1572768"/>
            <a:ext cx="6035040" cy="347472"/>
          </a:xfrm>
          <a:prstGeom prst="rect">
            <a:avLst/>
          </a:prstGeom>
          <a:noFill/>
          <a:ln/>
        </p:spPr>
        <p:txBody>
          <a:bodyPr wrap="square" lIns="0" tIns="0" rIns="0" bIns="0" rtlCol="0" anchor="t"/>
          <a:lstStyle/>
          <a:p>
            <a:pPr algn="l" indent="0" marL="0">
              <a:buNone/>
            </a:pPr>
            <a:r>
              <a:rPr lang="en-US" sz="1800" b="1" dirty="0">
                <a:solidFill>
                  <a:schemeClr val="tx1"/>
                </a:solidFill>
              </a:rPr>
              <a:t>Better ranking</a:t>
            </a:r>
            <a:endParaRPr lang="en-US" sz="1800" dirty="0"/>
          </a:p>
        </p:txBody>
      </p:sp>
      <p:sp>
        <p:nvSpPr>
          <p:cNvPr id="7" name="Text 4"/>
          <p:cNvSpPr txBox="1"/>
          <p:nvPr/>
        </p:nvSpPr>
        <p:spPr>
          <a:xfrm>
            <a:off x="1417320" y="1920240"/>
            <a:ext cx="6217920" cy="457200"/>
          </a:xfrm>
          <a:prstGeom prst="rect">
            <a:avLst/>
          </a:prstGeom>
          <a:noFill/>
          <a:ln/>
        </p:spPr>
        <p:txBody>
          <a:bodyPr wrap="square" lIns="0" tIns="0" rIns="0" bIns="0" rtlCol="0" anchor="t"/>
          <a:lstStyle/>
          <a:p>
            <a:pPr algn="l" indent="0" marL="0">
              <a:buNone/>
            </a:pPr>
            <a:r>
              <a:rPr lang="en-US" sz="1400" dirty="0">
                <a:solidFill>
                  <a:schemeClr val="tx2"/>
                </a:solidFill>
              </a:rPr>
              <a:t>Saturation + gentle length norm: +4.1% nDCG@10 on Cranfield; informative emails first on Enron</a:t>
            </a:r>
            <a:endParaRPr lang="en-US" sz="1400" dirty="0"/>
          </a:p>
        </p:txBody>
      </p:sp>
      <p:sp>
        <p:nvSpPr>
          <p:cNvPr id="8" name="Icon circle"/>
          <p:cNvSpPr/>
          <p:nvPr/>
        </p:nvSpPr>
        <p:spPr>
          <a:xfrm>
            <a:off x="548640" y="2505456"/>
            <a:ext cx="621792" cy="621792"/>
          </a:xfrm>
          <a:prstGeom prst="ellipse">
            <a:avLst/>
          </a:prstGeom>
          <a:solidFill>
            <a:schemeClr val="accent1"/>
          </a:solidFill>
          <a:ln/>
        </p:spPr>
      </p:sp>
      <p:pic>
        <p:nvPicPr>
          <p:cNvPr id="9" name="Image 1" descr="icon">    </p:cNvPr>
          <p:cNvPicPr>
            <a:picLocks noChangeAspect="1"/>
          </p:cNvPicPr>
          <p:nvPr/>
        </p:nvPicPr>
        <p:blipFill>
          <a:blip r:embed="rId2"/>
          <a:stretch>
            <a:fillRect/>
          </a:stretch>
        </p:blipFill>
        <p:spPr>
          <a:xfrm>
            <a:off x="704088" y="2660904"/>
            <a:ext cx="310896" cy="310896"/>
          </a:xfrm>
          <a:prstGeom prst="rect">
            <a:avLst/>
          </a:prstGeom>
        </p:spPr>
      </p:pic>
      <p:sp>
        <p:nvSpPr>
          <p:cNvPr id="10" name="Text 6"/>
          <p:cNvSpPr txBox="1"/>
          <p:nvPr/>
        </p:nvSpPr>
        <p:spPr>
          <a:xfrm>
            <a:off x="1417320" y="2459736"/>
            <a:ext cx="6035040" cy="347472"/>
          </a:xfrm>
          <a:prstGeom prst="rect">
            <a:avLst/>
          </a:prstGeom>
          <a:noFill/>
          <a:ln/>
        </p:spPr>
        <p:txBody>
          <a:bodyPr wrap="square" lIns="0" tIns="0" rIns="0" bIns="0" rtlCol="0" anchor="t"/>
          <a:lstStyle/>
          <a:p>
            <a:pPr algn="l" indent="0" marL="0">
              <a:buNone/>
            </a:pPr>
            <a:r>
              <a:rPr lang="en-US" sz="1800" b="1" dirty="0">
                <a:solidFill>
                  <a:schemeClr val="tx1"/>
                </a:solidFill>
              </a:rPr>
              <a:t>Faster</a:t>
            </a:r>
            <a:endParaRPr lang="en-US" sz="1800" dirty="0"/>
          </a:p>
        </p:txBody>
      </p:sp>
      <p:sp>
        <p:nvSpPr>
          <p:cNvPr id="11" name="Text 7"/>
          <p:cNvSpPr txBox="1"/>
          <p:nvPr/>
        </p:nvSpPr>
        <p:spPr>
          <a:xfrm>
            <a:off x="1417320" y="2807208"/>
            <a:ext cx="6217920" cy="457200"/>
          </a:xfrm>
          <a:prstGeom prst="rect">
            <a:avLst/>
          </a:prstGeom>
          <a:noFill/>
          <a:ln/>
        </p:spPr>
        <p:txBody>
          <a:bodyPr wrap="square" lIns="0" tIns="0" rIns="0" bIns="0" rtlCol="0" anchor="t"/>
          <a:lstStyle/>
          <a:p>
            <a:pPr algn="l" indent="0" marL="0">
              <a:buNone/>
            </a:pPr>
            <a:r>
              <a:rPr lang="en-US" sz="1400" dirty="0">
                <a:solidFill>
                  <a:schemeClr val="tx2"/>
                </a:solidFill>
              </a:rPr>
              <a:t>Inverted index scores only matching emails: 5 ms vs 40 ms per query</a:t>
            </a:r>
            <a:endParaRPr lang="en-US" sz="1400" dirty="0"/>
          </a:p>
        </p:txBody>
      </p:sp>
      <p:sp>
        <p:nvSpPr>
          <p:cNvPr id="12" name="Icon circle"/>
          <p:cNvSpPr/>
          <p:nvPr/>
        </p:nvSpPr>
        <p:spPr>
          <a:xfrm>
            <a:off x="548640" y="3392424"/>
            <a:ext cx="621792" cy="621792"/>
          </a:xfrm>
          <a:prstGeom prst="ellipse">
            <a:avLst/>
          </a:prstGeom>
          <a:solidFill>
            <a:schemeClr val="accent1"/>
          </a:solidFill>
          <a:ln/>
        </p:spPr>
      </p:sp>
      <p:pic>
        <p:nvPicPr>
          <p:cNvPr id="13" name="Image 2" descr="icon">    </p:cNvPr>
          <p:cNvPicPr>
            <a:picLocks noChangeAspect="1"/>
          </p:cNvPicPr>
          <p:nvPr/>
        </p:nvPicPr>
        <p:blipFill>
          <a:blip r:embed="rId3"/>
          <a:stretch>
            <a:fillRect/>
          </a:stretch>
        </p:blipFill>
        <p:spPr>
          <a:xfrm>
            <a:off x="704088" y="3547872"/>
            <a:ext cx="310896" cy="310896"/>
          </a:xfrm>
          <a:prstGeom prst="rect">
            <a:avLst/>
          </a:prstGeom>
        </p:spPr>
      </p:pic>
      <p:sp>
        <p:nvSpPr>
          <p:cNvPr id="14" name="Text 9"/>
          <p:cNvSpPr txBox="1"/>
          <p:nvPr/>
        </p:nvSpPr>
        <p:spPr>
          <a:xfrm>
            <a:off x="1417320" y="3346704"/>
            <a:ext cx="6035040" cy="347472"/>
          </a:xfrm>
          <a:prstGeom prst="rect">
            <a:avLst/>
          </a:prstGeom>
          <a:noFill/>
          <a:ln/>
        </p:spPr>
        <p:txBody>
          <a:bodyPr wrap="square" lIns="0" tIns="0" rIns="0" bIns="0" rtlCol="0" anchor="t"/>
          <a:lstStyle/>
          <a:p>
            <a:pPr algn="l" indent="0" marL="0">
              <a:buNone/>
            </a:pPr>
            <a:r>
              <a:rPr lang="en-US" sz="1800" b="1" dirty="0">
                <a:solidFill>
                  <a:schemeClr val="tx1"/>
                </a:solidFill>
              </a:rPr>
              <a:t>No training data</a:t>
            </a:r>
            <a:endParaRPr lang="en-US" sz="1800" dirty="0"/>
          </a:p>
        </p:txBody>
      </p:sp>
      <p:sp>
        <p:nvSpPr>
          <p:cNvPr id="15" name="Text 10"/>
          <p:cNvSpPr txBox="1"/>
          <p:nvPr/>
        </p:nvSpPr>
        <p:spPr>
          <a:xfrm>
            <a:off x="1417320" y="3694176"/>
            <a:ext cx="6217920" cy="457200"/>
          </a:xfrm>
          <a:prstGeom prst="rect">
            <a:avLst/>
          </a:prstGeom>
          <a:noFill/>
          <a:ln/>
        </p:spPr>
        <p:txBody>
          <a:bodyPr wrap="square" lIns="0" tIns="0" rIns="0" bIns="0" rtlCol="0" anchor="t"/>
          <a:lstStyle/>
          <a:p>
            <a:pPr algn="l" indent="0" marL="0">
              <a:buNone/>
            </a:pPr>
            <a:r>
              <a:rPr lang="en-US" sz="1400" dirty="0">
                <a:solidFill>
                  <a:schemeClr val="tx2"/>
                </a:solidFill>
              </a:rPr>
              <a:t>Two parameters, and the defaults are within 2% of the tuned best</a:t>
            </a:r>
            <a:endParaRPr lang="en-US" sz="1400" dirty="0"/>
          </a:p>
        </p:txBody>
      </p:sp>
      <p:sp>
        <p:nvSpPr>
          <p:cNvPr id="16" name="Icon circle"/>
          <p:cNvSpPr/>
          <p:nvPr/>
        </p:nvSpPr>
        <p:spPr>
          <a:xfrm>
            <a:off x="548640" y="4279392"/>
            <a:ext cx="621792" cy="621792"/>
          </a:xfrm>
          <a:prstGeom prst="ellipse">
            <a:avLst/>
          </a:prstGeom>
          <a:solidFill>
            <a:schemeClr val="accent1"/>
          </a:solidFill>
          <a:ln/>
        </p:spPr>
      </p:sp>
      <p:pic>
        <p:nvPicPr>
          <p:cNvPr id="17" name="Image 3" descr="icon">    </p:cNvPr>
          <p:cNvPicPr>
            <a:picLocks noChangeAspect="1"/>
          </p:cNvPicPr>
          <p:nvPr/>
        </p:nvPicPr>
        <p:blipFill>
          <a:blip r:embed="rId4"/>
          <a:stretch>
            <a:fillRect/>
          </a:stretch>
        </p:blipFill>
        <p:spPr>
          <a:xfrm>
            <a:off x="704088" y="4434840"/>
            <a:ext cx="310896" cy="310896"/>
          </a:xfrm>
          <a:prstGeom prst="rect">
            <a:avLst/>
          </a:prstGeom>
        </p:spPr>
      </p:pic>
      <p:sp>
        <p:nvSpPr>
          <p:cNvPr id="18" name="Text 12"/>
          <p:cNvSpPr txBox="1"/>
          <p:nvPr/>
        </p:nvSpPr>
        <p:spPr>
          <a:xfrm>
            <a:off x="1417320" y="4233672"/>
            <a:ext cx="6035040" cy="347472"/>
          </a:xfrm>
          <a:prstGeom prst="rect">
            <a:avLst/>
          </a:prstGeom>
          <a:noFill/>
          <a:ln/>
        </p:spPr>
        <p:txBody>
          <a:bodyPr wrap="square" lIns="0" tIns="0" rIns="0" bIns="0" rtlCol="0" anchor="t"/>
          <a:lstStyle/>
          <a:p>
            <a:pPr algn="l" indent="0" marL="0">
              <a:buNone/>
            </a:pPr>
            <a:r>
              <a:rPr lang="en-US" sz="1800" b="1" dirty="0">
                <a:solidFill>
                  <a:schemeClr val="tx1"/>
                </a:solidFill>
              </a:rPr>
              <a:t>Robust on unseen domains</a:t>
            </a:r>
            <a:endParaRPr lang="en-US" sz="1800" dirty="0"/>
          </a:p>
        </p:txBody>
      </p:sp>
      <p:sp>
        <p:nvSpPr>
          <p:cNvPr id="19" name="Text 13"/>
          <p:cNvSpPr txBox="1"/>
          <p:nvPr/>
        </p:nvSpPr>
        <p:spPr>
          <a:xfrm>
            <a:off x="1417320" y="4581144"/>
            <a:ext cx="6217920" cy="457200"/>
          </a:xfrm>
          <a:prstGeom prst="rect">
            <a:avLst/>
          </a:prstGeom>
          <a:noFill/>
          <a:ln/>
        </p:spPr>
        <p:txBody>
          <a:bodyPr wrap="square" lIns="0" tIns="0" rIns="0" bIns="0" rtlCol="0" anchor="t"/>
          <a:lstStyle/>
          <a:p>
            <a:pPr algn="l" indent="0" marL="0">
              <a:buNone/>
            </a:pPr>
            <a:r>
              <a:rPr lang="en-US" sz="1400" dirty="0">
                <a:solidFill>
                  <a:schemeClr val="tx2"/>
                </a:solidFill>
              </a:rPr>
              <a:t>On BEIR it beats DPR, ANCE and TAS-B zero-shot</a:t>
            </a:r>
            <a:endParaRPr lang="en-US" sz="1400" dirty="0"/>
          </a:p>
        </p:txBody>
      </p:sp>
      <p:sp>
        <p:nvSpPr>
          <p:cNvPr id="20" name="Icon circle"/>
          <p:cNvSpPr/>
          <p:nvPr/>
        </p:nvSpPr>
        <p:spPr>
          <a:xfrm>
            <a:off x="548640" y="5166360"/>
            <a:ext cx="621792" cy="621792"/>
          </a:xfrm>
          <a:prstGeom prst="ellipse">
            <a:avLst/>
          </a:prstGeom>
          <a:solidFill>
            <a:schemeClr val="accent1"/>
          </a:solidFill>
          <a:ln/>
        </p:spPr>
      </p:sp>
      <p:pic>
        <p:nvPicPr>
          <p:cNvPr id="21" name="Image 4" descr="icon">    </p:cNvPr>
          <p:cNvPicPr>
            <a:picLocks noChangeAspect="1"/>
          </p:cNvPicPr>
          <p:nvPr/>
        </p:nvPicPr>
        <p:blipFill>
          <a:blip r:embed="rId5"/>
          <a:stretch>
            <a:fillRect/>
          </a:stretch>
        </p:blipFill>
        <p:spPr>
          <a:xfrm>
            <a:off x="704088" y="5321808"/>
            <a:ext cx="310896" cy="310896"/>
          </a:xfrm>
          <a:prstGeom prst="rect">
            <a:avLst/>
          </a:prstGeom>
        </p:spPr>
      </p:pic>
      <p:sp>
        <p:nvSpPr>
          <p:cNvPr id="22" name="Text 15"/>
          <p:cNvSpPr txBox="1"/>
          <p:nvPr/>
        </p:nvSpPr>
        <p:spPr>
          <a:xfrm>
            <a:off x="1417320" y="5120640"/>
            <a:ext cx="6035040" cy="347472"/>
          </a:xfrm>
          <a:prstGeom prst="rect">
            <a:avLst/>
          </a:prstGeom>
          <a:noFill/>
          <a:ln/>
        </p:spPr>
        <p:txBody>
          <a:bodyPr wrap="square" lIns="0" tIns="0" rIns="0" bIns="0" rtlCol="0" anchor="t"/>
          <a:lstStyle/>
          <a:p>
            <a:pPr algn="l" indent="0" marL="0">
              <a:buNone/>
            </a:pPr>
            <a:r>
              <a:rPr lang="en-US" sz="1800" b="1" dirty="0">
                <a:solidFill>
                  <a:schemeClr val="tx1"/>
                </a:solidFill>
              </a:rPr>
              <a:t>Cheap, explainable, standard</a:t>
            </a:r>
            <a:endParaRPr lang="en-US" sz="1800" dirty="0"/>
          </a:p>
        </p:txBody>
      </p:sp>
      <p:sp>
        <p:nvSpPr>
          <p:cNvPr id="23" name="Text 16"/>
          <p:cNvSpPr txBox="1"/>
          <p:nvPr/>
        </p:nvSpPr>
        <p:spPr>
          <a:xfrm>
            <a:off x="1417320" y="5468112"/>
            <a:ext cx="6217920" cy="457200"/>
          </a:xfrm>
          <a:prstGeom prst="rect">
            <a:avLst/>
          </a:prstGeom>
          <a:noFill/>
          <a:ln/>
        </p:spPr>
        <p:txBody>
          <a:bodyPr wrap="square" lIns="0" tIns="0" rIns="0" bIns="0" rtlCol="0" anchor="t"/>
          <a:lstStyle/>
          <a:p>
            <a:pPr algn="l" indent="0" marL="0">
              <a:buNone/>
            </a:pPr>
            <a:r>
              <a:rPr lang="en-US" sz="1400" dirty="0">
                <a:solidFill>
                  <a:schemeClr val="tx2"/>
                </a:solidFill>
              </a:rPr>
              <a:t>~15 lines of NumPy, CPU only; default in Lucene, Elasticsearch, Solr</a:t>
            </a:r>
            <a:endParaRPr lang="en-US" sz="1400" dirty="0"/>
          </a:p>
        </p:txBody>
      </p:sp>
      <p:sp>
        <p:nvSpPr>
          <p:cNvPr id="24" name="When not BM25"/>
          <p:cNvSpPr/>
          <p:nvPr/>
        </p:nvSpPr>
        <p:spPr>
          <a:xfrm>
            <a:off x="7863840" y="1572768"/>
            <a:ext cx="3776472" cy="4434840"/>
          </a:xfrm>
          <a:prstGeom prst="roundRect">
            <a:avLst>
              <a:gd name="adj" fmla="val 1937"/>
            </a:avLst>
          </a:prstGeom>
          <a:solidFill>
            <a:schemeClr val="tx1"/>
          </a:solidFill>
          <a:ln/>
        </p:spPr>
      </p:sp>
      <p:sp>
        <p:nvSpPr>
          <p:cNvPr id="25" name="Text 18"/>
          <p:cNvSpPr txBox="1"/>
          <p:nvPr/>
        </p:nvSpPr>
        <p:spPr>
          <a:xfrm>
            <a:off x="8092440" y="1783080"/>
            <a:ext cx="338328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WHEN WE’D PICK SOMETHING ELSE</a:t>
            </a:r>
            <a:endParaRPr lang="en-US" sz="1100" dirty="0"/>
          </a:p>
        </p:txBody>
      </p:sp>
      <p:sp>
        <p:nvSpPr>
          <p:cNvPr id="26" name="Text 19"/>
          <p:cNvSpPr txBox="1"/>
          <p:nvPr/>
        </p:nvSpPr>
        <p:spPr>
          <a:xfrm>
            <a:off x="8092440" y="2148840"/>
            <a:ext cx="3383280" cy="3749040"/>
          </a:xfrm>
          <a:prstGeom prst="rect">
            <a:avLst/>
          </a:prstGeom>
          <a:noFill/>
          <a:ln/>
        </p:spPr>
        <p:txBody>
          <a:bodyPr wrap="square" lIns="0" tIns="0" rIns="0" bIns="0" rtlCol="0" anchor="t"/>
          <a:lstStyle/>
          <a:p>
            <a:pPr indent="0" marL="0">
              <a:buNone/>
            </a:pPr>
            <a:r>
              <a:rPr lang="en-US" sz="1500" b="1" dirty="0">
                <a:solidFill>
                  <a:schemeClr val="accent1"/>
                </a:solidFill>
              </a:rPr>
              <a:t>Need synonyms?</a:t>
            </a:r>
            <a:endParaRPr lang="en-US" sz="1500" dirty="0"/>
          </a:p>
          <a:p>
            <a:pPr indent="0" marL="0">
              <a:spcAft>
                <a:spcPts val="1400"/>
              </a:spcAft>
              <a:buNone/>
            </a:pPr>
            <a:r>
              <a:rPr lang="en-US" sz="1400" dirty="0">
                <a:solidFill>
                  <a:schemeClr val="bg1"/>
                </a:solidFill>
              </a:rPr>
              <a:t>“layoffs” ↔ “job cuts” → add dense embeddings (hybrid)</a:t>
            </a:r>
            <a:endParaRPr lang="en-US" sz="1500" dirty="0"/>
          </a:p>
          <a:p>
            <a:pPr indent="0" marL="0">
              <a:buNone/>
            </a:pPr>
            <a:r>
              <a:rPr lang="en-US" sz="1500" b="1" dirty="0">
                <a:solidFill>
                  <a:schemeClr val="accent1"/>
                </a:solidFill>
              </a:rPr>
              <a:t>Have labels + GPU?</a:t>
            </a:r>
            <a:endParaRPr lang="en-US" sz="1500" dirty="0"/>
          </a:p>
          <a:p>
            <a:pPr indent="0" marL="0">
              <a:spcAft>
                <a:spcPts val="1400"/>
              </a:spcAft>
              <a:buNone/>
            </a:pPr>
            <a:r>
              <a:rPr lang="en-US" sz="1400" dirty="0">
                <a:solidFill>
                  <a:schemeClr val="bg1"/>
                </a:solidFill>
              </a:rPr>
              <a:t>re-rank BM25’s top 100 with a cross-encoder</a:t>
            </a:r>
            <a:endParaRPr lang="en-US" sz="1500" dirty="0"/>
          </a:p>
          <a:p>
            <a:pPr indent="0" marL="0">
              <a:buNone/>
            </a:pPr>
            <a:r>
              <a:rPr lang="en-US" sz="1500" b="1" dirty="0">
                <a:solidFill>
                  <a:schemeClr val="accent1"/>
                </a:solidFill>
              </a:rPr>
              <a:t>Millions of emails?</a:t>
            </a:r>
            <a:endParaRPr lang="en-US" sz="1500" dirty="0"/>
          </a:p>
          <a:p>
            <a:pPr indent="0" marL="0">
              <a:spcAft>
                <a:spcPts val="1400"/>
              </a:spcAft>
              <a:buNone/>
            </a:pPr>
            <a:r>
              <a:rPr lang="en-US" sz="1400" dirty="0">
                <a:solidFill>
                  <a:schemeClr val="bg1"/>
                </a:solidFill>
              </a:rPr>
              <a:t>Elasticsearch: same BM25, on-disk index</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INSIGHTS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What the searches taught us</a:t>
            </a:r>
            <a:endParaRPr lang="en-US" sz="3200" dirty="0"/>
          </a:p>
        </p:txBody>
      </p:sp>
      <p:sp>
        <p:nvSpPr>
          <p:cNvPr id="4" name="Insight"/>
          <p:cNvSpPr/>
          <p:nvPr/>
        </p:nvSpPr>
        <p:spPr>
          <a:xfrm>
            <a:off x="548640" y="1600200"/>
            <a:ext cx="3515258" cy="2057400"/>
          </a:xfrm>
          <a:prstGeom prst="roundRect">
            <a:avLst>
              <a:gd name="adj" fmla="val 3556"/>
            </a:avLst>
          </a:prstGeom>
          <a:solidFill>
            <a:schemeClr val="bg2"/>
          </a:solidFill>
          <a:ln/>
        </p:spPr>
      </p:sp>
      <p:sp>
        <p:nvSpPr>
          <p:cNvPr id="5" name="Text 3"/>
          <p:cNvSpPr txBox="1"/>
          <p:nvPr/>
        </p:nvSpPr>
        <p:spPr>
          <a:xfrm>
            <a:off x="822960" y="1874520"/>
            <a:ext cx="2966618" cy="731520"/>
          </a:xfrm>
          <a:prstGeom prst="rect">
            <a:avLst/>
          </a:prstGeom>
          <a:noFill/>
          <a:ln/>
        </p:spPr>
        <p:txBody>
          <a:bodyPr wrap="square" lIns="0" tIns="0" rIns="0" bIns="0" rtlCol="0" anchor="t"/>
          <a:lstStyle/>
          <a:p>
            <a:pPr algn="l" indent="0" marL="0">
              <a:buNone/>
            </a:pPr>
            <a:r>
              <a:rPr lang="en-US" sz="1700" b="1" dirty="0">
                <a:solidFill>
                  <a:schemeClr val="tx1"/>
                </a:solidFill>
              </a:rPr>
              <a:t>1 · TF-IDF favours tiny emails</a:t>
            </a:r>
            <a:endParaRPr lang="en-US" sz="1700" dirty="0"/>
          </a:p>
        </p:txBody>
      </p:sp>
      <p:sp>
        <p:nvSpPr>
          <p:cNvPr id="6" name="Text 4"/>
          <p:cNvSpPr txBox="1"/>
          <p:nvPr/>
        </p:nvSpPr>
        <p:spPr>
          <a:xfrm>
            <a:off x="822960" y="2651760"/>
            <a:ext cx="2966618" cy="868680"/>
          </a:xfrm>
          <a:prstGeom prst="rect">
            <a:avLst/>
          </a:prstGeom>
          <a:noFill/>
          <a:ln/>
        </p:spPr>
        <p:txBody>
          <a:bodyPr wrap="square" lIns="0" tIns="0" rIns="0" bIns="0" rtlCol="0" anchor="t"/>
          <a:lstStyle/>
          <a:p>
            <a:pPr algn="l" indent="0" marL="0">
              <a:buNone/>
            </a:pPr>
            <a:r>
              <a:rPr lang="en-US" sz="1400" dirty="0">
                <a:solidFill>
                  <a:schemeClr val="tx2"/>
                </a:solidFill>
              </a:rPr>
              <a:t>Dividing by length makes a 4-word reply look like a perfect match.</a:t>
            </a:r>
            <a:endParaRPr lang="en-US" sz="1400" dirty="0"/>
          </a:p>
        </p:txBody>
      </p:sp>
      <p:sp>
        <p:nvSpPr>
          <p:cNvPr id="7" name="Insight"/>
          <p:cNvSpPr/>
          <p:nvPr/>
        </p:nvSpPr>
        <p:spPr>
          <a:xfrm>
            <a:off x="4338218" y="1600200"/>
            <a:ext cx="3515258" cy="2057400"/>
          </a:xfrm>
          <a:prstGeom prst="roundRect">
            <a:avLst>
              <a:gd name="adj" fmla="val 3556"/>
            </a:avLst>
          </a:prstGeom>
          <a:solidFill>
            <a:schemeClr val="bg2"/>
          </a:solidFill>
          <a:ln/>
        </p:spPr>
      </p:sp>
      <p:sp>
        <p:nvSpPr>
          <p:cNvPr id="8" name="Text 6"/>
          <p:cNvSpPr txBox="1"/>
          <p:nvPr/>
        </p:nvSpPr>
        <p:spPr>
          <a:xfrm>
            <a:off x="4612538" y="1874520"/>
            <a:ext cx="2966618" cy="731520"/>
          </a:xfrm>
          <a:prstGeom prst="rect">
            <a:avLst/>
          </a:prstGeom>
          <a:noFill/>
          <a:ln/>
        </p:spPr>
        <p:txBody>
          <a:bodyPr wrap="square" lIns="0" tIns="0" rIns="0" bIns="0" rtlCol="0" anchor="t"/>
          <a:lstStyle/>
          <a:p>
            <a:pPr algn="l" indent="0" marL="0">
              <a:buNone/>
            </a:pPr>
            <a:r>
              <a:rPr lang="en-US" sz="1700" b="1" dirty="0">
                <a:solidFill>
                  <a:schemeClr val="tx1"/>
                </a:solidFill>
              </a:rPr>
              <a:t>2 · BM25 favours informative emails</a:t>
            </a:r>
            <a:endParaRPr lang="en-US" sz="1700" dirty="0"/>
          </a:p>
        </p:txBody>
      </p:sp>
      <p:sp>
        <p:nvSpPr>
          <p:cNvPr id="9" name="Text 7"/>
          <p:cNvSpPr txBox="1"/>
          <p:nvPr/>
        </p:nvSpPr>
        <p:spPr>
          <a:xfrm>
            <a:off x="4612538" y="2651760"/>
            <a:ext cx="2966618" cy="868680"/>
          </a:xfrm>
          <a:prstGeom prst="rect">
            <a:avLst/>
          </a:prstGeom>
          <a:noFill/>
          <a:ln/>
        </p:spPr>
        <p:txBody>
          <a:bodyPr wrap="square" lIns="0" tIns="0" rIns="0" bIns="0" rtlCol="0" anchor="t"/>
          <a:lstStyle/>
          <a:p>
            <a:pPr algn="l" indent="0" marL="0">
              <a:buNone/>
            </a:pPr>
            <a:r>
              <a:rPr lang="en-US" sz="1400" dirty="0">
                <a:solidFill>
                  <a:schemeClr val="tx2"/>
                </a:solidFill>
              </a:rPr>
              <a:t>Its top hits are 100–600 words and actually about the topic.</a:t>
            </a:r>
            <a:endParaRPr lang="en-US" sz="1400" dirty="0"/>
          </a:p>
        </p:txBody>
      </p:sp>
      <p:sp>
        <p:nvSpPr>
          <p:cNvPr id="10" name="Insight"/>
          <p:cNvSpPr/>
          <p:nvPr/>
        </p:nvSpPr>
        <p:spPr>
          <a:xfrm>
            <a:off x="8127797" y="1600200"/>
            <a:ext cx="3515258" cy="2057400"/>
          </a:xfrm>
          <a:prstGeom prst="roundRect">
            <a:avLst>
              <a:gd name="adj" fmla="val 3556"/>
            </a:avLst>
          </a:prstGeom>
          <a:solidFill>
            <a:schemeClr val="bg2"/>
          </a:solidFill>
          <a:ln/>
        </p:spPr>
      </p:sp>
      <p:sp>
        <p:nvSpPr>
          <p:cNvPr id="11" name="Text 9"/>
          <p:cNvSpPr txBox="1"/>
          <p:nvPr/>
        </p:nvSpPr>
        <p:spPr>
          <a:xfrm>
            <a:off x="8402117" y="1874520"/>
            <a:ext cx="2966618" cy="731520"/>
          </a:xfrm>
          <a:prstGeom prst="rect">
            <a:avLst/>
          </a:prstGeom>
          <a:noFill/>
          <a:ln/>
        </p:spPr>
        <p:txBody>
          <a:bodyPr wrap="square" lIns="0" tIns="0" rIns="0" bIns="0" rtlCol="0" anchor="t"/>
          <a:lstStyle/>
          <a:p>
            <a:pPr algn="l" indent="0" marL="0">
              <a:buNone/>
            </a:pPr>
            <a:r>
              <a:rPr lang="en-US" sz="1700" b="1" dirty="0">
                <a:solidFill>
                  <a:schemeClr val="tx1"/>
                </a:solidFill>
              </a:rPr>
              <a:t>3 · More query words beat repetition</a:t>
            </a:r>
            <a:endParaRPr lang="en-US" sz="1700" dirty="0"/>
          </a:p>
        </p:txBody>
      </p:sp>
      <p:sp>
        <p:nvSpPr>
          <p:cNvPr id="12" name="Text 10"/>
          <p:cNvSpPr txBox="1"/>
          <p:nvPr/>
        </p:nvSpPr>
        <p:spPr>
          <a:xfrm>
            <a:off x="8402117" y="2651760"/>
            <a:ext cx="2966618" cy="868680"/>
          </a:xfrm>
          <a:prstGeom prst="rect">
            <a:avLst/>
          </a:prstGeom>
          <a:noFill/>
          <a:ln/>
        </p:spPr>
        <p:txBody>
          <a:bodyPr wrap="square" lIns="0" tIns="0" rIns="0" bIns="0" rtlCol="0" anchor="t"/>
          <a:lstStyle/>
          <a:p>
            <a:pPr algn="l" indent="0" marL="0">
              <a:buNone/>
            </a:pPr>
            <a:r>
              <a:rPr lang="en-US" sz="1400" dirty="0">
                <a:solidFill>
                  <a:schemeClr val="tx2"/>
                </a:solidFill>
              </a:rPr>
              <a:t>“power outage” → power outages, not SAP system outages.</a:t>
            </a:r>
            <a:endParaRPr lang="en-US" sz="1400" dirty="0"/>
          </a:p>
        </p:txBody>
      </p:sp>
      <p:sp>
        <p:nvSpPr>
          <p:cNvPr id="13" name="Insight"/>
          <p:cNvSpPr/>
          <p:nvPr/>
        </p:nvSpPr>
        <p:spPr>
          <a:xfrm>
            <a:off x="548640" y="3886200"/>
            <a:ext cx="3515258" cy="2057400"/>
          </a:xfrm>
          <a:prstGeom prst="roundRect">
            <a:avLst>
              <a:gd name="adj" fmla="val 3556"/>
            </a:avLst>
          </a:prstGeom>
          <a:solidFill>
            <a:schemeClr val="bg2"/>
          </a:solidFill>
          <a:ln/>
        </p:spPr>
      </p:sp>
      <p:sp>
        <p:nvSpPr>
          <p:cNvPr id="14" name="Text 12"/>
          <p:cNvSpPr txBox="1"/>
          <p:nvPr/>
        </p:nvSpPr>
        <p:spPr>
          <a:xfrm>
            <a:off x="822960" y="4160520"/>
            <a:ext cx="2966618" cy="731520"/>
          </a:xfrm>
          <a:prstGeom prst="rect">
            <a:avLst/>
          </a:prstGeom>
          <a:noFill/>
          <a:ln/>
        </p:spPr>
        <p:txBody>
          <a:bodyPr wrap="square" lIns="0" tIns="0" rIns="0" bIns="0" rtlCol="0" anchor="t"/>
          <a:lstStyle/>
          <a:p>
            <a:pPr algn="l" indent="0" marL="0">
              <a:buNone/>
            </a:pPr>
            <a:r>
              <a:rPr lang="en-US" sz="1700" b="1" dirty="0">
                <a:solidFill>
                  <a:schemeClr val="tx1"/>
                </a:solidFill>
              </a:rPr>
              <a:t>4 · Same matches, different order</a:t>
            </a:r>
            <a:endParaRPr lang="en-US" sz="1700" dirty="0"/>
          </a:p>
        </p:txBody>
      </p:sp>
      <p:sp>
        <p:nvSpPr>
          <p:cNvPr id="15" name="Text 13"/>
          <p:cNvSpPr txBox="1"/>
          <p:nvPr/>
        </p:nvSpPr>
        <p:spPr>
          <a:xfrm>
            <a:off x="822960" y="4937760"/>
            <a:ext cx="2966618" cy="868680"/>
          </a:xfrm>
          <a:prstGeom prst="rect">
            <a:avLst/>
          </a:prstGeom>
          <a:noFill/>
          <a:ln/>
        </p:spPr>
        <p:txBody>
          <a:bodyPr wrap="square" lIns="0" tIns="0" rIns="0" bIns="0" rtlCol="0" anchor="t"/>
          <a:lstStyle/>
          <a:p>
            <a:pPr algn="l" indent="0" marL="0">
              <a:buNone/>
            </a:pPr>
            <a:r>
              <a:rPr lang="en-US" sz="1400" dirty="0">
                <a:solidFill>
                  <a:schemeClr val="tx2"/>
                </a:solidFill>
              </a:rPr>
              <a:t>Both find exactly the same emails. Ranking is the whole difference.</a:t>
            </a:r>
            <a:endParaRPr lang="en-US" sz="1400" dirty="0"/>
          </a:p>
        </p:txBody>
      </p:sp>
      <p:sp>
        <p:nvSpPr>
          <p:cNvPr id="16" name="Insight"/>
          <p:cNvSpPr/>
          <p:nvPr/>
        </p:nvSpPr>
        <p:spPr>
          <a:xfrm>
            <a:off x="4338218" y="3886200"/>
            <a:ext cx="3515258" cy="2057400"/>
          </a:xfrm>
          <a:prstGeom prst="roundRect">
            <a:avLst>
              <a:gd name="adj" fmla="val 3556"/>
            </a:avLst>
          </a:prstGeom>
          <a:solidFill>
            <a:schemeClr val="bg2"/>
          </a:solidFill>
          <a:ln/>
        </p:spPr>
      </p:sp>
      <p:sp>
        <p:nvSpPr>
          <p:cNvPr id="17" name="Text 15"/>
          <p:cNvSpPr txBox="1"/>
          <p:nvPr/>
        </p:nvSpPr>
        <p:spPr>
          <a:xfrm>
            <a:off x="4612538" y="4160520"/>
            <a:ext cx="2966618" cy="731520"/>
          </a:xfrm>
          <a:prstGeom prst="rect">
            <a:avLst/>
          </a:prstGeom>
          <a:noFill/>
          <a:ln/>
        </p:spPr>
        <p:txBody>
          <a:bodyPr wrap="square" lIns="0" tIns="0" rIns="0" bIns="0" rtlCol="0" anchor="t"/>
          <a:lstStyle/>
          <a:p>
            <a:pPr algn="l" indent="0" marL="0">
              <a:buNone/>
            </a:pPr>
            <a:r>
              <a:rPr lang="en-US" sz="1700" b="1" dirty="0">
                <a:solidFill>
                  <a:schemeClr val="tx1"/>
                </a:solidFill>
              </a:rPr>
              <a:t>5 · Specific queries: both agree</a:t>
            </a:r>
            <a:endParaRPr lang="en-US" sz="1700" dirty="0"/>
          </a:p>
        </p:txBody>
      </p:sp>
      <p:sp>
        <p:nvSpPr>
          <p:cNvPr id="18" name="Text 16"/>
          <p:cNvSpPr txBox="1"/>
          <p:nvPr/>
        </p:nvSpPr>
        <p:spPr>
          <a:xfrm>
            <a:off x="4612538" y="4937760"/>
            <a:ext cx="2966618" cy="868680"/>
          </a:xfrm>
          <a:prstGeom prst="rect">
            <a:avLst/>
          </a:prstGeom>
          <a:noFill/>
          <a:ln/>
        </p:spPr>
        <p:txBody>
          <a:bodyPr wrap="square" lIns="0" tIns="0" rIns="0" bIns="0" rtlCol="0" anchor="t"/>
          <a:lstStyle/>
          <a:p>
            <a:pPr algn="l" indent="0" marL="0">
              <a:buNone/>
            </a:pPr>
            <a:r>
              <a:rPr lang="en-US" sz="1400" dirty="0">
                <a:solidFill>
                  <a:schemeClr val="tx2"/>
                </a:solidFill>
              </a:rPr>
              <a:t>“arthur andersen audit” → same #1. BM25 is more reliable, not magic.</a:t>
            </a:r>
            <a:endParaRPr lang="en-US" sz="1400" dirty="0"/>
          </a:p>
        </p:txBody>
      </p:sp>
      <p:sp>
        <p:nvSpPr>
          <p:cNvPr id="19" name="Insight"/>
          <p:cNvSpPr/>
          <p:nvPr/>
        </p:nvSpPr>
        <p:spPr>
          <a:xfrm>
            <a:off x="8127797" y="3886200"/>
            <a:ext cx="3515258" cy="2057400"/>
          </a:xfrm>
          <a:prstGeom prst="roundRect">
            <a:avLst>
              <a:gd name="adj" fmla="val 3556"/>
            </a:avLst>
          </a:prstGeom>
          <a:solidFill>
            <a:schemeClr val="tx1"/>
          </a:solidFill>
          <a:ln/>
        </p:spPr>
      </p:sp>
      <p:sp>
        <p:nvSpPr>
          <p:cNvPr id="20" name="Text 18"/>
          <p:cNvSpPr txBox="1"/>
          <p:nvPr/>
        </p:nvSpPr>
        <p:spPr>
          <a:xfrm>
            <a:off x="8402117" y="4160520"/>
            <a:ext cx="2966618" cy="731520"/>
          </a:xfrm>
          <a:prstGeom prst="rect">
            <a:avLst/>
          </a:prstGeom>
          <a:noFill/>
          <a:ln/>
        </p:spPr>
        <p:txBody>
          <a:bodyPr wrap="square" lIns="0" tIns="0" rIns="0" bIns="0" rtlCol="0" anchor="t"/>
          <a:lstStyle/>
          <a:p>
            <a:pPr algn="l" indent="0" marL="0">
              <a:buNone/>
            </a:pPr>
            <a:r>
              <a:rPr lang="en-US" sz="1700" b="1" dirty="0">
                <a:solidFill>
                  <a:schemeClr val="accent1"/>
                </a:solidFill>
              </a:rPr>
              <a:t>6 · Neither understands meaning</a:t>
            </a:r>
            <a:endParaRPr lang="en-US" sz="1700" dirty="0"/>
          </a:p>
        </p:txBody>
      </p:sp>
      <p:sp>
        <p:nvSpPr>
          <p:cNvPr id="21" name="Text 19"/>
          <p:cNvSpPr txBox="1"/>
          <p:nvPr/>
        </p:nvSpPr>
        <p:spPr>
          <a:xfrm>
            <a:off x="8402117" y="4937760"/>
            <a:ext cx="2966618" cy="868680"/>
          </a:xfrm>
          <a:prstGeom prst="rect">
            <a:avLst/>
          </a:prstGeom>
          <a:noFill/>
          <a:ln/>
        </p:spPr>
        <p:txBody>
          <a:bodyPr wrap="square" lIns="0" tIns="0" rIns="0" bIns="0" rtlCol="0" anchor="t"/>
          <a:lstStyle/>
          <a:p>
            <a:pPr algn="l" indent="0" marL="0">
              <a:buNone/>
            </a:pPr>
            <a:r>
              <a:rPr lang="en-US" sz="1400" dirty="0">
                <a:solidFill>
                  <a:schemeClr val="bg1"/>
                </a:solidFill>
              </a:rPr>
              <a:t>“layoffs” won’t find “job cuts”. That needs semantic search.</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9144000" cy="365760"/>
          </a:xfrm>
          <a:prstGeom prst="rect">
            <a:avLst/>
          </a:prstGeom>
          <a:noFill/>
          <a:ln/>
        </p:spPr>
        <p:txBody>
          <a:bodyPr wrap="square" lIns="0" tIns="0" rIns="0" bIns="0" rtlCol="0"/>
          <a:lstStyle/>
          <a:p>
            <a:pPr indent="0" marL="0">
              <a:buNone/>
            </a:pPr>
            <a:r>
              <a:rPr lang="en-US" sz="1300" b="1" spc="200" kern="0" dirty="0">
                <a:solidFill>
                  <a:schemeClr val="tx1"/>
                </a:solidFill>
              </a:rPr>
              <a:t>THE VERDICT</a:t>
            </a:r>
            <a:endParaRPr lang="en-US" sz="1300" dirty="0"/>
          </a:p>
        </p:txBody>
      </p:sp>
      <p:sp>
        <p:nvSpPr>
          <p:cNvPr id="3" name="Text 0"/>
          <p:cNvSpPr/>
          <p:nvPr>
            <p:ph idx="101" type="title" hasCustomPrompt="1"/>
          </p:nvPr>
        </p:nvSpPr>
        <p:spPr>
          <a:xfrm>
            <a:off x="731520" y="1783080"/>
            <a:ext cx="10515600" cy="1737360"/>
          </a:xfrm>
          <a:prstGeom prst="rect">
            <a:avLst/>
          </a:prstGeom>
          <a:noFill/>
          <a:ln/>
        </p:spPr>
        <p:txBody>
          <a:bodyPr wrap="square" lIns="0" tIns="0" rIns="0" bIns="0" rtlCol="0" anchor="t"/>
          <a:lstStyle/>
          <a:p>
            <a:pPr algn="l" indent="0" marL="0">
              <a:buNone/>
            </a:pPr>
            <a:r>
              <a:rPr lang="en-US" sz="4400" b="1" dirty="0">
                <a:solidFill>
                  <a:schemeClr val="tx1"/>
                </a:solidFill>
              </a:rPr>
              <a:t>BM25 ranks informative emails first, it’s ~8× faster, and it needs no training.</a:t>
            </a:r>
            <a:endParaRPr lang="en-US" sz="4400" dirty="0"/>
          </a:p>
        </p:txBody>
      </p:sp>
      <p:sp>
        <p:nvSpPr>
          <p:cNvPr id="4" name="Text 2"/>
          <p:cNvSpPr txBox="1"/>
          <p:nvPr/>
        </p:nvSpPr>
        <p:spPr>
          <a:xfrm>
            <a:off x="731520" y="3977640"/>
            <a:ext cx="3291840" cy="822960"/>
          </a:xfrm>
          <a:prstGeom prst="rect">
            <a:avLst/>
          </a:prstGeom>
          <a:noFill/>
          <a:ln/>
        </p:spPr>
        <p:txBody>
          <a:bodyPr wrap="square" lIns="0" tIns="0" rIns="0" bIns="0" rtlCol="0" anchor="t"/>
          <a:lstStyle/>
          <a:p>
            <a:pPr algn="l" indent="0" marL="0">
              <a:buNone/>
            </a:pPr>
            <a:r>
              <a:rPr lang="en-US" sz="4400" b="1" dirty="0">
                <a:solidFill>
                  <a:schemeClr val="bg1"/>
                </a:solidFill>
              </a:rPr>
              <a:t>+4.1%</a:t>
            </a:r>
            <a:endParaRPr lang="en-US" sz="4400" dirty="0"/>
          </a:p>
        </p:txBody>
      </p:sp>
      <p:sp>
        <p:nvSpPr>
          <p:cNvPr id="5" name="Text 3"/>
          <p:cNvSpPr txBox="1"/>
          <p:nvPr/>
        </p:nvSpPr>
        <p:spPr>
          <a:xfrm>
            <a:off x="731520" y="4800600"/>
            <a:ext cx="3200400" cy="731520"/>
          </a:xfrm>
          <a:prstGeom prst="rect">
            <a:avLst/>
          </a:prstGeom>
          <a:noFill/>
          <a:ln/>
        </p:spPr>
        <p:txBody>
          <a:bodyPr wrap="square" lIns="0" tIns="0" rIns="0" bIns="0" rtlCol="0" anchor="t"/>
          <a:lstStyle/>
          <a:p>
            <a:pPr algn="l" indent="0" marL="0">
              <a:buNone/>
            </a:pPr>
            <a:r>
              <a:rPr lang="en-US" sz="1600" dirty="0">
                <a:solidFill>
                  <a:schemeClr val="tx1"/>
                </a:solidFill>
              </a:rPr>
              <a:t>nDCG@10 vs TF-IDF on labelled queries</a:t>
            </a:r>
            <a:endParaRPr lang="en-US" sz="1600" dirty="0"/>
          </a:p>
        </p:txBody>
      </p:sp>
      <p:sp>
        <p:nvSpPr>
          <p:cNvPr id="6" name="Text 4"/>
          <p:cNvSpPr txBox="1"/>
          <p:nvPr/>
        </p:nvSpPr>
        <p:spPr>
          <a:xfrm>
            <a:off x="4343400" y="3977640"/>
            <a:ext cx="3291840" cy="822960"/>
          </a:xfrm>
          <a:prstGeom prst="rect">
            <a:avLst/>
          </a:prstGeom>
          <a:noFill/>
          <a:ln/>
        </p:spPr>
        <p:txBody>
          <a:bodyPr wrap="square" lIns="0" tIns="0" rIns="0" bIns="0" rtlCol="0" anchor="t"/>
          <a:lstStyle/>
          <a:p>
            <a:pPr algn="l" indent="0" marL="0">
              <a:buNone/>
            </a:pPr>
            <a:r>
              <a:rPr lang="en-US" sz="4400" b="1" dirty="0">
                <a:solidFill>
                  <a:schemeClr val="bg1"/>
                </a:solidFill>
              </a:rPr>
              <a:t>8×</a:t>
            </a:r>
            <a:endParaRPr lang="en-US" sz="4400" dirty="0"/>
          </a:p>
        </p:txBody>
      </p:sp>
      <p:sp>
        <p:nvSpPr>
          <p:cNvPr id="7" name="Text 5"/>
          <p:cNvSpPr txBox="1"/>
          <p:nvPr/>
        </p:nvSpPr>
        <p:spPr>
          <a:xfrm>
            <a:off x="4343400" y="4800600"/>
            <a:ext cx="3200400" cy="731520"/>
          </a:xfrm>
          <a:prstGeom prst="rect">
            <a:avLst/>
          </a:prstGeom>
          <a:noFill/>
          <a:ln/>
        </p:spPr>
        <p:txBody>
          <a:bodyPr wrap="square" lIns="0" tIns="0" rIns="0" bIns="0" rtlCol="0" anchor="t"/>
          <a:lstStyle/>
          <a:p>
            <a:pPr algn="l" indent="0" marL="0">
              <a:buNone/>
            </a:pPr>
            <a:r>
              <a:rPr lang="en-US" sz="1600" dirty="0">
                <a:solidFill>
                  <a:schemeClr val="tx1"/>
                </a:solidFill>
              </a:rPr>
              <a:t>faster per query on 251,115 emails</a:t>
            </a:r>
            <a:endParaRPr lang="en-US" sz="1600" dirty="0"/>
          </a:p>
        </p:txBody>
      </p:sp>
      <p:sp>
        <p:nvSpPr>
          <p:cNvPr id="8" name="Text 6"/>
          <p:cNvSpPr txBox="1"/>
          <p:nvPr/>
        </p:nvSpPr>
        <p:spPr>
          <a:xfrm>
            <a:off x="7955280" y="3977640"/>
            <a:ext cx="3291840" cy="822960"/>
          </a:xfrm>
          <a:prstGeom prst="rect">
            <a:avLst/>
          </a:prstGeom>
          <a:noFill/>
          <a:ln/>
        </p:spPr>
        <p:txBody>
          <a:bodyPr wrap="square" lIns="0" tIns="0" rIns="0" bIns="0" rtlCol="0" anchor="t"/>
          <a:lstStyle/>
          <a:p>
            <a:pPr algn="l" indent="0" marL="0">
              <a:buNone/>
            </a:pPr>
            <a:r>
              <a:rPr lang="en-US" sz="4400" b="1" dirty="0">
                <a:solidFill>
                  <a:schemeClr val="bg1"/>
                </a:solidFill>
              </a:rPr>
              <a:t>Top tier</a:t>
            </a:r>
            <a:endParaRPr lang="en-US" sz="4400" dirty="0"/>
          </a:p>
        </p:txBody>
      </p:sp>
      <p:sp>
        <p:nvSpPr>
          <p:cNvPr id="9" name="Text 7"/>
          <p:cNvSpPr txBox="1"/>
          <p:nvPr/>
        </p:nvSpPr>
        <p:spPr>
          <a:xfrm>
            <a:off x="7955280" y="4800600"/>
            <a:ext cx="3200400" cy="731520"/>
          </a:xfrm>
          <a:prstGeom prst="rect">
            <a:avLst/>
          </a:prstGeom>
          <a:noFill/>
          <a:ln/>
        </p:spPr>
        <p:txBody>
          <a:bodyPr wrap="square" lIns="0" tIns="0" rIns="0" bIns="0" rtlCol="0" anchor="t"/>
          <a:lstStyle/>
          <a:p>
            <a:pPr algn="l" indent="0" marL="0">
              <a:buNone/>
            </a:pPr>
            <a:r>
              <a:rPr lang="en-US" sz="1600" dirty="0">
                <a:solidFill>
                  <a:schemeClr val="tx1"/>
                </a:solidFill>
              </a:rPr>
              <a:t>zero-shot on BEIR, ahead of DPR, ANCE and TAS-B</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4213D"/>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HONEST ASSESSMENT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Limitations and future scope</a:t>
            </a:r>
            <a:endParaRPr lang="en-US" sz="3200" dirty="0"/>
          </a:p>
        </p:txBody>
      </p:sp>
      <p:sp>
        <p:nvSpPr>
          <p:cNvPr id="4" name="Limitations"/>
          <p:cNvSpPr/>
          <p:nvPr/>
        </p:nvSpPr>
        <p:spPr>
          <a:xfrm>
            <a:off x="548640" y="1600200"/>
            <a:ext cx="5394960" cy="4434840"/>
          </a:xfrm>
          <a:prstGeom prst="roundRect">
            <a:avLst>
              <a:gd name="adj" fmla="val 1649"/>
            </a:avLst>
          </a:prstGeom>
          <a:solidFill>
            <a:schemeClr val="bg2"/>
          </a:solidFill>
          <a:ln/>
        </p:spPr>
      </p:sp>
      <p:sp>
        <p:nvSpPr>
          <p:cNvPr id="5" name="Icon circle"/>
          <p:cNvSpPr/>
          <p:nvPr/>
        </p:nvSpPr>
        <p:spPr>
          <a:xfrm>
            <a:off x="822960" y="1783080"/>
            <a:ext cx="548640" cy="548640"/>
          </a:xfrm>
          <a:prstGeom prst="ellipse">
            <a:avLst/>
          </a:prstGeom>
          <a:solidFill>
            <a:schemeClr val="tx1"/>
          </a:solidFill>
          <a:ln/>
        </p:spPr>
      </p:sp>
      <p:pic>
        <p:nvPicPr>
          <p:cNvPr id="6" name="Image 0" descr="icon">    </p:cNvPr>
          <p:cNvPicPr>
            <a:picLocks noChangeAspect="1"/>
          </p:cNvPicPr>
          <p:nvPr/>
        </p:nvPicPr>
        <p:blipFill>
          <a:blip r:embed="rId1"/>
          <a:stretch>
            <a:fillRect/>
          </a:stretch>
        </p:blipFill>
        <p:spPr>
          <a:xfrm>
            <a:off x="960120" y="1920240"/>
            <a:ext cx="274320" cy="274320"/>
          </a:xfrm>
          <a:prstGeom prst="rect">
            <a:avLst/>
          </a:prstGeom>
        </p:spPr>
      </p:pic>
      <p:sp>
        <p:nvSpPr>
          <p:cNvPr id="7" name="Text 4"/>
          <p:cNvSpPr txBox="1"/>
          <p:nvPr/>
        </p:nvSpPr>
        <p:spPr>
          <a:xfrm>
            <a:off x="1508760" y="1828800"/>
            <a:ext cx="4114800" cy="457200"/>
          </a:xfrm>
          <a:prstGeom prst="rect">
            <a:avLst/>
          </a:prstGeom>
          <a:noFill/>
          <a:ln/>
        </p:spPr>
        <p:txBody>
          <a:bodyPr wrap="square" lIns="0" tIns="0" rIns="0" bIns="0" rtlCol="0" anchor="t"/>
          <a:lstStyle/>
          <a:p>
            <a:pPr algn="l" indent="0" marL="0">
              <a:buNone/>
            </a:pPr>
            <a:r>
              <a:rPr lang="en-US" sz="2000" b="1" dirty="0">
                <a:solidFill>
                  <a:schemeClr val="tx1"/>
                </a:solidFill>
              </a:rPr>
              <a:t>Limitations</a:t>
            </a:r>
            <a:endParaRPr lang="en-US" sz="2000" dirty="0"/>
          </a:p>
        </p:txBody>
      </p:sp>
      <p:sp>
        <p:nvSpPr>
          <p:cNvPr id="8" name="Text 5"/>
          <p:cNvSpPr txBox="1"/>
          <p:nvPr/>
        </p:nvSpPr>
        <p:spPr>
          <a:xfrm>
            <a:off x="822960" y="256032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Keyword only: “layoffs” won’t find “job cuts”</a:t>
            </a:r>
            <a:endParaRPr lang="en-US" sz="1500" dirty="0"/>
          </a:p>
          <a:p>
            <a:pPr marL="342900" indent="-342900">
              <a:spcAft>
                <a:spcPts val="1000"/>
              </a:spcAft>
              <a:buSzPct val="100000"/>
              <a:buChar char="•"/>
            </a:pPr>
            <a:r>
              <a:rPr lang="en-US" sz="1500" dirty="0">
                <a:solidFill>
                  <a:schemeClr val="tx1"/>
                </a:solidFill>
              </a:rPr>
              <a:t>No typo tolerance or exact-phrase search</a:t>
            </a:r>
            <a:endParaRPr lang="en-US" sz="1500" dirty="0"/>
          </a:p>
          <a:p>
            <a:pPr marL="342900" indent="-342900">
              <a:spcAft>
                <a:spcPts val="1000"/>
              </a:spcAft>
              <a:buSzPct val="100000"/>
              <a:buChar char="•"/>
            </a:pPr>
            <a:r>
              <a:rPr lang="en-US" sz="1500" dirty="0">
                <a:solidFill>
                  <a:schemeClr val="tx1"/>
                </a:solidFill>
              </a:rPr>
              <a:t>No filters by sender or date</a:t>
            </a:r>
            <a:endParaRPr lang="en-US" sz="1500" dirty="0"/>
          </a:p>
          <a:p>
            <a:pPr marL="342900" indent="-342900">
              <a:spcAft>
                <a:spcPts val="1000"/>
              </a:spcAft>
              <a:buSzPct val="100000"/>
              <a:buChar char="•"/>
            </a:pPr>
            <a:r>
              <a:rPr lang="en-US" sz="1500" dirty="0">
                <a:solidFill>
                  <a:schemeClr val="tx1"/>
                </a:solidFill>
              </a:rPr>
              <a:t>Enron quality judged by eye (no labels)</a:t>
            </a:r>
            <a:endParaRPr lang="en-US" sz="1500" dirty="0"/>
          </a:p>
          <a:p>
            <a:pPr marL="342900" indent="-342900">
              <a:spcAft>
                <a:spcPts val="1000"/>
              </a:spcAft>
              <a:buSzPct val="100000"/>
              <a:buChar char="•"/>
            </a:pPr>
            <a:r>
              <a:rPr lang="en-US" sz="1500" dirty="0">
                <a:solidFill>
                  <a:schemeClr val="tx1"/>
                </a:solidFill>
              </a:rPr>
              <a:t>Whole index must fit in RAM</a:t>
            </a:r>
            <a:endParaRPr lang="en-US" sz="1500" dirty="0"/>
          </a:p>
        </p:txBody>
      </p:sp>
      <p:sp>
        <p:nvSpPr>
          <p:cNvPr id="9" name="Future"/>
          <p:cNvSpPr/>
          <p:nvPr/>
        </p:nvSpPr>
        <p:spPr>
          <a:xfrm>
            <a:off x="6245352" y="1600200"/>
            <a:ext cx="5394960" cy="4434840"/>
          </a:xfrm>
          <a:prstGeom prst="roundRect">
            <a:avLst>
              <a:gd name="adj" fmla="val 1649"/>
            </a:avLst>
          </a:prstGeom>
          <a:solidFill>
            <a:schemeClr val="tx1"/>
          </a:solidFill>
          <a:ln/>
        </p:spPr>
      </p:sp>
      <p:sp>
        <p:nvSpPr>
          <p:cNvPr id="10" name="Icon circle"/>
          <p:cNvSpPr/>
          <p:nvPr/>
        </p:nvSpPr>
        <p:spPr>
          <a:xfrm>
            <a:off x="6519672" y="1783080"/>
            <a:ext cx="548640" cy="54864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6656832" y="1920240"/>
            <a:ext cx="274320" cy="274320"/>
          </a:xfrm>
          <a:prstGeom prst="rect">
            <a:avLst/>
          </a:prstGeom>
        </p:spPr>
      </p:pic>
      <p:sp>
        <p:nvSpPr>
          <p:cNvPr id="12" name="Text 8"/>
          <p:cNvSpPr txBox="1"/>
          <p:nvPr/>
        </p:nvSpPr>
        <p:spPr>
          <a:xfrm>
            <a:off x="7205472" y="1828800"/>
            <a:ext cx="4114800" cy="457200"/>
          </a:xfrm>
          <a:prstGeom prst="rect">
            <a:avLst/>
          </a:prstGeom>
          <a:noFill/>
          <a:ln/>
        </p:spPr>
        <p:txBody>
          <a:bodyPr wrap="square" lIns="0" tIns="0" rIns="0" bIns="0" rtlCol="0" anchor="t"/>
          <a:lstStyle/>
          <a:p>
            <a:pPr algn="l" indent="0" marL="0">
              <a:buNone/>
            </a:pPr>
            <a:r>
              <a:rPr lang="en-US" sz="2000" b="1" dirty="0">
                <a:solidFill>
                  <a:schemeClr val="bg1"/>
                </a:solidFill>
              </a:rPr>
              <a:t>Future scope</a:t>
            </a:r>
            <a:endParaRPr lang="en-US" sz="2000" dirty="0"/>
          </a:p>
        </p:txBody>
      </p:sp>
      <p:sp>
        <p:nvSpPr>
          <p:cNvPr id="13" name="Text 9"/>
          <p:cNvSpPr txBox="1"/>
          <p:nvPr/>
        </p:nvSpPr>
        <p:spPr>
          <a:xfrm>
            <a:off x="6519672" y="256032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Hybrid ranking: BM25 + embeddings (FAISS)</a:t>
            </a:r>
            <a:endParaRPr lang="en-US" sz="1500" dirty="0"/>
          </a:p>
          <a:p>
            <a:pPr marL="342900" indent="-342900">
              <a:spcAft>
                <a:spcPts val="1000"/>
              </a:spcAft>
              <a:buSzPct val="100000"/>
              <a:buChar char="•"/>
            </a:pPr>
            <a:r>
              <a:rPr lang="en-US" sz="1500" dirty="0">
                <a:solidFill>
                  <a:schemeClr val="bg1"/>
                </a:solidFill>
              </a:rPr>
              <a:t>BM25F: weight subject above body</a:t>
            </a:r>
            <a:endParaRPr lang="en-US" sz="1500" dirty="0"/>
          </a:p>
          <a:p>
            <a:pPr marL="342900" indent="-342900">
              <a:spcAft>
                <a:spcPts val="1000"/>
              </a:spcAft>
              <a:buSzPct val="100000"/>
              <a:buChar char="•"/>
            </a:pPr>
            <a:r>
              <a:rPr lang="en-US" sz="1500" dirty="0">
                <a:solidFill>
                  <a:schemeClr val="bg1"/>
                </a:solidFill>
              </a:rPr>
              <a:t>Phrase search, typo tolerance, filters</a:t>
            </a:r>
            <a:endParaRPr lang="en-US" sz="1500" dirty="0"/>
          </a:p>
          <a:p>
            <a:pPr marL="342900" indent="-342900">
              <a:spcAft>
                <a:spcPts val="1000"/>
              </a:spcAft>
              <a:buSzPct val="100000"/>
              <a:buChar char="•"/>
            </a:pPr>
            <a:r>
              <a:rPr lang="en-US" sz="1500" dirty="0">
                <a:solidFill>
                  <a:schemeClr val="bg1"/>
                </a:solidFill>
              </a:rPr>
              <a:t>Label ~50 Enron queries → nDCG@10 on our own data</a:t>
            </a:r>
            <a:endParaRPr lang="en-US" sz="1500" dirty="0"/>
          </a:p>
          <a:p>
            <a:pPr marL="342900" indent="-342900">
              <a:spcAft>
                <a:spcPts val="1000"/>
              </a:spcAft>
              <a:buSzPct val="100000"/>
              <a:buChar char="•"/>
            </a:pPr>
            <a:r>
              <a:rPr lang="en-US" sz="1500" dirty="0">
                <a:solidFill>
                  <a:schemeClr val="bg1"/>
                </a:solidFill>
              </a:rPr>
              <a:t>Elasticsearch for millions of emails</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400800" cy="365760"/>
          </a:xfrm>
          <a:prstGeom prst="rect">
            <a:avLst/>
          </a:prstGeom>
          <a:noFill/>
          <a:ln/>
        </p:spPr>
        <p:txBody>
          <a:bodyPr wrap="square" lIns="0" tIns="0" rIns="0" bIns="0" rtlCol="0"/>
          <a:lstStyle/>
          <a:p>
            <a:pPr indent="0" marL="0">
              <a:buNone/>
            </a:pPr>
            <a:r>
              <a:rPr lang="en-US" sz="1300" b="1" spc="200" kern="0" dirty="0">
                <a:solidFill>
                  <a:schemeClr val="accent1"/>
                </a:solidFill>
              </a:rPr>
              <a:t>THANK YOU · LIVE DEMO: python app.py → localhost:8000</a:t>
            </a:r>
            <a:endParaRPr lang="en-US" sz="1300" dirty="0"/>
          </a:p>
        </p:txBody>
      </p:sp>
      <p:sp>
        <p:nvSpPr>
          <p:cNvPr id="3" name="Text 0"/>
          <p:cNvSpPr/>
          <p:nvPr>
            <p:ph idx="101" type="title" hasCustomPrompt="1"/>
          </p:nvPr>
        </p:nvSpPr>
        <p:spPr>
          <a:xfrm>
            <a:off x="731520" y="1828800"/>
            <a:ext cx="6583680" cy="1280160"/>
          </a:xfrm>
          <a:prstGeom prst="rect">
            <a:avLst/>
          </a:prstGeom>
          <a:noFill/>
          <a:ln/>
        </p:spPr>
        <p:txBody>
          <a:bodyPr wrap="square" lIns="0" tIns="0" rIns="0" bIns="0" rtlCol="0" anchor="t"/>
          <a:lstStyle/>
          <a:p>
            <a:pPr algn="l" indent="0" marL="0">
              <a:buNone/>
            </a:pPr>
            <a:r>
              <a:rPr lang="en-US" sz="5400" b="1" dirty="0">
                <a:solidFill>
                  <a:schemeClr val="bg1"/>
                </a:solidFill>
              </a:rPr>
              <a:t>Questions?</a:t>
            </a:r>
            <a:endParaRPr lang="en-US" sz="5400" dirty="0"/>
          </a:p>
        </p:txBody>
      </p:sp>
      <p:sp>
        <p:nvSpPr>
          <p:cNvPr id="4" name="Text 0"/>
          <p:cNvSpPr/>
          <p:nvPr>
            <p:ph idx="102" type="body" hasCustomPrompt="1"/>
          </p:nvPr>
        </p:nvSpPr>
        <p:spPr>
          <a:xfrm>
            <a:off x="731520" y="3154680"/>
            <a:ext cx="6309360" cy="1188720"/>
          </a:xfrm>
          <a:prstGeom prst="rect">
            <a:avLst/>
          </a:prstGeom>
          <a:noFill/>
          <a:ln/>
        </p:spPr>
        <p:txBody>
          <a:bodyPr wrap="square" lIns="0" tIns="0" rIns="0" bIns="0" rtlCol="0" anchor="t"/>
          <a:lstStyle/>
          <a:p>
            <a:pPr indent="0" marL="0">
              <a:buNone/>
            </a:pPr>
            <a:r>
              <a:rPr lang="en-US" sz="2000" dirty="0">
                <a:solidFill>
                  <a:schemeClr val="accent5"/>
                </a:solidFill>
              </a:rPr>
              <a:t>Try searching:</a:t>
            </a:r>
            <a:endParaRPr lang="en-US" sz="2000" dirty="0"/>
          </a:p>
        </p:txBody>
      </p:sp>
      <p:sp>
        <p:nvSpPr>
          <p:cNvPr id="5" name="Text 0"/>
          <p:cNvSpPr/>
          <p:nvPr>
            <p:ph idx="103" type="body" hasCustomPrompt="1"/>
          </p:nvPr>
        </p:nvSpPr>
        <p:spPr>
          <a:xfrm>
            <a:off x="731520" y="5760720"/>
            <a:ext cx="6400800" cy="365760"/>
          </a:xfrm>
          <a:prstGeom prst="rect">
            <a:avLst/>
          </a:prstGeom>
          <a:noFill/>
          <a:ln/>
        </p:spPr>
        <p:txBody>
          <a:bodyPr wrap="square" lIns="0" tIns="0" rIns="0" bIns="0" rtlCol="0"/>
          <a:lstStyle/>
          <a:p>
            <a:pPr indent="0" marL="0">
              <a:buNone/>
            </a:pPr>
            <a:r>
              <a:rPr lang="en-US" sz="1400" dirty="0">
                <a:solidFill>
                  <a:schemeClr val="accent5"/>
                </a:solidFill>
              </a:rPr>
              <a:t>[Your name] · [Course name]</a:t>
            </a:r>
            <a:endParaRPr lang="en-US" sz="1400" dirty="0"/>
          </a:p>
        </p:txBody>
      </p:sp>
      <p:sp>
        <p:nvSpPr>
          <p:cNvPr id="6" name="Query chip"/>
          <p:cNvSpPr/>
          <p:nvPr/>
        </p:nvSpPr>
        <p:spPr>
          <a:xfrm>
            <a:off x="731520" y="3749040"/>
            <a:ext cx="2514600" cy="548640"/>
          </a:xfrm>
          <a:prstGeom prst="roundRect">
            <a:avLst>
              <a:gd name="adj" fmla="val 50000"/>
            </a:avLst>
          </a:prstGeom>
          <a:solidFill>
            <a:srgbClr val="22325A"/>
          </a:solidFill>
          <a:ln w="12700">
            <a:solidFill>
              <a:srgbClr val="BFD0E6"/>
            </a:solidFill>
            <a:prstDash val="solid"/>
          </a:ln>
        </p:spPr>
      </p:sp>
      <p:sp>
        <p:nvSpPr>
          <p:cNvPr id="7" name="Text 5"/>
          <p:cNvSpPr txBox="1"/>
          <p:nvPr/>
        </p:nvSpPr>
        <p:spPr>
          <a:xfrm>
            <a:off x="731520" y="3749040"/>
            <a:ext cx="251460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stock options</a:t>
            </a:r>
            <a:endParaRPr lang="en-US" sz="1400" dirty="0"/>
          </a:p>
        </p:txBody>
      </p:sp>
      <p:sp>
        <p:nvSpPr>
          <p:cNvPr id="8" name="Query chip"/>
          <p:cNvSpPr/>
          <p:nvPr/>
        </p:nvSpPr>
        <p:spPr>
          <a:xfrm>
            <a:off x="3429000" y="3749040"/>
            <a:ext cx="2514600" cy="548640"/>
          </a:xfrm>
          <a:prstGeom prst="roundRect">
            <a:avLst>
              <a:gd name="adj" fmla="val 50000"/>
            </a:avLst>
          </a:prstGeom>
          <a:solidFill>
            <a:srgbClr val="22325A"/>
          </a:solidFill>
          <a:ln w="12700">
            <a:solidFill>
              <a:srgbClr val="BFD0E6"/>
            </a:solidFill>
            <a:prstDash val="solid"/>
          </a:ln>
        </p:spPr>
      </p:sp>
      <p:sp>
        <p:nvSpPr>
          <p:cNvPr id="9" name="Text 7"/>
          <p:cNvSpPr txBox="1"/>
          <p:nvPr/>
        </p:nvSpPr>
        <p:spPr>
          <a:xfrm>
            <a:off x="3429000" y="3749040"/>
            <a:ext cx="251460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power outage</a:t>
            </a:r>
            <a:endParaRPr lang="en-US" sz="1400" dirty="0"/>
          </a:p>
        </p:txBody>
      </p:sp>
      <p:sp>
        <p:nvSpPr>
          <p:cNvPr id="10" name="Query chip"/>
          <p:cNvSpPr/>
          <p:nvPr/>
        </p:nvSpPr>
        <p:spPr>
          <a:xfrm>
            <a:off x="6126480" y="3749040"/>
            <a:ext cx="2514600" cy="548640"/>
          </a:xfrm>
          <a:prstGeom prst="roundRect">
            <a:avLst>
              <a:gd name="adj" fmla="val 50000"/>
            </a:avLst>
          </a:prstGeom>
          <a:solidFill>
            <a:srgbClr val="22325A"/>
          </a:solidFill>
          <a:ln w="12700">
            <a:solidFill>
              <a:srgbClr val="BFD0E6"/>
            </a:solidFill>
            <a:prstDash val="solid"/>
          </a:ln>
        </p:spPr>
      </p:sp>
      <p:sp>
        <p:nvSpPr>
          <p:cNvPr id="11" name="Text 9"/>
          <p:cNvSpPr txBox="1"/>
          <p:nvPr/>
        </p:nvSpPr>
        <p:spPr>
          <a:xfrm>
            <a:off x="6126480" y="3749040"/>
            <a:ext cx="251460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raptor</a:t>
            </a:r>
            <a:endParaRPr lang="en-US" sz="1400" dirty="0"/>
          </a:p>
        </p:txBody>
      </p:sp>
      <p:sp>
        <p:nvSpPr>
          <p:cNvPr id="12" name="Query chip"/>
          <p:cNvSpPr/>
          <p:nvPr/>
        </p:nvSpPr>
        <p:spPr>
          <a:xfrm>
            <a:off x="8823960" y="3749040"/>
            <a:ext cx="2514600" cy="548640"/>
          </a:xfrm>
          <a:prstGeom prst="roundRect">
            <a:avLst>
              <a:gd name="adj" fmla="val 50000"/>
            </a:avLst>
          </a:prstGeom>
          <a:solidFill>
            <a:srgbClr val="22325A"/>
          </a:solidFill>
          <a:ln w="12700">
            <a:solidFill>
              <a:srgbClr val="BFD0E6"/>
            </a:solidFill>
            <a:prstDash val="solid"/>
          </a:ln>
        </p:spPr>
      </p:sp>
      <p:sp>
        <p:nvSpPr>
          <p:cNvPr id="13" name="Text 11"/>
          <p:cNvSpPr txBox="1"/>
          <p:nvPr/>
        </p:nvSpPr>
        <p:spPr>
          <a:xfrm>
            <a:off x="8823960" y="3749040"/>
            <a:ext cx="2514600" cy="548640"/>
          </a:xfrm>
          <a:prstGeom prst="rect">
            <a:avLst/>
          </a:prstGeom>
          <a:noFill/>
          <a:ln/>
        </p:spPr>
        <p:txBody>
          <a:bodyPr wrap="square" lIns="0" tIns="0" rIns="0" bIns="0" rtlCol="0" anchor="ctr"/>
          <a:lstStyle/>
          <a:p>
            <a:pPr algn="ctr" indent="0" marL="0">
              <a:buNone/>
            </a:pPr>
            <a:r>
              <a:rPr lang="en-US" sz="1400" dirty="0">
                <a:solidFill>
                  <a:schemeClr val="bg1"/>
                </a:solidFill>
                <a:latin typeface="Courier New" pitchFamily="34" charset="0"/>
                <a:ea typeface="Courier New" pitchFamily="34" charset="-122"/>
                <a:cs typeface="Courier New" pitchFamily="34" charset="-120"/>
              </a:rPr>
              <a:t>arthur andersen audit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STORAGE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Pickle: save Python objects, load them back</a:t>
            </a:r>
            <a:endParaRPr lang="en-US" sz="3200" dirty="0"/>
          </a:p>
        </p:txBody>
      </p:sp>
      <p:sp>
        <p:nvSpPr>
          <p:cNvPr id="4" name="Code panel"/>
          <p:cNvSpPr/>
          <p:nvPr/>
        </p:nvSpPr>
        <p:spPr>
          <a:xfrm>
            <a:off x="548640" y="1600200"/>
            <a:ext cx="6583680" cy="3108960"/>
          </a:xfrm>
          <a:prstGeom prst="roundRect">
            <a:avLst>
              <a:gd name="adj" fmla="val 2353"/>
            </a:avLst>
          </a:prstGeom>
          <a:solidFill>
            <a:schemeClr val="bg2"/>
          </a:solidFill>
          <a:ln/>
        </p:spPr>
      </p:sp>
      <p:sp>
        <p:nvSpPr>
          <p:cNvPr id="5" name="Text 3"/>
          <p:cNvSpPr txBox="1"/>
          <p:nvPr/>
        </p:nvSpPr>
        <p:spPr>
          <a:xfrm>
            <a:off x="822960" y="1828800"/>
            <a:ext cx="6035040"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SAVE ONCE (load_data.py) · LOAD AT START (app.py)</a:t>
            </a:r>
            <a:endParaRPr lang="en-US" sz="1100" dirty="0"/>
          </a:p>
        </p:txBody>
      </p:sp>
      <p:sp>
        <p:nvSpPr>
          <p:cNvPr id="6" name="Text 4"/>
          <p:cNvSpPr txBox="1"/>
          <p:nvPr/>
        </p:nvSpPr>
        <p:spPr>
          <a:xfrm>
            <a:off x="822960" y="2194560"/>
            <a:ext cx="6035040" cy="2331720"/>
          </a:xfrm>
          <a:prstGeom prst="rect">
            <a:avLst/>
          </a:prstGeom>
          <a:noFill/>
          <a:ln/>
        </p:spPr>
        <p:txBody>
          <a:bodyPr wrap="square" lIns="0" tIns="0" rIns="0" bIns="0" rtlCol="0" anchor="t"/>
          <a:lstStyle/>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with open("index.pkl", "wb") as f:</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    pickle.dump((emails, tfidf_index,</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                 bm25_index), f)</a:t>
            </a:r>
            <a:endParaRPr lang="en-US" sz="1400" dirty="0"/>
          </a:p>
          <a:p>
            <a:pPr indent="0" marL="0">
              <a:spcAft>
                <a:spcPts val="600"/>
              </a:spcAft>
              <a:buNone/>
            </a:pP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with open("index.pkl", "rb") as f:</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    emails, tfidf_index, bm25_index = \</a:t>
            </a:r>
            <a:endParaRPr lang="en-US" sz="1400" dirty="0"/>
          </a:p>
          <a:p>
            <a:pPr indent="0" marL="0">
              <a:spcAft>
                <a:spcPts val="600"/>
              </a:spcAft>
              <a:buNone/>
            </a:pPr>
            <a:r>
              <a:rPr lang="en-US" sz="1400" dirty="0">
                <a:solidFill>
                  <a:schemeClr val="tx1"/>
                </a:solidFill>
                <a:latin typeface="Courier New" pitchFamily="34" charset="0"/>
                <a:ea typeface="Courier New" pitchFamily="34" charset="-122"/>
                <a:cs typeface="Courier New" pitchFamily="34" charset="-120"/>
              </a:rPr>
              <a:t>        pickle.load(f)</a:t>
            </a:r>
            <a:endParaRPr lang="en-US" sz="1400" dirty="0"/>
          </a:p>
        </p:txBody>
      </p:sp>
      <p:sp>
        <p:nvSpPr>
          <p:cNvPr id="7" name="Pickle stat"/>
          <p:cNvSpPr/>
          <p:nvPr/>
        </p:nvSpPr>
        <p:spPr>
          <a:xfrm>
            <a:off x="7406640" y="1600200"/>
            <a:ext cx="4233672" cy="1463040"/>
          </a:xfrm>
          <a:prstGeom prst="roundRect">
            <a:avLst>
              <a:gd name="adj" fmla="val 5000"/>
            </a:avLst>
          </a:prstGeom>
          <a:solidFill>
            <a:schemeClr val="bg2"/>
          </a:solidFill>
          <a:ln/>
        </p:spPr>
      </p:sp>
      <p:sp>
        <p:nvSpPr>
          <p:cNvPr id="8" name="Text 6"/>
          <p:cNvSpPr txBox="1"/>
          <p:nvPr/>
        </p:nvSpPr>
        <p:spPr>
          <a:xfrm>
            <a:off x="7635240" y="1783080"/>
            <a:ext cx="3749040" cy="594360"/>
          </a:xfrm>
          <a:prstGeom prst="rect">
            <a:avLst/>
          </a:prstGeom>
          <a:noFill/>
          <a:ln/>
        </p:spPr>
        <p:txBody>
          <a:bodyPr wrap="square" lIns="0" tIns="0" rIns="0" bIns="0" rtlCol="0" anchor="t"/>
          <a:lstStyle/>
          <a:p>
            <a:pPr algn="l" indent="0" marL="0">
              <a:buNone/>
            </a:pPr>
            <a:r>
              <a:rPr lang="en-US" sz="3200" b="1" dirty="0">
                <a:solidFill>
                  <a:schemeClr val="accent1"/>
                </a:solidFill>
              </a:rPr>
              <a:t>1.1 GB</a:t>
            </a:r>
            <a:endParaRPr lang="en-US" sz="3200" dirty="0"/>
          </a:p>
        </p:txBody>
      </p:sp>
      <p:sp>
        <p:nvSpPr>
          <p:cNvPr id="9" name="Text 7"/>
          <p:cNvSpPr txBox="1"/>
          <p:nvPr/>
        </p:nvSpPr>
        <p:spPr>
          <a:xfrm>
            <a:off x="7635240" y="2423160"/>
            <a:ext cx="3749040" cy="502920"/>
          </a:xfrm>
          <a:prstGeom prst="rect">
            <a:avLst/>
          </a:prstGeom>
          <a:noFill/>
          <a:ln/>
        </p:spPr>
        <p:txBody>
          <a:bodyPr wrap="square" lIns="0" tIns="0" rIns="0" bIns="0" rtlCol="0" anchor="t"/>
          <a:lstStyle/>
          <a:p>
            <a:pPr algn="l" indent="0" marL="0">
              <a:buNone/>
            </a:pPr>
            <a:r>
              <a:rPr lang="en-US" sz="1400" dirty="0">
                <a:solidFill>
                  <a:schemeClr val="tx2"/>
                </a:solidFill>
              </a:rPr>
              <a:t>index.pkl on disk, built once in ~75 s</a:t>
            </a:r>
            <a:endParaRPr lang="en-US" sz="1400" dirty="0"/>
          </a:p>
        </p:txBody>
      </p:sp>
      <p:sp>
        <p:nvSpPr>
          <p:cNvPr id="10" name="Pickle stat"/>
          <p:cNvSpPr/>
          <p:nvPr/>
        </p:nvSpPr>
        <p:spPr>
          <a:xfrm>
            <a:off x="7406640" y="3246120"/>
            <a:ext cx="4233672" cy="1463040"/>
          </a:xfrm>
          <a:prstGeom prst="roundRect">
            <a:avLst>
              <a:gd name="adj" fmla="val 5000"/>
            </a:avLst>
          </a:prstGeom>
          <a:solidFill>
            <a:schemeClr val="tx1"/>
          </a:solidFill>
          <a:ln/>
        </p:spPr>
      </p:sp>
      <p:sp>
        <p:nvSpPr>
          <p:cNvPr id="11" name="Text 9"/>
          <p:cNvSpPr txBox="1"/>
          <p:nvPr/>
        </p:nvSpPr>
        <p:spPr>
          <a:xfrm>
            <a:off x="7635240" y="3429000"/>
            <a:ext cx="3749040" cy="594360"/>
          </a:xfrm>
          <a:prstGeom prst="rect">
            <a:avLst/>
          </a:prstGeom>
          <a:noFill/>
          <a:ln/>
        </p:spPr>
        <p:txBody>
          <a:bodyPr wrap="square" lIns="0" tIns="0" rIns="0" bIns="0" rtlCol="0" anchor="t"/>
          <a:lstStyle/>
          <a:p>
            <a:pPr algn="l" indent="0" marL="0">
              <a:buNone/>
            </a:pPr>
            <a:r>
              <a:rPr lang="en-US" sz="3200" b="1" dirty="0">
                <a:solidFill>
                  <a:schemeClr val="accent1"/>
                </a:solidFill>
              </a:rPr>
              <a:t>1.3 s</a:t>
            </a:r>
            <a:endParaRPr lang="en-US" sz="3200" dirty="0"/>
          </a:p>
        </p:txBody>
      </p:sp>
      <p:sp>
        <p:nvSpPr>
          <p:cNvPr id="12" name="Text 10"/>
          <p:cNvSpPr txBox="1"/>
          <p:nvPr/>
        </p:nvSpPr>
        <p:spPr>
          <a:xfrm>
            <a:off x="7635240" y="4069080"/>
            <a:ext cx="3749040" cy="502920"/>
          </a:xfrm>
          <a:prstGeom prst="rect">
            <a:avLst/>
          </a:prstGeom>
          <a:noFill/>
          <a:ln/>
        </p:spPr>
        <p:txBody>
          <a:bodyPr wrap="square" lIns="0" tIns="0" rIns="0" bIns="0" rtlCol="0" anchor="t"/>
          <a:lstStyle/>
          <a:p>
            <a:pPr algn="l" indent="0" marL="0">
              <a:buNone/>
            </a:pPr>
            <a:r>
              <a:rPr lang="en-US" sz="1400" dirty="0">
                <a:solidFill>
                  <a:schemeClr val="bg1"/>
                </a:solidFill>
              </a:rPr>
              <a:t>to load everything back into RAM</a:t>
            </a:r>
            <a:endParaRPr lang="en-US" sz="1400" dirty="0"/>
          </a:p>
        </p:txBody>
      </p:sp>
      <p:sp>
        <p:nvSpPr>
          <p:cNvPr id="13" name="Why not JSON"/>
          <p:cNvSpPr/>
          <p:nvPr/>
        </p:nvSpPr>
        <p:spPr>
          <a:xfrm>
            <a:off x="548640" y="4937760"/>
            <a:ext cx="5394960" cy="1143000"/>
          </a:xfrm>
          <a:prstGeom prst="roundRect">
            <a:avLst>
              <a:gd name="adj" fmla="val 6400"/>
            </a:avLst>
          </a:prstGeom>
          <a:solidFill>
            <a:schemeClr val="bg2"/>
          </a:solidFill>
          <a:ln/>
        </p:spPr>
      </p:sp>
      <p:sp>
        <p:nvSpPr>
          <p:cNvPr id="14" name="Text 12"/>
          <p:cNvSpPr txBox="1"/>
          <p:nvPr/>
        </p:nvSpPr>
        <p:spPr>
          <a:xfrm>
            <a:off x="822960" y="4937760"/>
            <a:ext cx="4846320" cy="1143000"/>
          </a:xfrm>
          <a:prstGeom prst="rect">
            <a:avLst/>
          </a:prstGeom>
          <a:noFill/>
          <a:ln/>
        </p:spPr>
        <p:txBody>
          <a:bodyPr wrap="square" lIns="0" tIns="0" rIns="0" bIns="0" rtlCol="0" anchor="ctr"/>
          <a:lstStyle/>
          <a:p>
            <a:pPr algn="l" indent="0" marL="0">
              <a:buNone/>
            </a:pPr>
            <a:r>
              <a:rPr lang="en-US" sz="1400" b="1" dirty="0">
                <a:solidFill>
                  <a:schemeClr val="tx1"/>
                </a:solidFill>
              </a:rPr>
              <a:t>Why not JSON? </a:t>
            </a:r>
            <a:pPr algn="l" indent="0" marL="0">
              <a:buNone/>
            </a:pPr>
            <a:r>
              <a:rPr lang="en-US" sz="1400" dirty="0">
                <a:solidFill>
                  <a:schemeClr val="tx1"/>
                </a:solidFill>
              </a:rPr>
              <a:t>It can’t store NumPy arrays, SciPy matrices or scikit-learn vectorizers.</a:t>
            </a:r>
            <a:endParaRPr lang="en-US" sz="1400" dirty="0"/>
          </a:p>
        </p:txBody>
      </p:sp>
      <p:sp>
        <p:nvSpPr>
          <p:cNvPr id="15" name="Is it safe"/>
          <p:cNvSpPr/>
          <p:nvPr/>
        </p:nvSpPr>
        <p:spPr>
          <a:xfrm>
            <a:off x="6245352" y="4937760"/>
            <a:ext cx="5394960" cy="1143000"/>
          </a:xfrm>
          <a:prstGeom prst="roundRect">
            <a:avLst>
              <a:gd name="adj" fmla="val 6400"/>
            </a:avLst>
          </a:prstGeom>
          <a:solidFill>
            <a:srgbClr val="FBE9DC"/>
          </a:solidFill>
          <a:ln/>
        </p:spPr>
      </p:sp>
      <p:sp>
        <p:nvSpPr>
          <p:cNvPr id="16" name="Text 14"/>
          <p:cNvSpPr txBox="1"/>
          <p:nvPr/>
        </p:nvSpPr>
        <p:spPr>
          <a:xfrm>
            <a:off x="6519672" y="4937760"/>
            <a:ext cx="4846320" cy="1143000"/>
          </a:xfrm>
          <a:prstGeom prst="rect">
            <a:avLst/>
          </a:prstGeom>
          <a:noFill/>
          <a:ln/>
        </p:spPr>
        <p:txBody>
          <a:bodyPr wrap="square" lIns="0" tIns="0" rIns="0" bIns="0" rtlCol="0" anchor="ctr"/>
          <a:lstStyle/>
          <a:p>
            <a:pPr algn="l" indent="0" marL="0">
              <a:buNone/>
            </a:pPr>
            <a:r>
              <a:rPr lang="en-US" sz="1400" b="1" dirty="0">
                <a:solidFill>
                  <a:schemeClr val="tx1"/>
                </a:solidFill>
              </a:rPr>
              <a:t>Is it safe? </a:t>
            </a:r>
            <a:pPr algn="l" indent="0" marL="0">
              <a:buNone/>
            </a:pPr>
            <a:r>
              <a:rPr lang="en-US" sz="1400" dirty="0">
                <a:solidFill>
                  <a:schemeClr val="tx1"/>
                </a:solidFill>
              </a:rPr>
              <a:t>Yes, for files we made. Loading can run code, so never load an untrusted .pkl.</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 REFERENCES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Sources</a:t>
            </a:r>
            <a:endParaRPr lang="en-US" sz="3200" dirty="0"/>
          </a:p>
        </p:txBody>
      </p:sp>
      <p:sp>
        <p:nvSpPr>
          <p:cNvPr id="4" name="Text 2"/>
          <p:cNvSpPr txBox="1"/>
          <p:nvPr/>
        </p:nvSpPr>
        <p:spPr>
          <a:xfrm>
            <a:off x="548640" y="1554480"/>
            <a:ext cx="11094415" cy="4480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Spärck Jones, K. (1972). A statistical interpretation of term specificity and its application in retrieval. Journal of Documentation.</a:t>
            </a:r>
            <a:endParaRPr lang="en-US" sz="1400" dirty="0"/>
          </a:p>
          <a:p>
            <a:pPr marL="342900" indent="-342900">
              <a:spcAft>
                <a:spcPts val="800"/>
              </a:spcAft>
              <a:buSzPct val="100000"/>
              <a:buChar char="•"/>
            </a:pPr>
            <a:r>
              <a:rPr lang="en-US" sz="1400" dirty="0">
                <a:solidFill>
                  <a:schemeClr val="tx1"/>
                </a:solidFill>
              </a:rPr>
              <a:t>Salton, G., Wong, A., Yang, C. S. (1975). A vector space model for automatic indexing. Communications of the ACM.</a:t>
            </a:r>
            <a:endParaRPr lang="en-US" sz="1400" dirty="0"/>
          </a:p>
          <a:p>
            <a:pPr marL="342900" indent="-342900">
              <a:spcAft>
                <a:spcPts val="800"/>
              </a:spcAft>
              <a:buSzPct val="100000"/>
              <a:buChar char="•"/>
            </a:pPr>
            <a:r>
              <a:rPr lang="en-US" sz="1400" dirty="0">
                <a:solidFill>
                  <a:schemeClr val="tx1"/>
                </a:solidFill>
              </a:rPr>
              <a:t>Robertson, S. et al. (1994). Okapi at TREC-3. Proceedings of TREC-3.</a:t>
            </a:r>
            <a:endParaRPr lang="en-US" sz="1400" dirty="0"/>
          </a:p>
          <a:p>
            <a:pPr marL="342900" indent="-342900">
              <a:spcAft>
                <a:spcPts val="800"/>
              </a:spcAft>
              <a:buSzPct val="100000"/>
              <a:buChar char="•"/>
            </a:pPr>
            <a:r>
              <a:rPr lang="en-US" sz="1400" dirty="0">
                <a:solidFill>
                  <a:schemeClr val="tx1"/>
                </a:solidFill>
              </a:rPr>
              <a:t>Robertson, S., Zaragoza, H. (2009). The probabilistic relevance framework: BM25 and beyond. Foundations and Trends in IR.</a:t>
            </a:r>
            <a:endParaRPr lang="en-US" sz="1400" dirty="0"/>
          </a:p>
          <a:p>
            <a:pPr marL="342900" indent="-342900">
              <a:spcAft>
                <a:spcPts val="800"/>
              </a:spcAft>
              <a:buSzPct val="100000"/>
              <a:buChar char="•"/>
            </a:pPr>
            <a:r>
              <a:rPr lang="en-US" sz="1400" dirty="0">
                <a:solidFill>
                  <a:schemeClr val="tx1"/>
                </a:solidFill>
              </a:rPr>
              <a:t>Deerwester, S. et al. (1990). Indexing by latent semantic analysis. JASIS.  ·  Ponte, J., Croft, W. B. (1998). A language modeling approach to IR. SIGIR.</a:t>
            </a:r>
            <a:endParaRPr lang="en-US" sz="1400" dirty="0"/>
          </a:p>
          <a:p>
            <a:pPr marL="342900" indent="-342900">
              <a:spcAft>
                <a:spcPts val="800"/>
              </a:spcAft>
              <a:buSzPct val="100000"/>
              <a:buChar char="•"/>
            </a:pPr>
            <a:r>
              <a:rPr lang="en-US" sz="1400" dirty="0">
                <a:solidFill>
                  <a:schemeClr val="tx1"/>
                </a:solidFill>
              </a:rPr>
              <a:t>Thakur, N. et al. (2021). BEIR: a heterogeneous benchmark for zero-shot evaluation of IR models. NeurIPS Datasets &amp; Benchmarks. arxiv.org/abs/2104.08663</a:t>
            </a:r>
            <a:endParaRPr lang="en-US" sz="1400" dirty="0"/>
          </a:p>
          <a:p>
            <a:pPr marL="342900" indent="-342900">
              <a:spcAft>
                <a:spcPts val="800"/>
              </a:spcAft>
              <a:buSzPct val="100000"/>
              <a:buChar char="•"/>
            </a:pPr>
            <a:r>
              <a:rPr lang="en-US" sz="1400" dirty="0">
                <a:solidFill>
                  <a:schemeClr val="tx1"/>
                </a:solidFill>
              </a:rPr>
              <a:t>Lin, J. et al. (2021). Pyserini: a Python toolkit for reproducible IR research with sparse and dense representations. SIGIR. arxiv.org/abs/2102.10073</a:t>
            </a:r>
            <a:endParaRPr lang="en-US" sz="1400" dirty="0"/>
          </a:p>
          <a:p>
            <a:pPr marL="342900" indent="-342900">
              <a:spcAft>
                <a:spcPts val="800"/>
              </a:spcAft>
              <a:buSzPct val="100000"/>
              <a:buChar char="•"/>
            </a:pPr>
            <a:r>
              <a:rPr lang="en-US" sz="1400" dirty="0">
                <a:solidFill>
                  <a:schemeClr val="tx1"/>
                </a:solidFill>
              </a:rPr>
              <a:t>Cranfield collection (TREC format): github.com/oussbenk/cranfield-trec-dataset  ·  Enron data: Kaggle “Enron Email Dataset”</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Enron Search">
  <a:themeElements>
    <a:clrScheme name="Enron Search">
      <a:dk1>
        <a:srgbClr val="14213D"/>
      </a:dk1>
      <a:lt1>
        <a:srgbClr val="FFFFFF"/>
      </a:lt1>
      <a:dk2>
        <a:srgbClr val="4A5568"/>
      </a:dk2>
      <a:lt2>
        <a:srgbClr val="F2F3F6"/>
      </a:lt2>
      <a:accent1>
        <a:srgbClr val="E07A2E"/>
      </a:accent1>
      <a:accent2>
        <a:srgbClr val="3B6EA8"/>
      </a:accent2>
      <a:accent3>
        <a:srgbClr val="2E8B57"/>
      </a:accent3>
      <a:accent4>
        <a:srgbClr val="C0392B"/>
      </a:accent4>
      <a:accent5>
        <a:srgbClr val="BFD0E6"/>
      </a:accent5>
      <a:accent6>
        <a:srgbClr val="8A94A6"/>
      </a:accent6>
      <a:hlink>
        <a:srgbClr val="3B6EA8"/>
      </a:hlink>
      <a:folHlink>
        <a:srgbClr val="4A5568"/>
      </a:folHlink>
    </a:clrScheme>
    <a:fontScheme name="Enron 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Enron Email Search: TF-IDF vs BM25</dc:title>
  <dc:subject>PptxGenJS Presentation</dc:subject>
  <dc:creator>Enron Email Search team</dc:creator>
  <cp:lastModifiedBy>Enron Email Search team</cp:lastModifiedBy>
  <cp:revision>1</cp:revision>
  <dcterms:created xsi:type="dcterms:W3CDTF">2026-10-25T13:56:15Z</dcterms:created>
  <dcterms:modified xsi:type="dcterms:W3CDTF">2026-10-25T13:56:15Z</dcterms:modified>
</cp:coreProperties>
</file>